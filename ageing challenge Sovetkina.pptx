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pos="325">
          <p15:clr>
            <a:srgbClr val="A4A3A4"/>
          </p15:clr>
        </p15:guide>
        <p15:guide id="2" pos="1209">
          <p15:clr>
            <a:srgbClr val="A4A3A4"/>
          </p15:clr>
        </p15:guide>
        <p15:guide id="3" pos="2955">
          <p15:clr>
            <a:srgbClr val="A4A3A4"/>
          </p15:clr>
        </p15:guide>
        <p15:guide id="4" pos="2071">
          <p15:clr>
            <a:srgbClr val="A4A3A4"/>
          </p15:clr>
        </p15:guide>
        <p15:guide id="5" pos="3840">
          <p15:clr>
            <a:srgbClr val="A4A3A4"/>
          </p15:clr>
        </p15:guide>
        <p15:guide id="6" pos="4702">
          <p15:clr>
            <a:srgbClr val="A4A3A4"/>
          </p15:clr>
        </p15:guide>
        <p15:guide id="7" pos="5586">
          <p15:clr>
            <a:srgbClr val="A4A3A4"/>
          </p15:clr>
        </p15:guide>
        <p15:guide id="8" pos="7333">
          <p15:clr>
            <a:srgbClr val="A4A3A4"/>
          </p15:clr>
        </p15:guide>
        <p15:guide id="9" orient="horz" pos="3952">
          <p15:clr>
            <a:srgbClr val="A4A3A4"/>
          </p15:clr>
        </p15:guide>
        <p15:guide id="10" pos="6471">
          <p15:clr>
            <a:srgbClr val="A4A3A4"/>
          </p15:clr>
        </p15:guide>
        <p15:guide id="11" orient="horz" pos="913">
          <p15:clr>
            <a:srgbClr val="A4A3A4"/>
          </p15:clr>
        </p15:guide>
      </p15:sldGuideLst>
    </p:ext>
    <p:ext uri="{2D200454-40CA-4A62-9FC3-DE9A4176ACB9}">
      <p15:notesGuideLst>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25"/>
        <p:guide pos="1209"/>
        <p:guide pos="2955"/>
        <p:guide pos="2071"/>
        <p:guide pos="3840"/>
        <p:guide pos="4702"/>
        <p:guide pos="5586"/>
        <p:guide pos="7333"/>
        <p:guide pos="3952" orient="horz"/>
        <p:guide pos="6471"/>
        <p:guide pos="913" orient="horz"/>
      </p:guideLst>
    </p:cSldViewPr>
  </p:slideViewPr>
  <p:notesViewPr>
    <p:cSldViewPr snapToGrid="0">
      <p:cViewPr varScale="1">
        <p:scale>
          <a:sx n="100" d="100"/>
          <a:sy n="100" d="100"/>
        </p:scale>
        <p:origin x="0" y="0"/>
      </p:cViewPr>
      <p:guideLst>
        <p:guide pos="2880" orient="horz"/>
        <p:guide pos="2160"/>
      </p:guideLst>
    </p:cSldViewPr>
  </p:notes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22" Type="http://schemas.openxmlformats.org/officeDocument/2006/relationships/slide" Target="slides/slide17.xml"/><Relationship Id="rId10" Type="http://schemas.openxmlformats.org/officeDocument/2006/relationships/slide" Target="slides/slide5.xml"/><Relationship Id="rId21" Type="http://schemas.openxmlformats.org/officeDocument/2006/relationships/slide" Target="slides/slide16.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ru-RU"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91af79cabc_0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7" name="Google Shape;187;g391af79cabc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91af79cabc_0_17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6" name="Google Shape;196;g391af79cabc_0_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6" name="Google Shape;206;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91af79cabc_0_36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5" name="Google Shape;215;g391af79cabc_0_3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g391af79cabc_0_37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4" name="Google Shape;224;g391af79cabc_0_3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91af79cabc_0_54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3" name="Google Shape;233;g391af79cabc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91af79cabc_0_72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3" name="Google Shape;243;g391af79cabc_0_7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91af79cabc_0_73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3" name="Google Shape;253;g391af79cabc_0_7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391af79cabc_0_74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2" name="Google Shape;262;g391af79cabc_0_7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91af79cabc_0_75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3" name="Google Shape;273;g391af79cabc_0_7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91af79cabc_0_77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6" name="Google Shape;286;g391af79cabc_0_7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91af79cabc_0_78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7" name="Google Shape;297;g391af79cabc_0_7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g391af79cabc_0_80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9" name="Google Shape;309;g391af79cabc_0_8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b014f34c98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b014f34c98_1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2" name="Google Shape;322;g3b014f34c98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ru-RU"/>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31" name="Google Shape;33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0" name="Google Shape;340;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Обложка">
  <p:cSld name="Обложка">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2"/>
          <p:cNvPicPr preferRelativeResize="0"/>
          <p:nvPr/>
        </p:nvPicPr>
        <p:blipFill rotWithShape="1">
          <a:blip r:embed="rId3">
            <a:alphaModFix/>
          </a:blip>
          <a:srcRect b="0" l="0" r="0" t="0"/>
          <a:stretch/>
        </p:blipFill>
        <p:spPr>
          <a:xfrm>
            <a:off x="1013859" y="962173"/>
            <a:ext cx="886499" cy="886499"/>
          </a:xfrm>
          <a:prstGeom prst="rect">
            <a:avLst/>
          </a:prstGeom>
          <a:noFill/>
          <a:ln>
            <a:noFill/>
          </a:ln>
        </p:spPr>
      </p:pic>
      <p:cxnSp>
        <p:nvCxnSpPr>
          <p:cNvPr id="12" name="Google Shape;12;p2"/>
          <p:cNvCxnSpPr/>
          <p:nvPr/>
        </p:nvCxnSpPr>
        <p:spPr>
          <a:xfrm>
            <a:off x="6090212" y="985336"/>
            <a:ext cx="0" cy="840173"/>
          </a:xfrm>
          <a:prstGeom prst="straightConnector1">
            <a:avLst/>
          </a:prstGeom>
          <a:noFill/>
          <a:ln cap="flat" cmpd="sng" w="12700">
            <a:solidFill>
              <a:srgbClr val="102D69"/>
            </a:solidFill>
            <a:prstDash val="solid"/>
            <a:miter lim="800000"/>
            <a:headEnd len="sm" w="sm" type="none"/>
            <a:tailEnd len="sm" w="sm" type="none"/>
          </a:ln>
        </p:spPr>
      </p:cxnSp>
      <p:cxnSp>
        <p:nvCxnSpPr>
          <p:cNvPr id="13" name="Google Shape;13;p2"/>
          <p:cNvCxnSpPr/>
          <p:nvPr/>
        </p:nvCxnSpPr>
        <p:spPr>
          <a:xfrm>
            <a:off x="8642581" y="985336"/>
            <a:ext cx="0" cy="840173"/>
          </a:xfrm>
          <a:prstGeom prst="straightConnector1">
            <a:avLst/>
          </a:prstGeom>
          <a:noFill/>
          <a:ln cap="flat" cmpd="sng" w="12700">
            <a:solidFill>
              <a:srgbClr val="102D69"/>
            </a:solidFill>
            <a:prstDash val="solid"/>
            <a:miter lim="800000"/>
            <a:headEnd len="sm" w="sm" type="none"/>
            <a:tailEnd len="sm" w="sm" type="none"/>
          </a:ln>
        </p:spPr>
      </p:cxnSp>
      <p:cxnSp>
        <p:nvCxnSpPr>
          <p:cNvPr id="14" name="Google Shape;14;p2"/>
          <p:cNvCxnSpPr/>
          <p:nvPr/>
        </p:nvCxnSpPr>
        <p:spPr>
          <a:xfrm>
            <a:off x="11179047" y="985336"/>
            <a:ext cx="0" cy="840173"/>
          </a:xfrm>
          <a:prstGeom prst="straightConnector1">
            <a:avLst/>
          </a:prstGeom>
          <a:noFill/>
          <a:ln cap="flat" cmpd="sng" w="12700">
            <a:solidFill>
              <a:srgbClr val="102D69"/>
            </a:solidFill>
            <a:prstDash val="solid"/>
            <a:miter lim="800000"/>
            <a:headEnd len="sm" w="sm" type="none"/>
            <a:tailEnd len="sm" w="sm" type="none"/>
          </a:ln>
        </p:spPr>
      </p:cxnSp>
      <p:sp>
        <p:nvSpPr>
          <p:cNvPr id="15" name="Google Shape;15;p2"/>
          <p:cNvSpPr txBox="1"/>
          <p:nvPr>
            <p:ph type="title"/>
          </p:nvPr>
        </p:nvSpPr>
        <p:spPr>
          <a:xfrm>
            <a:off x="1027967" y="2404670"/>
            <a:ext cx="7634059" cy="1978323"/>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rgbClr val="0E2D69"/>
              </a:buClr>
              <a:buSzPts val="4300"/>
              <a:buFont typeface="Arial"/>
              <a:buNone/>
              <a:defRPr b="0" i="0" sz="4300" u="none" cap="none" strike="noStrike">
                <a:solidFill>
                  <a:srgbClr val="0E2D69"/>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6" name="Google Shape;16;p2"/>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1pPr>
            <a:lvl2pPr indent="-228600" lvl="1" marL="9144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2pPr>
            <a:lvl3pPr indent="-228600" lvl="2" marL="13716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4pPr>
            <a:lvl5pPr indent="-228600" lvl="4" marL="22860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 name="Google Shape;17;p2"/>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 name="Google Shape;18;p2"/>
          <p:cNvSpPr txBox="1"/>
          <p:nvPr>
            <p:ph idx="3" type="body"/>
          </p:nvPr>
        </p:nvSpPr>
        <p:spPr>
          <a:xfrm>
            <a:off x="8786720" y="1173829"/>
            <a:ext cx="2217738"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 name="Google Shape;19;p2"/>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Текст_1">
  <p:cSld name="Текст_1">
    <p:bg>
      <p:bgPr>
        <a:blipFill>
          <a:blip r:embed="rId2">
            <a:alphaModFix/>
          </a:blip>
          <a:stretch>
            <a:fillRect/>
          </a:stretch>
        </a:blipFill>
      </p:bgPr>
    </p:bg>
    <p:spTree>
      <p:nvGrpSpPr>
        <p:cNvPr id="20" name="Shape 20"/>
        <p:cNvGrpSpPr/>
        <p:nvPr/>
      </p:nvGrpSpPr>
      <p:grpSpPr>
        <a:xfrm>
          <a:off x="0" y="0"/>
          <a:ext cx="0" cy="0"/>
          <a:chOff x="0" y="0"/>
          <a:chExt cx="0" cy="0"/>
        </a:xfrm>
      </p:grpSpPr>
      <p:pic>
        <p:nvPicPr>
          <p:cNvPr descr="Icon&#10;&#10;Description automatically generated" id="21" name="Google Shape;21;p3"/>
          <p:cNvPicPr preferRelativeResize="0"/>
          <p:nvPr/>
        </p:nvPicPr>
        <p:blipFill rotWithShape="1">
          <a:blip r:embed="rId3">
            <a:alphaModFix/>
          </a:blip>
          <a:srcRect b="0" l="0" r="0" t="0"/>
          <a:stretch/>
        </p:blipFill>
        <p:spPr>
          <a:xfrm>
            <a:off x="517199" y="464363"/>
            <a:ext cx="448276" cy="448276"/>
          </a:xfrm>
          <a:prstGeom prst="rect">
            <a:avLst/>
          </a:prstGeom>
          <a:noFill/>
          <a:ln>
            <a:noFill/>
          </a:ln>
        </p:spPr>
      </p:pic>
      <p:cxnSp>
        <p:nvCxnSpPr>
          <p:cNvPr id="22" name="Google Shape;22;p3"/>
          <p:cNvCxnSpPr/>
          <p:nvPr/>
        </p:nvCxnSpPr>
        <p:spPr>
          <a:xfrm>
            <a:off x="3298686" y="464363"/>
            <a:ext cx="0" cy="586260"/>
          </a:xfrm>
          <a:prstGeom prst="straightConnector1">
            <a:avLst/>
          </a:prstGeom>
          <a:noFill/>
          <a:ln cap="flat" cmpd="sng" w="12700">
            <a:solidFill>
              <a:srgbClr val="102D69"/>
            </a:solidFill>
            <a:prstDash val="solid"/>
            <a:miter lim="800000"/>
            <a:headEnd len="sm" w="sm" type="none"/>
            <a:tailEnd len="sm" w="sm" type="none"/>
          </a:ln>
        </p:spPr>
      </p:cxnSp>
      <p:cxnSp>
        <p:nvCxnSpPr>
          <p:cNvPr id="23" name="Google Shape;23;p3"/>
          <p:cNvCxnSpPr/>
          <p:nvPr/>
        </p:nvCxnSpPr>
        <p:spPr>
          <a:xfrm>
            <a:off x="6099416" y="464363"/>
            <a:ext cx="0" cy="586260"/>
          </a:xfrm>
          <a:prstGeom prst="straightConnector1">
            <a:avLst/>
          </a:prstGeom>
          <a:noFill/>
          <a:ln cap="flat" cmpd="sng" w="12700">
            <a:solidFill>
              <a:srgbClr val="102D69"/>
            </a:solidFill>
            <a:prstDash val="solid"/>
            <a:miter lim="800000"/>
            <a:headEnd len="sm" w="sm" type="none"/>
            <a:tailEnd len="sm" w="sm" type="none"/>
          </a:ln>
        </p:spPr>
      </p:cxnSp>
      <p:cxnSp>
        <p:nvCxnSpPr>
          <p:cNvPr id="24" name="Google Shape;24;p3"/>
          <p:cNvCxnSpPr/>
          <p:nvPr/>
        </p:nvCxnSpPr>
        <p:spPr>
          <a:xfrm>
            <a:off x="10277081" y="464363"/>
            <a:ext cx="0" cy="586260"/>
          </a:xfrm>
          <a:prstGeom prst="straightConnector1">
            <a:avLst/>
          </a:prstGeom>
          <a:noFill/>
          <a:ln cap="flat" cmpd="sng" w="12700">
            <a:solidFill>
              <a:srgbClr val="102D69"/>
            </a:solidFill>
            <a:prstDash val="solid"/>
            <a:miter lim="800000"/>
            <a:headEnd len="sm" w="sm" type="none"/>
            <a:tailEnd len="sm" w="sm" type="none"/>
          </a:ln>
        </p:spPr>
      </p:cxnSp>
      <p:sp>
        <p:nvSpPr>
          <p:cNvPr id="25" name="Google Shape;25;p3"/>
          <p:cNvSpPr txBox="1"/>
          <p:nvPr/>
        </p:nvSpPr>
        <p:spPr>
          <a:xfrm>
            <a:off x="10410201" y="532278"/>
            <a:ext cx="671977" cy="30777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sz="2000">
              <a:solidFill>
                <a:srgbClr val="102D69"/>
              </a:solidFill>
              <a:latin typeface="Arial"/>
              <a:ea typeface="Arial"/>
              <a:cs typeface="Arial"/>
              <a:sym typeface="Arial"/>
            </a:endParaRPr>
          </a:p>
        </p:txBody>
      </p:sp>
      <p:cxnSp>
        <p:nvCxnSpPr>
          <p:cNvPr id="26" name="Google Shape;26;p3"/>
          <p:cNvCxnSpPr/>
          <p:nvPr/>
        </p:nvCxnSpPr>
        <p:spPr>
          <a:xfrm>
            <a:off x="11643868" y="464363"/>
            <a:ext cx="0" cy="586260"/>
          </a:xfrm>
          <a:prstGeom prst="straightConnector1">
            <a:avLst/>
          </a:prstGeom>
          <a:noFill/>
          <a:ln cap="flat" cmpd="sng" w="12700">
            <a:solidFill>
              <a:srgbClr val="102D69"/>
            </a:solidFill>
            <a:prstDash val="solid"/>
            <a:miter lim="800000"/>
            <a:headEnd len="sm" w="sm" type="none"/>
            <a:tailEnd len="sm" w="sm" type="none"/>
          </a:ln>
        </p:spPr>
      </p:cxnSp>
      <p:sp>
        <p:nvSpPr>
          <p:cNvPr id="27" name="Google Shape;27;p3"/>
          <p:cNvSpPr/>
          <p:nvPr>
            <p:ph idx="2" type="pic"/>
          </p:nvPr>
        </p:nvSpPr>
        <p:spPr>
          <a:xfrm>
            <a:off x="6684653" y="1447790"/>
            <a:ext cx="4325167" cy="4325107"/>
          </a:xfrm>
          <a:prstGeom prst="rect">
            <a:avLst/>
          </a:prstGeom>
          <a:solidFill>
            <a:srgbClr val="D9D9D9"/>
          </a:solidFill>
          <a:ln>
            <a:noFill/>
          </a:ln>
        </p:spPr>
      </p:sp>
      <p:sp>
        <p:nvSpPr>
          <p:cNvPr id="28" name="Google Shape;28;p3"/>
          <p:cNvSpPr txBox="1"/>
          <p:nvPr>
            <p:ph type="title"/>
          </p:nvPr>
        </p:nvSpPr>
        <p:spPr>
          <a:xfrm>
            <a:off x="585898" y="1447790"/>
            <a:ext cx="524556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9" name="Google Shape;29;p3"/>
          <p:cNvSpPr txBox="1"/>
          <p:nvPr>
            <p:ph idx="1" type="body"/>
          </p:nvPr>
        </p:nvSpPr>
        <p:spPr>
          <a:xfrm>
            <a:off x="585897" y="2379663"/>
            <a:ext cx="5245561" cy="3393234"/>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0" name="Google Shape;30;p3"/>
          <p:cNvSpPr txBox="1"/>
          <p:nvPr>
            <p:ph idx="3" type="body"/>
          </p:nvPr>
        </p:nvSpPr>
        <p:spPr>
          <a:xfrm>
            <a:off x="1143689" y="540904"/>
            <a:ext cx="1901825"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1" name="Google Shape;31;p3"/>
          <p:cNvSpPr txBox="1"/>
          <p:nvPr>
            <p:ph idx="4" type="body"/>
          </p:nvPr>
        </p:nvSpPr>
        <p:spPr>
          <a:xfrm>
            <a:off x="3459163" y="548720"/>
            <a:ext cx="2070100" cy="408109"/>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2pPr>
            <a:lvl3pPr indent="-228600" lvl="2" marL="13716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3pPr>
            <a:lvl4pPr indent="-228600" lvl="3" marL="18288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4pPr>
            <a:lvl5pPr indent="-228600" lvl="4" marL="22860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2" name="Google Shape;32;p3"/>
          <p:cNvSpPr txBox="1"/>
          <p:nvPr>
            <p:ph idx="5" type="body"/>
          </p:nvPr>
        </p:nvSpPr>
        <p:spPr>
          <a:xfrm>
            <a:off x="6259892" y="548720"/>
            <a:ext cx="2070100" cy="408109"/>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2pPr>
            <a:lvl3pPr indent="-228600" lvl="2" marL="13716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3pPr>
            <a:lvl4pPr indent="-228600" lvl="3" marL="18288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4pPr>
            <a:lvl5pPr indent="-228600" lvl="4" marL="22860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График_1">
  <p:cSld name="График_1">
    <p:bg>
      <p:bgPr>
        <a:blipFill>
          <a:blip r:embed="rId2">
            <a:alphaModFix/>
          </a:blip>
          <a:stretch>
            <a:fillRect/>
          </a:stretch>
        </a:blipFill>
      </p:bgPr>
    </p:bg>
    <p:spTree>
      <p:nvGrpSpPr>
        <p:cNvPr id="33" name="Shape 33"/>
        <p:cNvGrpSpPr/>
        <p:nvPr/>
      </p:nvGrpSpPr>
      <p:grpSpPr>
        <a:xfrm>
          <a:off x="0" y="0"/>
          <a:ext cx="0" cy="0"/>
          <a:chOff x="0" y="0"/>
          <a:chExt cx="0" cy="0"/>
        </a:xfrm>
      </p:grpSpPr>
      <p:pic>
        <p:nvPicPr>
          <p:cNvPr descr="Icon&#10;&#10;Description automatically generated" id="34" name="Google Shape;34;p4"/>
          <p:cNvPicPr preferRelativeResize="0"/>
          <p:nvPr/>
        </p:nvPicPr>
        <p:blipFill rotWithShape="1">
          <a:blip r:embed="rId3">
            <a:alphaModFix/>
          </a:blip>
          <a:srcRect b="0" l="0" r="0" t="0"/>
          <a:stretch/>
        </p:blipFill>
        <p:spPr>
          <a:xfrm>
            <a:off x="517199" y="464363"/>
            <a:ext cx="448276" cy="448276"/>
          </a:xfrm>
          <a:prstGeom prst="rect">
            <a:avLst/>
          </a:prstGeom>
          <a:noFill/>
          <a:ln>
            <a:noFill/>
          </a:ln>
        </p:spPr>
      </p:pic>
      <p:cxnSp>
        <p:nvCxnSpPr>
          <p:cNvPr id="35" name="Google Shape;35;p4"/>
          <p:cNvCxnSpPr/>
          <p:nvPr/>
        </p:nvCxnSpPr>
        <p:spPr>
          <a:xfrm>
            <a:off x="3298686" y="464363"/>
            <a:ext cx="0" cy="586260"/>
          </a:xfrm>
          <a:prstGeom prst="straightConnector1">
            <a:avLst/>
          </a:prstGeom>
          <a:noFill/>
          <a:ln cap="flat" cmpd="sng" w="12700">
            <a:solidFill>
              <a:srgbClr val="102D69"/>
            </a:solidFill>
            <a:prstDash val="solid"/>
            <a:miter lim="800000"/>
            <a:headEnd len="sm" w="sm" type="none"/>
            <a:tailEnd len="sm" w="sm" type="none"/>
          </a:ln>
        </p:spPr>
      </p:cxnSp>
      <p:cxnSp>
        <p:nvCxnSpPr>
          <p:cNvPr id="36" name="Google Shape;36;p4"/>
          <p:cNvCxnSpPr/>
          <p:nvPr/>
        </p:nvCxnSpPr>
        <p:spPr>
          <a:xfrm>
            <a:off x="6099416" y="464363"/>
            <a:ext cx="0" cy="586260"/>
          </a:xfrm>
          <a:prstGeom prst="straightConnector1">
            <a:avLst/>
          </a:prstGeom>
          <a:noFill/>
          <a:ln cap="flat" cmpd="sng" w="12700">
            <a:solidFill>
              <a:srgbClr val="102D69"/>
            </a:solidFill>
            <a:prstDash val="solid"/>
            <a:miter lim="800000"/>
            <a:headEnd len="sm" w="sm" type="none"/>
            <a:tailEnd len="sm" w="sm" type="none"/>
          </a:ln>
        </p:spPr>
      </p:cxnSp>
      <p:cxnSp>
        <p:nvCxnSpPr>
          <p:cNvPr id="37" name="Google Shape;37;p4"/>
          <p:cNvCxnSpPr/>
          <p:nvPr/>
        </p:nvCxnSpPr>
        <p:spPr>
          <a:xfrm>
            <a:off x="10277081" y="464363"/>
            <a:ext cx="0" cy="586260"/>
          </a:xfrm>
          <a:prstGeom prst="straightConnector1">
            <a:avLst/>
          </a:prstGeom>
          <a:noFill/>
          <a:ln cap="flat" cmpd="sng" w="12700">
            <a:solidFill>
              <a:srgbClr val="102D69"/>
            </a:solidFill>
            <a:prstDash val="solid"/>
            <a:miter lim="800000"/>
            <a:headEnd len="sm" w="sm" type="none"/>
            <a:tailEnd len="sm" w="sm" type="none"/>
          </a:ln>
        </p:spPr>
      </p:cxnSp>
      <p:sp>
        <p:nvSpPr>
          <p:cNvPr id="38" name="Google Shape;38;p4"/>
          <p:cNvSpPr txBox="1"/>
          <p:nvPr/>
        </p:nvSpPr>
        <p:spPr>
          <a:xfrm>
            <a:off x="10410201" y="532278"/>
            <a:ext cx="671977" cy="30777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fld id="{00000000-1234-1234-1234-123412341234}" type="slidenum">
              <a:rPr lang="ru-RU" sz="2000">
                <a:solidFill>
                  <a:srgbClr val="102D69"/>
                </a:solidFill>
                <a:latin typeface="Arial"/>
                <a:ea typeface="Arial"/>
                <a:cs typeface="Arial"/>
                <a:sym typeface="Arial"/>
              </a:rPr>
              <a:t>‹#›</a:t>
            </a:fld>
            <a:endParaRPr sz="2000">
              <a:solidFill>
                <a:srgbClr val="102D69"/>
              </a:solidFill>
              <a:latin typeface="Arial"/>
              <a:ea typeface="Arial"/>
              <a:cs typeface="Arial"/>
              <a:sym typeface="Arial"/>
            </a:endParaRPr>
          </a:p>
        </p:txBody>
      </p:sp>
      <p:cxnSp>
        <p:nvCxnSpPr>
          <p:cNvPr id="39" name="Google Shape;39;p4"/>
          <p:cNvCxnSpPr/>
          <p:nvPr/>
        </p:nvCxnSpPr>
        <p:spPr>
          <a:xfrm>
            <a:off x="11643868" y="464363"/>
            <a:ext cx="0" cy="586260"/>
          </a:xfrm>
          <a:prstGeom prst="straightConnector1">
            <a:avLst/>
          </a:prstGeom>
          <a:noFill/>
          <a:ln cap="flat" cmpd="sng" w="12700">
            <a:solidFill>
              <a:srgbClr val="102D69"/>
            </a:solidFill>
            <a:prstDash val="solid"/>
            <a:miter lim="800000"/>
            <a:headEnd len="sm" w="sm" type="none"/>
            <a:tailEnd len="sm" w="sm" type="none"/>
          </a:ln>
        </p:spPr>
      </p:cxnSp>
      <p:sp>
        <p:nvSpPr>
          <p:cNvPr id="40" name="Google Shape;40;p4"/>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41" name="Google Shape;41;p4"/>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2" name="Google Shape;42;p4"/>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3" name="Google Shape;43;p4"/>
          <p:cNvSpPr/>
          <p:nvPr>
            <p:ph idx="3"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4" name="Google Shape;44;p4"/>
          <p:cNvSpPr txBox="1"/>
          <p:nvPr>
            <p:ph idx="4" type="body"/>
          </p:nvPr>
        </p:nvSpPr>
        <p:spPr>
          <a:xfrm>
            <a:off x="1143689" y="540904"/>
            <a:ext cx="1901825"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5" name="Google Shape;45;p4"/>
          <p:cNvSpPr txBox="1"/>
          <p:nvPr>
            <p:ph idx="5" type="body"/>
          </p:nvPr>
        </p:nvSpPr>
        <p:spPr>
          <a:xfrm>
            <a:off x="3459163" y="548720"/>
            <a:ext cx="2070100" cy="408109"/>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2pPr>
            <a:lvl3pPr indent="-228600" lvl="2" marL="13716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3pPr>
            <a:lvl4pPr indent="-228600" lvl="3" marL="18288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4pPr>
            <a:lvl5pPr indent="-228600" lvl="4" marL="22860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6" name="Google Shape;46;p4"/>
          <p:cNvSpPr txBox="1"/>
          <p:nvPr>
            <p:ph idx="6" type="body"/>
          </p:nvPr>
        </p:nvSpPr>
        <p:spPr>
          <a:xfrm>
            <a:off x="6259892" y="548720"/>
            <a:ext cx="2070100" cy="408109"/>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2pPr>
            <a:lvl3pPr indent="-228600" lvl="2" marL="13716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3pPr>
            <a:lvl4pPr indent="-228600" lvl="3" marL="18288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4pPr>
            <a:lvl5pPr indent="-228600" lvl="4" marL="22860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График_2">
  <p:cSld name="График_2">
    <p:bg>
      <p:bgPr>
        <a:blipFill>
          <a:blip r:embed="rId2">
            <a:alphaModFix/>
          </a:blip>
          <a:stretch>
            <a:fillRect/>
          </a:stretch>
        </a:blipFill>
      </p:bgPr>
    </p:bg>
    <p:spTree>
      <p:nvGrpSpPr>
        <p:cNvPr id="47" name="Shape 47"/>
        <p:cNvGrpSpPr/>
        <p:nvPr/>
      </p:nvGrpSpPr>
      <p:grpSpPr>
        <a:xfrm>
          <a:off x="0" y="0"/>
          <a:ext cx="0" cy="0"/>
          <a:chOff x="0" y="0"/>
          <a:chExt cx="0" cy="0"/>
        </a:xfrm>
      </p:grpSpPr>
      <p:pic>
        <p:nvPicPr>
          <p:cNvPr descr="Icon&#10;&#10;Description automatically generated" id="48" name="Google Shape;48;p5"/>
          <p:cNvPicPr preferRelativeResize="0"/>
          <p:nvPr/>
        </p:nvPicPr>
        <p:blipFill rotWithShape="1">
          <a:blip r:embed="rId3">
            <a:alphaModFix/>
          </a:blip>
          <a:srcRect b="0" l="0" r="0" t="0"/>
          <a:stretch/>
        </p:blipFill>
        <p:spPr>
          <a:xfrm>
            <a:off x="517199" y="464363"/>
            <a:ext cx="448276" cy="448276"/>
          </a:xfrm>
          <a:prstGeom prst="rect">
            <a:avLst/>
          </a:prstGeom>
          <a:noFill/>
          <a:ln>
            <a:noFill/>
          </a:ln>
        </p:spPr>
      </p:pic>
      <p:cxnSp>
        <p:nvCxnSpPr>
          <p:cNvPr id="49" name="Google Shape;49;p5"/>
          <p:cNvCxnSpPr/>
          <p:nvPr/>
        </p:nvCxnSpPr>
        <p:spPr>
          <a:xfrm>
            <a:off x="3298686" y="464363"/>
            <a:ext cx="0" cy="586260"/>
          </a:xfrm>
          <a:prstGeom prst="straightConnector1">
            <a:avLst/>
          </a:prstGeom>
          <a:noFill/>
          <a:ln cap="flat" cmpd="sng" w="12700">
            <a:solidFill>
              <a:srgbClr val="102D69"/>
            </a:solidFill>
            <a:prstDash val="solid"/>
            <a:miter lim="800000"/>
            <a:headEnd len="sm" w="sm" type="none"/>
            <a:tailEnd len="sm" w="sm" type="none"/>
          </a:ln>
        </p:spPr>
      </p:cxnSp>
      <p:cxnSp>
        <p:nvCxnSpPr>
          <p:cNvPr id="50" name="Google Shape;50;p5"/>
          <p:cNvCxnSpPr/>
          <p:nvPr/>
        </p:nvCxnSpPr>
        <p:spPr>
          <a:xfrm>
            <a:off x="6099416" y="464363"/>
            <a:ext cx="0" cy="586260"/>
          </a:xfrm>
          <a:prstGeom prst="straightConnector1">
            <a:avLst/>
          </a:prstGeom>
          <a:noFill/>
          <a:ln cap="flat" cmpd="sng" w="12700">
            <a:solidFill>
              <a:srgbClr val="102D69"/>
            </a:solidFill>
            <a:prstDash val="solid"/>
            <a:miter lim="800000"/>
            <a:headEnd len="sm" w="sm" type="none"/>
            <a:tailEnd len="sm" w="sm" type="none"/>
          </a:ln>
        </p:spPr>
      </p:cxnSp>
      <p:cxnSp>
        <p:nvCxnSpPr>
          <p:cNvPr id="51" name="Google Shape;51;p5"/>
          <p:cNvCxnSpPr/>
          <p:nvPr/>
        </p:nvCxnSpPr>
        <p:spPr>
          <a:xfrm>
            <a:off x="10277081" y="464363"/>
            <a:ext cx="0" cy="586260"/>
          </a:xfrm>
          <a:prstGeom prst="straightConnector1">
            <a:avLst/>
          </a:prstGeom>
          <a:noFill/>
          <a:ln cap="flat" cmpd="sng" w="12700">
            <a:solidFill>
              <a:srgbClr val="102D69"/>
            </a:solidFill>
            <a:prstDash val="solid"/>
            <a:miter lim="800000"/>
            <a:headEnd len="sm" w="sm" type="none"/>
            <a:tailEnd len="sm" w="sm" type="none"/>
          </a:ln>
        </p:spPr>
      </p:cxnSp>
      <p:sp>
        <p:nvSpPr>
          <p:cNvPr id="52" name="Google Shape;52;p5"/>
          <p:cNvSpPr txBox="1"/>
          <p:nvPr/>
        </p:nvSpPr>
        <p:spPr>
          <a:xfrm>
            <a:off x="10410201" y="532278"/>
            <a:ext cx="671977" cy="30777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fld id="{00000000-1234-1234-1234-123412341234}" type="slidenum">
              <a:rPr lang="ru-RU" sz="2000">
                <a:solidFill>
                  <a:srgbClr val="102D69"/>
                </a:solidFill>
                <a:latin typeface="Arial"/>
                <a:ea typeface="Arial"/>
                <a:cs typeface="Arial"/>
                <a:sym typeface="Arial"/>
              </a:rPr>
              <a:t>‹#›</a:t>
            </a:fld>
            <a:endParaRPr sz="2000">
              <a:solidFill>
                <a:srgbClr val="102D69"/>
              </a:solidFill>
              <a:latin typeface="Arial"/>
              <a:ea typeface="Arial"/>
              <a:cs typeface="Arial"/>
              <a:sym typeface="Arial"/>
            </a:endParaRPr>
          </a:p>
        </p:txBody>
      </p:sp>
      <p:cxnSp>
        <p:nvCxnSpPr>
          <p:cNvPr id="53" name="Google Shape;53;p5"/>
          <p:cNvCxnSpPr/>
          <p:nvPr/>
        </p:nvCxnSpPr>
        <p:spPr>
          <a:xfrm>
            <a:off x="11643868" y="464363"/>
            <a:ext cx="0" cy="586260"/>
          </a:xfrm>
          <a:prstGeom prst="straightConnector1">
            <a:avLst/>
          </a:prstGeom>
          <a:noFill/>
          <a:ln cap="flat" cmpd="sng" w="12700">
            <a:solidFill>
              <a:srgbClr val="102D69"/>
            </a:solidFill>
            <a:prstDash val="solid"/>
            <a:miter lim="800000"/>
            <a:headEnd len="sm" w="sm" type="none"/>
            <a:tailEnd len="sm" w="sm" type="none"/>
          </a:ln>
        </p:spPr>
      </p:cxnSp>
      <p:sp>
        <p:nvSpPr>
          <p:cNvPr id="54" name="Google Shape;54;p5"/>
          <p:cNvSpPr txBox="1"/>
          <p:nvPr>
            <p:ph idx="1"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5" name="Google Shape;55;p5"/>
          <p:cNvSpPr/>
          <p:nvPr>
            <p:ph idx="2"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6" name="Google Shape;56;p5"/>
          <p:cNvSpPr txBox="1"/>
          <p:nvPr>
            <p:ph idx="3" type="body"/>
          </p:nvPr>
        </p:nvSpPr>
        <p:spPr>
          <a:xfrm>
            <a:off x="585788" y="1447064"/>
            <a:ext cx="4322762" cy="703205"/>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7" name="Google Shape;57;p5"/>
          <p:cNvSpPr txBox="1"/>
          <p:nvPr>
            <p:ph idx="4"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8" name="Google Shape;58;p5"/>
          <p:cNvSpPr txBox="1"/>
          <p:nvPr>
            <p:ph idx="5" type="body"/>
          </p:nvPr>
        </p:nvSpPr>
        <p:spPr>
          <a:xfrm>
            <a:off x="1143689" y="540904"/>
            <a:ext cx="1901825"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9" name="Google Shape;59;p5"/>
          <p:cNvSpPr txBox="1"/>
          <p:nvPr>
            <p:ph idx="6" type="body"/>
          </p:nvPr>
        </p:nvSpPr>
        <p:spPr>
          <a:xfrm>
            <a:off x="3459163" y="548720"/>
            <a:ext cx="2070100" cy="408109"/>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2pPr>
            <a:lvl3pPr indent="-228600" lvl="2" marL="13716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3pPr>
            <a:lvl4pPr indent="-228600" lvl="3" marL="18288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4pPr>
            <a:lvl5pPr indent="-228600" lvl="4" marL="22860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0" name="Google Shape;60;p5"/>
          <p:cNvSpPr txBox="1"/>
          <p:nvPr>
            <p:ph idx="7" type="body"/>
          </p:nvPr>
        </p:nvSpPr>
        <p:spPr>
          <a:xfrm>
            <a:off x="6259892" y="548720"/>
            <a:ext cx="2070100" cy="408109"/>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2pPr>
            <a:lvl3pPr indent="-228600" lvl="2" marL="13716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3pPr>
            <a:lvl4pPr indent="-228600" lvl="3" marL="18288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4pPr>
            <a:lvl5pPr indent="-228600" lvl="4" marL="22860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Таблица_1">
  <p:cSld name="Таблица_1">
    <p:bg>
      <p:bgPr>
        <a:blipFill>
          <a:blip r:embed="rId2">
            <a:alphaModFix/>
          </a:blip>
          <a:stretch>
            <a:fillRect/>
          </a:stretch>
        </a:blipFill>
      </p:bgPr>
    </p:bg>
    <p:spTree>
      <p:nvGrpSpPr>
        <p:cNvPr id="61" name="Shape 61"/>
        <p:cNvGrpSpPr/>
        <p:nvPr/>
      </p:nvGrpSpPr>
      <p:grpSpPr>
        <a:xfrm>
          <a:off x="0" y="0"/>
          <a:ext cx="0" cy="0"/>
          <a:chOff x="0" y="0"/>
          <a:chExt cx="0" cy="0"/>
        </a:xfrm>
      </p:grpSpPr>
      <p:pic>
        <p:nvPicPr>
          <p:cNvPr descr="Icon&#10;&#10;Description automatically generated" id="62" name="Google Shape;62;p6"/>
          <p:cNvPicPr preferRelativeResize="0"/>
          <p:nvPr/>
        </p:nvPicPr>
        <p:blipFill rotWithShape="1">
          <a:blip r:embed="rId3">
            <a:alphaModFix/>
          </a:blip>
          <a:srcRect b="0" l="0" r="0" t="0"/>
          <a:stretch/>
        </p:blipFill>
        <p:spPr>
          <a:xfrm>
            <a:off x="517199" y="464363"/>
            <a:ext cx="448276" cy="448276"/>
          </a:xfrm>
          <a:prstGeom prst="rect">
            <a:avLst/>
          </a:prstGeom>
          <a:noFill/>
          <a:ln>
            <a:noFill/>
          </a:ln>
        </p:spPr>
      </p:pic>
      <p:cxnSp>
        <p:nvCxnSpPr>
          <p:cNvPr id="63" name="Google Shape;63;p6"/>
          <p:cNvCxnSpPr/>
          <p:nvPr/>
        </p:nvCxnSpPr>
        <p:spPr>
          <a:xfrm>
            <a:off x="3298686" y="464363"/>
            <a:ext cx="0" cy="586260"/>
          </a:xfrm>
          <a:prstGeom prst="straightConnector1">
            <a:avLst/>
          </a:prstGeom>
          <a:noFill/>
          <a:ln cap="flat" cmpd="sng" w="12700">
            <a:solidFill>
              <a:srgbClr val="102D69"/>
            </a:solidFill>
            <a:prstDash val="solid"/>
            <a:miter lim="800000"/>
            <a:headEnd len="sm" w="sm" type="none"/>
            <a:tailEnd len="sm" w="sm" type="none"/>
          </a:ln>
        </p:spPr>
      </p:cxnSp>
      <p:cxnSp>
        <p:nvCxnSpPr>
          <p:cNvPr id="64" name="Google Shape;64;p6"/>
          <p:cNvCxnSpPr/>
          <p:nvPr/>
        </p:nvCxnSpPr>
        <p:spPr>
          <a:xfrm>
            <a:off x="6099416" y="464363"/>
            <a:ext cx="0" cy="586260"/>
          </a:xfrm>
          <a:prstGeom prst="straightConnector1">
            <a:avLst/>
          </a:prstGeom>
          <a:noFill/>
          <a:ln cap="flat" cmpd="sng" w="12700">
            <a:solidFill>
              <a:srgbClr val="102D69"/>
            </a:solidFill>
            <a:prstDash val="solid"/>
            <a:miter lim="800000"/>
            <a:headEnd len="sm" w="sm" type="none"/>
            <a:tailEnd len="sm" w="sm" type="none"/>
          </a:ln>
        </p:spPr>
      </p:cxnSp>
      <p:cxnSp>
        <p:nvCxnSpPr>
          <p:cNvPr id="65" name="Google Shape;65;p6"/>
          <p:cNvCxnSpPr/>
          <p:nvPr/>
        </p:nvCxnSpPr>
        <p:spPr>
          <a:xfrm>
            <a:off x="10277081" y="464363"/>
            <a:ext cx="0" cy="586260"/>
          </a:xfrm>
          <a:prstGeom prst="straightConnector1">
            <a:avLst/>
          </a:prstGeom>
          <a:noFill/>
          <a:ln cap="flat" cmpd="sng" w="12700">
            <a:solidFill>
              <a:srgbClr val="102D69"/>
            </a:solidFill>
            <a:prstDash val="solid"/>
            <a:miter lim="800000"/>
            <a:headEnd len="sm" w="sm" type="none"/>
            <a:tailEnd len="sm" w="sm" type="none"/>
          </a:ln>
        </p:spPr>
      </p:cxnSp>
      <p:sp>
        <p:nvSpPr>
          <p:cNvPr id="66" name="Google Shape;66;p6"/>
          <p:cNvSpPr txBox="1"/>
          <p:nvPr/>
        </p:nvSpPr>
        <p:spPr>
          <a:xfrm>
            <a:off x="10410201" y="532278"/>
            <a:ext cx="671977" cy="30777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fld id="{00000000-1234-1234-1234-123412341234}" type="slidenum">
              <a:rPr lang="ru-RU" sz="2000">
                <a:solidFill>
                  <a:srgbClr val="102D69"/>
                </a:solidFill>
                <a:latin typeface="Arial"/>
                <a:ea typeface="Arial"/>
                <a:cs typeface="Arial"/>
                <a:sym typeface="Arial"/>
              </a:rPr>
              <a:t>‹#›</a:t>
            </a:fld>
            <a:endParaRPr sz="2000">
              <a:solidFill>
                <a:srgbClr val="102D69"/>
              </a:solidFill>
              <a:latin typeface="Arial"/>
              <a:ea typeface="Arial"/>
              <a:cs typeface="Arial"/>
              <a:sym typeface="Arial"/>
            </a:endParaRPr>
          </a:p>
        </p:txBody>
      </p:sp>
      <p:cxnSp>
        <p:nvCxnSpPr>
          <p:cNvPr id="67" name="Google Shape;67;p6"/>
          <p:cNvCxnSpPr/>
          <p:nvPr/>
        </p:nvCxnSpPr>
        <p:spPr>
          <a:xfrm>
            <a:off x="11643868" y="464363"/>
            <a:ext cx="0" cy="586260"/>
          </a:xfrm>
          <a:prstGeom prst="straightConnector1">
            <a:avLst/>
          </a:prstGeom>
          <a:noFill/>
          <a:ln cap="flat" cmpd="sng" w="12700">
            <a:solidFill>
              <a:srgbClr val="102D69"/>
            </a:solidFill>
            <a:prstDash val="solid"/>
            <a:miter lim="800000"/>
            <a:headEnd len="sm" w="sm" type="none"/>
            <a:tailEnd len="sm" w="sm" type="none"/>
          </a:ln>
        </p:spPr>
      </p:cxnSp>
      <p:sp>
        <p:nvSpPr>
          <p:cNvPr id="68" name="Google Shape;68;p6"/>
          <p:cNvSpPr txBox="1"/>
          <p:nvPr>
            <p:ph idx="1" type="body"/>
          </p:nvPr>
        </p:nvSpPr>
        <p:spPr>
          <a:xfrm>
            <a:off x="585787" y="1447065"/>
            <a:ext cx="11058065" cy="307778"/>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9" name="Google Shape;69;p6"/>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0" name="Google Shape;70;p6"/>
          <p:cNvSpPr/>
          <p:nvPr>
            <p:ph idx="3" type="tbl"/>
          </p:nvPr>
        </p:nvSpPr>
        <p:spPr>
          <a:xfrm>
            <a:off x="585787" y="1984076"/>
            <a:ext cx="11058527" cy="3519576"/>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1" name="Google Shape;71;p6"/>
          <p:cNvSpPr txBox="1"/>
          <p:nvPr>
            <p:ph idx="4" type="body"/>
          </p:nvPr>
        </p:nvSpPr>
        <p:spPr>
          <a:xfrm>
            <a:off x="1143689" y="540904"/>
            <a:ext cx="1901825"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2" name="Google Shape;72;p6"/>
          <p:cNvSpPr txBox="1"/>
          <p:nvPr>
            <p:ph idx="5" type="body"/>
          </p:nvPr>
        </p:nvSpPr>
        <p:spPr>
          <a:xfrm>
            <a:off x="3459163" y="548720"/>
            <a:ext cx="2070100" cy="408109"/>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2pPr>
            <a:lvl3pPr indent="-228600" lvl="2" marL="13716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3pPr>
            <a:lvl4pPr indent="-228600" lvl="3" marL="18288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4pPr>
            <a:lvl5pPr indent="-228600" lvl="4" marL="22860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3" name="Google Shape;73;p6"/>
          <p:cNvSpPr txBox="1"/>
          <p:nvPr>
            <p:ph idx="6" type="body"/>
          </p:nvPr>
        </p:nvSpPr>
        <p:spPr>
          <a:xfrm>
            <a:off x="6259892" y="548720"/>
            <a:ext cx="2070100" cy="408109"/>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2pPr>
            <a:lvl3pPr indent="-228600" lvl="2" marL="13716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3pPr>
            <a:lvl4pPr indent="-228600" lvl="3" marL="18288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4pPr>
            <a:lvl5pPr indent="-228600" lvl="4" marL="22860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Таблица_2">
  <p:cSld name="Таблица_2">
    <p:bg>
      <p:bgPr>
        <a:blipFill>
          <a:blip r:embed="rId2">
            <a:alphaModFix/>
          </a:blip>
          <a:stretch>
            <a:fillRect/>
          </a:stretch>
        </a:blipFill>
      </p:bgPr>
    </p:bg>
    <p:spTree>
      <p:nvGrpSpPr>
        <p:cNvPr id="74" name="Shape 74"/>
        <p:cNvGrpSpPr/>
        <p:nvPr/>
      </p:nvGrpSpPr>
      <p:grpSpPr>
        <a:xfrm>
          <a:off x="0" y="0"/>
          <a:ext cx="0" cy="0"/>
          <a:chOff x="0" y="0"/>
          <a:chExt cx="0" cy="0"/>
        </a:xfrm>
      </p:grpSpPr>
      <p:pic>
        <p:nvPicPr>
          <p:cNvPr descr="Icon&#10;&#10;Description automatically generated" id="75" name="Google Shape;75;p7"/>
          <p:cNvPicPr preferRelativeResize="0"/>
          <p:nvPr/>
        </p:nvPicPr>
        <p:blipFill rotWithShape="1">
          <a:blip r:embed="rId3">
            <a:alphaModFix/>
          </a:blip>
          <a:srcRect b="0" l="0" r="0" t="0"/>
          <a:stretch/>
        </p:blipFill>
        <p:spPr>
          <a:xfrm>
            <a:off x="517199" y="464363"/>
            <a:ext cx="448276" cy="448276"/>
          </a:xfrm>
          <a:prstGeom prst="rect">
            <a:avLst/>
          </a:prstGeom>
          <a:noFill/>
          <a:ln>
            <a:noFill/>
          </a:ln>
        </p:spPr>
      </p:pic>
      <p:cxnSp>
        <p:nvCxnSpPr>
          <p:cNvPr id="76" name="Google Shape;76;p7"/>
          <p:cNvCxnSpPr/>
          <p:nvPr/>
        </p:nvCxnSpPr>
        <p:spPr>
          <a:xfrm>
            <a:off x="3298686" y="464363"/>
            <a:ext cx="0" cy="586260"/>
          </a:xfrm>
          <a:prstGeom prst="straightConnector1">
            <a:avLst/>
          </a:prstGeom>
          <a:noFill/>
          <a:ln cap="flat" cmpd="sng" w="12700">
            <a:solidFill>
              <a:srgbClr val="102D69"/>
            </a:solidFill>
            <a:prstDash val="solid"/>
            <a:miter lim="800000"/>
            <a:headEnd len="sm" w="sm" type="none"/>
            <a:tailEnd len="sm" w="sm" type="none"/>
          </a:ln>
        </p:spPr>
      </p:cxnSp>
      <p:cxnSp>
        <p:nvCxnSpPr>
          <p:cNvPr id="77" name="Google Shape;77;p7"/>
          <p:cNvCxnSpPr/>
          <p:nvPr/>
        </p:nvCxnSpPr>
        <p:spPr>
          <a:xfrm>
            <a:off x="6099416" y="464363"/>
            <a:ext cx="0" cy="586260"/>
          </a:xfrm>
          <a:prstGeom prst="straightConnector1">
            <a:avLst/>
          </a:prstGeom>
          <a:noFill/>
          <a:ln cap="flat" cmpd="sng" w="12700">
            <a:solidFill>
              <a:srgbClr val="102D69"/>
            </a:solidFill>
            <a:prstDash val="solid"/>
            <a:miter lim="800000"/>
            <a:headEnd len="sm" w="sm" type="none"/>
            <a:tailEnd len="sm" w="sm" type="none"/>
          </a:ln>
        </p:spPr>
      </p:cxnSp>
      <p:cxnSp>
        <p:nvCxnSpPr>
          <p:cNvPr id="78" name="Google Shape;78;p7"/>
          <p:cNvCxnSpPr/>
          <p:nvPr/>
        </p:nvCxnSpPr>
        <p:spPr>
          <a:xfrm>
            <a:off x="10277081" y="464363"/>
            <a:ext cx="0" cy="586260"/>
          </a:xfrm>
          <a:prstGeom prst="straightConnector1">
            <a:avLst/>
          </a:prstGeom>
          <a:noFill/>
          <a:ln cap="flat" cmpd="sng" w="12700">
            <a:solidFill>
              <a:srgbClr val="102D69"/>
            </a:solidFill>
            <a:prstDash val="solid"/>
            <a:miter lim="800000"/>
            <a:headEnd len="sm" w="sm" type="none"/>
            <a:tailEnd len="sm" w="sm" type="none"/>
          </a:ln>
        </p:spPr>
      </p:cxnSp>
      <p:sp>
        <p:nvSpPr>
          <p:cNvPr id="79" name="Google Shape;79;p7"/>
          <p:cNvSpPr txBox="1"/>
          <p:nvPr/>
        </p:nvSpPr>
        <p:spPr>
          <a:xfrm>
            <a:off x="10410201" y="532278"/>
            <a:ext cx="671977" cy="30777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fld id="{00000000-1234-1234-1234-123412341234}" type="slidenum">
              <a:rPr lang="ru-RU" sz="2000">
                <a:solidFill>
                  <a:srgbClr val="102D69"/>
                </a:solidFill>
                <a:latin typeface="Arial"/>
                <a:ea typeface="Arial"/>
                <a:cs typeface="Arial"/>
                <a:sym typeface="Arial"/>
              </a:rPr>
              <a:t>‹#›</a:t>
            </a:fld>
            <a:endParaRPr sz="2000">
              <a:solidFill>
                <a:srgbClr val="102D69"/>
              </a:solidFill>
              <a:latin typeface="Arial"/>
              <a:ea typeface="Arial"/>
              <a:cs typeface="Arial"/>
              <a:sym typeface="Arial"/>
            </a:endParaRPr>
          </a:p>
        </p:txBody>
      </p:sp>
      <p:cxnSp>
        <p:nvCxnSpPr>
          <p:cNvPr id="80" name="Google Shape;80;p7"/>
          <p:cNvCxnSpPr/>
          <p:nvPr/>
        </p:nvCxnSpPr>
        <p:spPr>
          <a:xfrm>
            <a:off x="11643868" y="464363"/>
            <a:ext cx="0" cy="586260"/>
          </a:xfrm>
          <a:prstGeom prst="straightConnector1">
            <a:avLst/>
          </a:prstGeom>
          <a:noFill/>
          <a:ln cap="flat" cmpd="sng" w="12700">
            <a:solidFill>
              <a:srgbClr val="102D69"/>
            </a:solidFill>
            <a:prstDash val="solid"/>
            <a:miter lim="800000"/>
            <a:headEnd len="sm" w="sm" type="none"/>
            <a:tailEnd len="sm" w="sm" type="none"/>
          </a:ln>
        </p:spPr>
      </p:cxnSp>
      <p:sp>
        <p:nvSpPr>
          <p:cNvPr id="81" name="Google Shape;81;p7"/>
          <p:cNvSpPr txBox="1"/>
          <p:nvPr>
            <p:ph idx="1" type="body"/>
          </p:nvPr>
        </p:nvSpPr>
        <p:spPr>
          <a:xfrm>
            <a:off x="585787" y="1447064"/>
            <a:ext cx="7617877" cy="537011"/>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2" name="Google Shape;82;p7"/>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3" name="Google Shape;83;p7"/>
          <p:cNvSpPr/>
          <p:nvPr>
            <p:ph idx="3" type="tbl"/>
          </p:nvPr>
        </p:nvSpPr>
        <p:spPr>
          <a:xfrm>
            <a:off x="585787" y="2208362"/>
            <a:ext cx="7617895" cy="329529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4" name="Google Shape;84;p7"/>
          <p:cNvSpPr txBox="1"/>
          <p:nvPr>
            <p:ph idx="4" type="body"/>
          </p:nvPr>
        </p:nvSpPr>
        <p:spPr>
          <a:xfrm>
            <a:off x="8686807" y="2208363"/>
            <a:ext cx="2930666" cy="2570672"/>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5" name="Google Shape;85;p7"/>
          <p:cNvSpPr txBox="1"/>
          <p:nvPr>
            <p:ph idx="5" type="body"/>
          </p:nvPr>
        </p:nvSpPr>
        <p:spPr>
          <a:xfrm>
            <a:off x="1143689" y="540904"/>
            <a:ext cx="1901825"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6" name="Google Shape;86;p7"/>
          <p:cNvSpPr txBox="1"/>
          <p:nvPr>
            <p:ph idx="6" type="body"/>
          </p:nvPr>
        </p:nvSpPr>
        <p:spPr>
          <a:xfrm>
            <a:off x="3459163" y="548720"/>
            <a:ext cx="2070100" cy="408109"/>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2pPr>
            <a:lvl3pPr indent="-228600" lvl="2" marL="13716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3pPr>
            <a:lvl4pPr indent="-228600" lvl="3" marL="18288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4pPr>
            <a:lvl5pPr indent="-228600" lvl="4" marL="22860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7" name="Google Shape;87;p7"/>
          <p:cNvSpPr txBox="1"/>
          <p:nvPr>
            <p:ph idx="7" type="body"/>
          </p:nvPr>
        </p:nvSpPr>
        <p:spPr>
          <a:xfrm>
            <a:off x="6259892" y="548720"/>
            <a:ext cx="2070100" cy="408109"/>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2pPr>
            <a:lvl3pPr indent="-228600" lvl="2" marL="13716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3pPr>
            <a:lvl4pPr indent="-228600" lvl="3" marL="18288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4pPr>
            <a:lvl5pPr indent="-228600" lvl="4" marL="22860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цвет">
  <p:cSld name="цвет">
    <p:bg>
      <p:bgPr>
        <a:blipFill>
          <a:blip r:embed="rId2">
            <a:alphaModFix/>
          </a:blip>
          <a:stretch>
            <a:fillRect/>
          </a:stretch>
        </a:blipFill>
      </p:bgPr>
    </p:bg>
    <p:spTree>
      <p:nvGrpSpPr>
        <p:cNvPr id="88" name="Shape 88"/>
        <p:cNvGrpSpPr/>
        <p:nvPr/>
      </p:nvGrpSpPr>
      <p:grpSpPr>
        <a:xfrm>
          <a:off x="0" y="0"/>
          <a:ext cx="0" cy="0"/>
          <a:chOff x="0" y="0"/>
          <a:chExt cx="0" cy="0"/>
        </a:xfrm>
      </p:grpSpPr>
      <p:pic>
        <p:nvPicPr>
          <p:cNvPr descr="Icon&#10;&#10;Description automatically generated" id="89" name="Google Shape;89;p8"/>
          <p:cNvPicPr preferRelativeResize="0"/>
          <p:nvPr/>
        </p:nvPicPr>
        <p:blipFill rotWithShape="1">
          <a:blip r:embed="rId3">
            <a:alphaModFix/>
          </a:blip>
          <a:srcRect b="0" l="0" r="0" t="0"/>
          <a:stretch/>
        </p:blipFill>
        <p:spPr>
          <a:xfrm>
            <a:off x="517199" y="464363"/>
            <a:ext cx="448276" cy="448276"/>
          </a:xfrm>
          <a:prstGeom prst="rect">
            <a:avLst/>
          </a:prstGeom>
          <a:noFill/>
          <a:ln>
            <a:noFill/>
          </a:ln>
        </p:spPr>
      </p:pic>
      <p:cxnSp>
        <p:nvCxnSpPr>
          <p:cNvPr id="90" name="Google Shape;90;p8"/>
          <p:cNvCxnSpPr/>
          <p:nvPr/>
        </p:nvCxnSpPr>
        <p:spPr>
          <a:xfrm>
            <a:off x="3298686" y="464363"/>
            <a:ext cx="0" cy="586260"/>
          </a:xfrm>
          <a:prstGeom prst="straightConnector1">
            <a:avLst/>
          </a:prstGeom>
          <a:noFill/>
          <a:ln cap="flat" cmpd="sng" w="12700">
            <a:solidFill>
              <a:srgbClr val="102D69"/>
            </a:solidFill>
            <a:prstDash val="solid"/>
            <a:miter lim="800000"/>
            <a:headEnd len="sm" w="sm" type="none"/>
            <a:tailEnd len="sm" w="sm" type="none"/>
          </a:ln>
        </p:spPr>
      </p:cxnSp>
      <p:cxnSp>
        <p:nvCxnSpPr>
          <p:cNvPr id="91" name="Google Shape;91;p8"/>
          <p:cNvCxnSpPr/>
          <p:nvPr/>
        </p:nvCxnSpPr>
        <p:spPr>
          <a:xfrm>
            <a:off x="6099416" y="464363"/>
            <a:ext cx="0" cy="586260"/>
          </a:xfrm>
          <a:prstGeom prst="straightConnector1">
            <a:avLst/>
          </a:prstGeom>
          <a:noFill/>
          <a:ln cap="flat" cmpd="sng" w="12700">
            <a:solidFill>
              <a:srgbClr val="102D69"/>
            </a:solidFill>
            <a:prstDash val="solid"/>
            <a:miter lim="800000"/>
            <a:headEnd len="sm" w="sm" type="none"/>
            <a:tailEnd len="sm" w="sm" type="none"/>
          </a:ln>
        </p:spPr>
      </p:cxnSp>
      <p:cxnSp>
        <p:nvCxnSpPr>
          <p:cNvPr id="92" name="Google Shape;92;p8"/>
          <p:cNvCxnSpPr/>
          <p:nvPr/>
        </p:nvCxnSpPr>
        <p:spPr>
          <a:xfrm>
            <a:off x="10277081" y="464363"/>
            <a:ext cx="0" cy="586260"/>
          </a:xfrm>
          <a:prstGeom prst="straightConnector1">
            <a:avLst/>
          </a:prstGeom>
          <a:noFill/>
          <a:ln cap="flat" cmpd="sng" w="12700">
            <a:solidFill>
              <a:srgbClr val="102D69"/>
            </a:solidFill>
            <a:prstDash val="solid"/>
            <a:miter lim="800000"/>
            <a:headEnd len="sm" w="sm" type="none"/>
            <a:tailEnd len="sm" w="sm" type="none"/>
          </a:ln>
        </p:spPr>
      </p:cxnSp>
      <p:sp>
        <p:nvSpPr>
          <p:cNvPr id="93" name="Google Shape;93;p8"/>
          <p:cNvSpPr txBox="1"/>
          <p:nvPr/>
        </p:nvSpPr>
        <p:spPr>
          <a:xfrm>
            <a:off x="10410201" y="532278"/>
            <a:ext cx="671977" cy="30777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fld id="{00000000-1234-1234-1234-123412341234}" type="slidenum">
              <a:rPr lang="ru-RU" sz="2000">
                <a:solidFill>
                  <a:srgbClr val="102D69"/>
                </a:solidFill>
                <a:latin typeface="Arial"/>
                <a:ea typeface="Arial"/>
                <a:cs typeface="Arial"/>
                <a:sym typeface="Arial"/>
              </a:rPr>
              <a:t>‹#›</a:t>
            </a:fld>
            <a:endParaRPr sz="2000">
              <a:solidFill>
                <a:srgbClr val="102D69"/>
              </a:solidFill>
              <a:latin typeface="Arial"/>
              <a:ea typeface="Arial"/>
              <a:cs typeface="Arial"/>
              <a:sym typeface="Arial"/>
            </a:endParaRPr>
          </a:p>
        </p:txBody>
      </p:sp>
      <p:cxnSp>
        <p:nvCxnSpPr>
          <p:cNvPr id="94" name="Google Shape;94;p8"/>
          <p:cNvCxnSpPr/>
          <p:nvPr/>
        </p:nvCxnSpPr>
        <p:spPr>
          <a:xfrm>
            <a:off x="11643868" y="464363"/>
            <a:ext cx="0" cy="586260"/>
          </a:xfrm>
          <a:prstGeom prst="straightConnector1">
            <a:avLst/>
          </a:prstGeom>
          <a:noFill/>
          <a:ln cap="flat" cmpd="sng" w="12700">
            <a:solidFill>
              <a:srgbClr val="102D69"/>
            </a:solidFill>
            <a:prstDash val="solid"/>
            <a:miter lim="800000"/>
            <a:headEnd len="sm" w="sm" type="none"/>
            <a:tailEnd len="sm" w="sm" type="none"/>
          </a:ln>
        </p:spPr>
      </p:cxnSp>
      <p:sp>
        <p:nvSpPr>
          <p:cNvPr id="95" name="Google Shape;95;p8"/>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96" name="Google Shape;96;p8"/>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97" name="Google Shape;97;p8"/>
          <p:cNvSpPr/>
          <p:nvPr/>
        </p:nvSpPr>
        <p:spPr>
          <a:xfrm>
            <a:off x="5392982" y="1447790"/>
            <a:ext cx="830997" cy="830997"/>
          </a:xfrm>
          <a:prstGeom prst="ellipse">
            <a:avLst/>
          </a:prstGeom>
          <a:solidFill>
            <a:srgbClr val="0E2D6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8" name="Google Shape;98;p8"/>
          <p:cNvSpPr/>
          <p:nvPr/>
        </p:nvSpPr>
        <p:spPr>
          <a:xfrm>
            <a:off x="6742925" y="1447790"/>
            <a:ext cx="830997" cy="830997"/>
          </a:xfrm>
          <a:prstGeom prst="ellipse">
            <a:avLst/>
          </a:prstGeom>
          <a:solidFill>
            <a:srgbClr val="234A9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9" name="Google Shape;99;p8"/>
          <p:cNvSpPr/>
          <p:nvPr/>
        </p:nvSpPr>
        <p:spPr>
          <a:xfrm>
            <a:off x="8092868" y="1447790"/>
            <a:ext cx="830997" cy="830997"/>
          </a:xfrm>
          <a:prstGeom prst="ellipse">
            <a:avLst/>
          </a:prstGeom>
          <a:solidFill>
            <a:srgbClr val="11A0D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0" name="Google Shape;100;p8"/>
          <p:cNvSpPr/>
          <p:nvPr/>
        </p:nvSpPr>
        <p:spPr>
          <a:xfrm>
            <a:off x="9442811" y="1447790"/>
            <a:ext cx="830997" cy="830997"/>
          </a:xfrm>
          <a:prstGeom prst="ellipse">
            <a:avLst/>
          </a:prstGeom>
          <a:solidFill>
            <a:srgbClr val="029C6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1" name="Google Shape;101;p8"/>
          <p:cNvSpPr/>
          <p:nvPr/>
        </p:nvSpPr>
        <p:spPr>
          <a:xfrm>
            <a:off x="10792754" y="1447790"/>
            <a:ext cx="830997" cy="830997"/>
          </a:xfrm>
          <a:prstGeom prst="ellipse">
            <a:avLst/>
          </a:prstGeom>
          <a:solidFill>
            <a:srgbClr val="EB681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2" name="Google Shape;102;p8"/>
          <p:cNvSpPr/>
          <p:nvPr/>
        </p:nvSpPr>
        <p:spPr>
          <a:xfrm>
            <a:off x="5392982" y="2708699"/>
            <a:ext cx="830997" cy="830997"/>
          </a:xfrm>
          <a:prstGeom prst="ellipse">
            <a:avLst/>
          </a:prstGeom>
          <a:solidFill>
            <a:srgbClr val="7D4EB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3" name="Google Shape;103;p8"/>
          <p:cNvSpPr/>
          <p:nvPr/>
        </p:nvSpPr>
        <p:spPr>
          <a:xfrm>
            <a:off x="6742925" y="2708699"/>
            <a:ext cx="830997" cy="830997"/>
          </a:xfrm>
          <a:prstGeom prst="ellipse">
            <a:avLst/>
          </a:prstGeom>
          <a:solidFill>
            <a:srgbClr val="E61F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4" name="Google Shape;104;p8"/>
          <p:cNvSpPr/>
          <p:nvPr/>
        </p:nvSpPr>
        <p:spPr>
          <a:xfrm>
            <a:off x="8092868" y="2708699"/>
            <a:ext cx="830997" cy="830997"/>
          </a:xfrm>
          <a:prstGeom prst="ellipse">
            <a:avLst/>
          </a:prstGeom>
          <a:solidFill>
            <a:srgbClr val="FBBA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5" name="Google Shape;105;p8"/>
          <p:cNvSpPr/>
          <p:nvPr/>
        </p:nvSpPr>
        <p:spPr>
          <a:xfrm>
            <a:off x="9442811" y="2708699"/>
            <a:ext cx="830997" cy="830997"/>
          </a:xfrm>
          <a:prstGeom prst="ellipse">
            <a:avLst/>
          </a:prstGeom>
          <a:solidFill>
            <a:srgbClr val="7DA0D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6" name="Google Shape;106;p8"/>
          <p:cNvSpPr/>
          <p:nvPr/>
        </p:nvSpPr>
        <p:spPr>
          <a:xfrm>
            <a:off x="10792754" y="2708699"/>
            <a:ext cx="830997" cy="830997"/>
          </a:xfrm>
          <a:prstGeom prst="ellipse">
            <a:avLst/>
          </a:prstGeom>
          <a:solidFill>
            <a:srgbClr val="47A0A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7" name="Google Shape;107;p8"/>
          <p:cNvSpPr/>
          <p:nvPr/>
        </p:nvSpPr>
        <p:spPr>
          <a:xfrm>
            <a:off x="5392982" y="3969609"/>
            <a:ext cx="830997" cy="830997"/>
          </a:xfrm>
          <a:prstGeom prst="ellipse">
            <a:avLst/>
          </a:prstGeom>
          <a:solidFill>
            <a:srgbClr val="EB8C3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8" name="Google Shape;108;p8"/>
          <p:cNvSpPr/>
          <p:nvPr/>
        </p:nvSpPr>
        <p:spPr>
          <a:xfrm>
            <a:off x="6742925" y="3969609"/>
            <a:ext cx="830997" cy="830997"/>
          </a:xfrm>
          <a:prstGeom prst="ellipse">
            <a:avLst/>
          </a:prstGeom>
          <a:solidFill>
            <a:srgbClr val="9662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9" name="Google Shape;109;p8"/>
          <p:cNvSpPr/>
          <p:nvPr/>
        </p:nvSpPr>
        <p:spPr>
          <a:xfrm>
            <a:off x="8092868" y="3969609"/>
            <a:ext cx="830997" cy="830997"/>
          </a:xfrm>
          <a:prstGeom prst="ellipse">
            <a:avLst/>
          </a:prstGeom>
          <a:solidFill>
            <a:srgbClr val="CD5A5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0" name="Google Shape;110;p8"/>
          <p:cNvSpPr/>
          <p:nvPr/>
        </p:nvSpPr>
        <p:spPr>
          <a:xfrm>
            <a:off x="9442811" y="3969609"/>
            <a:ext cx="830997" cy="830997"/>
          </a:xfrm>
          <a:prstGeom prst="ellipse">
            <a:avLst/>
          </a:prstGeom>
          <a:solidFill>
            <a:srgbClr val="FFD74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1" name="Google Shape;111;p8"/>
          <p:cNvSpPr/>
          <p:nvPr/>
        </p:nvSpPr>
        <p:spPr>
          <a:xfrm>
            <a:off x="10792754" y="3969609"/>
            <a:ext cx="830997" cy="830997"/>
          </a:xfrm>
          <a:prstGeom prst="ellipse">
            <a:avLst/>
          </a:prstGeom>
          <a:solidFill>
            <a:srgbClr val="CDDD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2" name="Google Shape;112;p8"/>
          <p:cNvSpPr/>
          <p:nvPr/>
        </p:nvSpPr>
        <p:spPr>
          <a:xfrm>
            <a:off x="5392982" y="5249769"/>
            <a:ext cx="830997" cy="830997"/>
          </a:xfrm>
          <a:prstGeom prst="ellipse">
            <a:avLst/>
          </a:prstGeom>
          <a:solidFill>
            <a:srgbClr val="D7EBB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3" name="Google Shape;113;p8"/>
          <p:cNvSpPr/>
          <p:nvPr/>
        </p:nvSpPr>
        <p:spPr>
          <a:xfrm>
            <a:off x="6742925" y="5249769"/>
            <a:ext cx="830997" cy="830997"/>
          </a:xfrm>
          <a:prstGeom prst="ellipse">
            <a:avLst/>
          </a:prstGeom>
          <a:solidFill>
            <a:srgbClr val="FFDC9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4" name="Google Shape;114;p8"/>
          <p:cNvSpPr/>
          <p:nvPr/>
        </p:nvSpPr>
        <p:spPr>
          <a:xfrm>
            <a:off x="8092868" y="5249769"/>
            <a:ext cx="830997" cy="830997"/>
          </a:xfrm>
          <a:prstGeom prst="ellipse">
            <a:avLst/>
          </a:prstGeom>
          <a:solidFill>
            <a:srgbClr val="D7C3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5" name="Google Shape;115;p8"/>
          <p:cNvSpPr/>
          <p:nvPr/>
        </p:nvSpPr>
        <p:spPr>
          <a:xfrm>
            <a:off x="9442811" y="5249769"/>
            <a:ext cx="830997" cy="830997"/>
          </a:xfrm>
          <a:prstGeom prst="ellipse">
            <a:avLst/>
          </a:prstGeom>
          <a:solidFill>
            <a:srgbClr val="F6C3C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6" name="Google Shape;116;p8"/>
          <p:cNvSpPr/>
          <p:nvPr/>
        </p:nvSpPr>
        <p:spPr>
          <a:xfrm>
            <a:off x="10792754" y="5249769"/>
            <a:ext cx="830997" cy="830997"/>
          </a:xfrm>
          <a:prstGeom prst="ellipse">
            <a:avLst/>
          </a:prstGeom>
          <a:solidFill>
            <a:srgbClr val="FFF07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7" name="Google Shape;117;p8"/>
          <p:cNvSpPr txBox="1"/>
          <p:nvPr>
            <p:ph idx="2" type="body"/>
          </p:nvPr>
        </p:nvSpPr>
        <p:spPr>
          <a:xfrm>
            <a:off x="1143689" y="540904"/>
            <a:ext cx="1901825"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18" name="Google Shape;118;p8"/>
          <p:cNvSpPr txBox="1"/>
          <p:nvPr>
            <p:ph idx="3" type="body"/>
          </p:nvPr>
        </p:nvSpPr>
        <p:spPr>
          <a:xfrm>
            <a:off x="3459163" y="548720"/>
            <a:ext cx="2070100" cy="408109"/>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2pPr>
            <a:lvl3pPr indent="-228600" lvl="2" marL="13716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3pPr>
            <a:lvl4pPr indent="-228600" lvl="3" marL="18288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4pPr>
            <a:lvl5pPr indent="-228600" lvl="4" marL="22860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19" name="Google Shape;119;p8"/>
          <p:cNvSpPr txBox="1"/>
          <p:nvPr>
            <p:ph idx="4" type="body"/>
          </p:nvPr>
        </p:nvSpPr>
        <p:spPr>
          <a:xfrm>
            <a:off x="6259892" y="548720"/>
            <a:ext cx="2070100" cy="408109"/>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2pPr>
            <a:lvl3pPr indent="-228600" lvl="2" marL="13716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3pPr>
            <a:lvl4pPr indent="-228600" lvl="3" marL="18288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4pPr>
            <a:lvl5pPr indent="-228600" lvl="4" marL="22860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чистый_2">
  <p:cSld name="чистый_2">
    <p:bg>
      <p:bgPr>
        <a:blipFill>
          <a:blip r:embed="rId2">
            <a:alphaModFix/>
          </a:blip>
          <a:stretch>
            <a:fillRect/>
          </a:stretch>
        </a:blipFill>
      </p:bgPr>
    </p:bg>
    <p:spTree>
      <p:nvGrpSpPr>
        <p:cNvPr id="120" name="Shape 120"/>
        <p:cNvGrpSpPr/>
        <p:nvPr/>
      </p:nvGrpSpPr>
      <p:grpSpPr>
        <a:xfrm>
          <a:off x="0" y="0"/>
          <a:ext cx="0" cy="0"/>
          <a:chOff x="0" y="0"/>
          <a:chExt cx="0" cy="0"/>
        </a:xfrm>
      </p:grpSpPr>
      <p:pic>
        <p:nvPicPr>
          <p:cNvPr descr="Icon&#10;&#10;Description automatically generated" id="121" name="Google Shape;121;p9"/>
          <p:cNvPicPr preferRelativeResize="0"/>
          <p:nvPr/>
        </p:nvPicPr>
        <p:blipFill rotWithShape="1">
          <a:blip r:embed="rId3">
            <a:alphaModFix/>
          </a:blip>
          <a:srcRect b="0" l="0" r="0" t="0"/>
          <a:stretch/>
        </p:blipFill>
        <p:spPr>
          <a:xfrm>
            <a:off x="517199" y="464363"/>
            <a:ext cx="448276" cy="448276"/>
          </a:xfrm>
          <a:prstGeom prst="rect">
            <a:avLst/>
          </a:prstGeom>
          <a:noFill/>
          <a:ln>
            <a:noFill/>
          </a:ln>
        </p:spPr>
      </p:pic>
      <p:cxnSp>
        <p:nvCxnSpPr>
          <p:cNvPr id="122" name="Google Shape;122;p9"/>
          <p:cNvCxnSpPr/>
          <p:nvPr/>
        </p:nvCxnSpPr>
        <p:spPr>
          <a:xfrm>
            <a:off x="3298686" y="464363"/>
            <a:ext cx="0" cy="586260"/>
          </a:xfrm>
          <a:prstGeom prst="straightConnector1">
            <a:avLst/>
          </a:prstGeom>
          <a:noFill/>
          <a:ln cap="flat" cmpd="sng" w="12700">
            <a:solidFill>
              <a:srgbClr val="102D69"/>
            </a:solidFill>
            <a:prstDash val="solid"/>
            <a:miter lim="800000"/>
            <a:headEnd len="sm" w="sm" type="none"/>
            <a:tailEnd len="sm" w="sm" type="none"/>
          </a:ln>
        </p:spPr>
      </p:cxnSp>
      <p:cxnSp>
        <p:nvCxnSpPr>
          <p:cNvPr id="123" name="Google Shape;123;p9"/>
          <p:cNvCxnSpPr/>
          <p:nvPr/>
        </p:nvCxnSpPr>
        <p:spPr>
          <a:xfrm>
            <a:off x="6099416" y="464363"/>
            <a:ext cx="0" cy="586260"/>
          </a:xfrm>
          <a:prstGeom prst="straightConnector1">
            <a:avLst/>
          </a:prstGeom>
          <a:noFill/>
          <a:ln cap="flat" cmpd="sng" w="12700">
            <a:solidFill>
              <a:srgbClr val="102D69"/>
            </a:solidFill>
            <a:prstDash val="solid"/>
            <a:miter lim="800000"/>
            <a:headEnd len="sm" w="sm" type="none"/>
            <a:tailEnd len="sm" w="sm" type="none"/>
          </a:ln>
        </p:spPr>
      </p:cxnSp>
      <p:cxnSp>
        <p:nvCxnSpPr>
          <p:cNvPr id="124" name="Google Shape;124;p9"/>
          <p:cNvCxnSpPr/>
          <p:nvPr/>
        </p:nvCxnSpPr>
        <p:spPr>
          <a:xfrm>
            <a:off x="10277081" y="464363"/>
            <a:ext cx="0" cy="586260"/>
          </a:xfrm>
          <a:prstGeom prst="straightConnector1">
            <a:avLst/>
          </a:prstGeom>
          <a:noFill/>
          <a:ln cap="flat" cmpd="sng" w="12700">
            <a:solidFill>
              <a:srgbClr val="102D69"/>
            </a:solidFill>
            <a:prstDash val="solid"/>
            <a:miter lim="800000"/>
            <a:headEnd len="sm" w="sm" type="none"/>
            <a:tailEnd len="sm" w="sm" type="none"/>
          </a:ln>
        </p:spPr>
      </p:cxnSp>
      <p:sp>
        <p:nvSpPr>
          <p:cNvPr id="125" name="Google Shape;125;p9"/>
          <p:cNvSpPr txBox="1"/>
          <p:nvPr/>
        </p:nvSpPr>
        <p:spPr>
          <a:xfrm>
            <a:off x="10410201" y="532278"/>
            <a:ext cx="671977" cy="30777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fld id="{00000000-1234-1234-1234-123412341234}" type="slidenum">
              <a:rPr lang="ru-RU" sz="2000">
                <a:solidFill>
                  <a:srgbClr val="102D69"/>
                </a:solidFill>
                <a:latin typeface="Arial"/>
                <a:ea typeface="Arial"/>
                <a:cs typeface="Arial"/>
                <a:sym typeface="Arial"/>
              </a:rPr>
              <a:t>‹#›</a:t>
            </a:fld>
            <a:endParaRPr sz="2000">
              <a:solidFill>
                <a:srgbClr val="102D69"/>
              </a:solidFill>
              <a:latin typeface="Arial"/>
              <a:ea typeface="Arial"/>
              <a:cs typeface="Arial"/>
              <a:sym typeface="Arial"/>
            </a:endParaRPr>
          </a:p>
        </p:txBody>
      </p:sp>
      <p:cxnSp>
        <p:nvCxnSpPr>
          <p:cNvPr id="126" name="Google Shape;126;p9"/>
          <p:cNvCxnSpPr/>
          <p:nvPr/>
        </p:nvCxnSpPr>
        <p:spPr>
          <a:xfrm>
            <a:off x="11643868" y="464363"/>
            <a:ext cx="0" cy="586260"/>
          </a:xfrm>
          <a:prstGeom prst="straightConnector1">
            <a:avLst/>
          </a:prstGeom>
          <a:noFill/>
          <a:ln cap="flat" cmpd="sng" w="12700">
            <a:solidFill>
              <a:srgbClr val="102D69"/>
            </a:solidFill>
            <a:prstDash val="solid"/>
            <a:miter lim="800000"/>
            <a:headEnd len="sm" w="sm" type="none"/>
            <a:tailEnd len="sm" w="sm" type="none"/>
          </a:ln>
        </p:spPr>
      </p:cxnSp>
      <p:sp>
        <p:nvSpPr>
          <p:cNvPr id="127" name="Google Shape;127;p9"/>
          <p:cNvSpPr txBox="1"/>
          <p:nvPr>
            <p:ph idx="1" type="body"/>
          </p:nvPr>
        </p:nvSpPr>
        <p:spPr>
          <a:xfrm>
            <a:off x="1143689" y="540904"/>
            <a:ext cx="1901825"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8" name="Google Shape;128;p9"/>
          <p:cNvSpPr txBox="1"/>
          <p:nvPr>
            <p:ph idx="2" type="body"/>
          </p:nvPr>
        </p:nvSpPr>
        <p:spPr>
          <a:xfrm>
            <a:off x="3459163" y="548720"/>
            <a:ext cx="2070100" cy="408109"/>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2pPr>
            <a:lvl3pPr indent="-228600" lvl="2" marL="13716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3pPr>
            <a:lvl4pPr indent="-228600" lvl="3" marL="18288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4pPr>
            <a:lvl5pPr indent="-228600" lvl="4" marL="22860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9" name="Google Shape;129;p9"/>
          <p:cNvSpPr txBox="1"/>
          <p:nvPr>
            <p:ph idx="3" type="body"/>
          </p:nvPr>
        </p:nvSpPr>
        <p:spPr>
          <a:xfrm>
            <a:off x="6259892" y="548720"/>
            <a:ext cx="2070100" cy="408109"/>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2pPr>
            <a:lvl3pPr indent="-228600" lvl="2" marL="13716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3pPr>
            <a:lvl4pPr indent="-228600" lvl="3" marL="18288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4pPr>
            <a:lvl5pPr indent="-228600" lvl="4" marL="22860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чистый">
  <p:cSld name="чистый">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10"/>
          <p:cNvSpPr/>
          <p:nvPr/>
        </p:nvSpPr>
        <p:spPr>
          <a:xfrm>
            <a:off x="0" y="0"/>
            <a:ext cx="12192000" cy="6858000"/>
          </a:xfrm>
          <a:prstGeom prst="rect">
            <a:avLst/>
          </a:prstGeom>
          <a:solidFill>
            <a:schemeClr val="dk1"/>
          </a:solidFill>
          <a:ln cap="flat" cmpd="sng" w="12700">
            <a:solidFill>
              <a:srgbClr val="0A204B"/>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pic>
        <p:nvPicPr>
          <p:cNvPr descr="A blue circle with white text&#10;&#10;Description automatically generated with low confidence" id="132" name="Google Shape;132;p10"/>
          <p:cNvPicPr preferRelativeResize="0"/>
          <p:nvPr/>
        </p:nvPicPr>
        <p:blipFill rotWithShape="1">
          <a:blip r:embed="rId3">
            <a:alphaModFix/>
          </a:blip>
          <a:srcRect b="0" l="0" r="0" t="0"/>
          <a:stretch/>
        </p:blipFill>
        <p:spPr>
          <a:xfrm>
            <a:off x="5310809" y="2643809"/>
            <a:ext cx="1570383" cy="1570383"/>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Текст_2">
  <p:cSld name="Текст_2">
    <p:bg>
      <p:bgPr>
        <a:blipFill>
          <a:blip r:embed="rId2">
            <a:alphaModFix/>
          </a:blip>
          <a:stretch>
            <a:fillRect/>
          </a:stretch>
        </a:blipFill>
      </p:bgPr>
    </p:bg>
    <p:spTree>
      <p:nvGrpSpPr>
        <p:cNvPr id="133" name="Shape 133"/>
        <p:cNvGrpSpPr/>
        <p:nvPr/>
      </p:nvGrpSpPr>
      <p:grpSpPr>
        <a:xfrm>
          <a:off x="0" y="0"/>
          <a:ext cx="0" cy="0"/>
          <a:chOff x="0" y="0"/>
          <a:chExt cx="0" cy="0"/>
        </a:xfrm>
      </p:grpSpPr>
      <p:pic>
        <p:nvPicPr>
          <p:cNvPr descr="Icon&#10;&#10;Description automatically generated" id="134" name="Google Shape;134;p11"/>
          <p:cNvPicPr preferRelativeResize="0"/>
          <p:nvPr/>
        </p:nvPicPr>
        <p:blipFill rotWithShape="1">
          <a:blip r:embed="rId3">
            <a:alphaModFix/>
          </a:blip>
          <a:srcRect b="0" l="0" r="0" t="0"/>
          <a:stretch/>
        </p:blipFill>
        <p:spPr>
          <a:xfrm>
            <a:off x="517199" y="464363"/>
            <a:ext cx="448276" cy="448276"/>
          </a:xfrm>
          <a:prstGeom prst="rect">
            <a:avLst/>
          </a:prstGeom>
          <a:noFill/>
          <a:ln>
            <a:noFill/>
          </a:ln>
        </p:spPr>
      </p:pic>
      <p:cxnSp>
        <p:nvCxnSpPr>
          <p:cNvPr id="135" name="Google Shape;135;p11"/>
          <p:cNvCxnSpPr/>
          <p:nvPr/>
        </p:nvCxnSpPr>
        <p:spPr>
          <a:xfrm>
            <a:off x="3298686" y="464363"/>
            <a:ext cx="0" cy="586260"/>
          </a:xfrm>
          <a:prstGeom prst="straightConnector1">
            <a:avLst/>
          </a:prstGeom>
          <a:noFill/>
          <a:ln cap="flat" cmpd="sng" w="12700">
            <a:solidFill>
              <a:srgbClr val="102D69"/>
            </a:solidFill>
            <a:prstDash val="solid"/>
            <a:miter lim="800000"/>
            <a:headEnd len="sm" w="sm" type="none"/>
            <a:tailEnd len="sm" w="sm" type="none"/>
          </a:ln>
        </p:spPr>
      </p:cxnSp>
      <p:cxnSp>
        <p:nvCxnSpPr>
          <p:cNvPr id="136" name="Google Shape;136;p11"/>
          <p:cNvCxnSpPr/>
          <p:nvPr/>
        </p:nvCxnSpPr>
        <p:spPr>
          <a:xfrm>
            <a:off x="6099416" y="464363"/>
            <a:ext cx="0" cy="586260"/>
          </a:xfrm>
          <a:prstGeom prst="straightConnector1">
            <a:avLst/>
          </a:prstGeom>
          <a:noFill/>
          <a:ln cap="flat" cmpd="sng" w="12700">
            <a:solidFill>
              <a:srgbClr val="102D69"/>
            </a:solidFill>
            <a:prstDash val="solid"/>
            <a:miter lim="800000"/>
            <a:headEnd len="sm" w="sm" type="none"/>
            <a:tailEnd len="sm" w="sm" type="none"/>
          </a:ln>
        </p:spPr>
      </p:cxnSp>
      <p:cxnSp>
        <p:nvCxnSpPr>
          <p:cNvPr id="137" name="Google Shape;137;p11"/>
          <p:cNvCxnSpPr/>
          <p:nvPr/>
        </p:nvCxnSpPr>
        <p:spPr>
          <a:xfrm>
            <a:off x="10277081" y="464363"/>
            <a:ext cx="0" cy="586260"/>
          </a:xfrm>
          <a:prstGeom prst="straightConnector1">
            <a:avLst/>
          </a:prstGeom>
          <a:noFill/>
          <a:ln cap="flat" cmpd="sng" w="12700">
            <a:solidFill>
              <a:srgbClr val="102D69"/>
            </a:solidFill>
            <a:prstDash val="solid"/>
            <a:miter lim="800000"/>
            <a:headEnd len="sm" w="sm" type="none"/>
            <a:tailEnd len="sm" w="sm" type="none"/>
          </a:ln>
        </p:spPr>
      </p:cxnSp>
      <p:sp>
        <p:nvSpPr>
          <p:cNvPr id="138" name="Google Shape;138;p11"/>
          <p:cNvSpPr txBox="1"/>
          <p:nvPr/>
        </p:nvSpPr>
        <p:spPr>
          <a:xfrm>
            <a:off x="10410201" y="532278"/>
            <a:ext cx="671977" cy="30777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fld id="{00000000-1234-1234-1234-123412341234}" type="slidenum">
              <a:rPr lang="ru-RU" sz="2000">
                <a:solidFill>
                  <a:srgbClr val="102D69"/>
                </a:solidFill>
                <a:latin typeface="Arial"/>
                <a:ea typeface="Arial"/>
                <a:cs typeface="Arial"/>
                <a:sym typeface="Arial"/>
              </a:rPr>
              <a:t>‹#›</a:t>
            </a:fld>
            <a:endParaRPr sz="2000">
              <a:solidFill>
                <a:srgbClr val="102D69"/>
              </a:solidFill>
              <a:latin typeface="Arial"/>
              <a:ea typeface="Arial"/>
              <a:cs typeface="Arial"/>
              <a:sym typeface="Arial"/>
            </a:endParaRPr>
          </a:p>
        </p:txBody>
      </p:sp>
      <p:cxnSp>
        <p:nvCxnSpPr>
          <p:cNvPr id="139" name="Google Shape;139;p11"/>
          <p:cNvCxnSpPr/>
          <p:nvPr/>
        </p:nvCxnSpPr>
        <p:spPr>
          <a:xfrm>
            <a:off x="11643868" y="464363"/>
            <a:ext cx="0" cy="586260"/>
          </a:xfrm>
          <a:prstGeom prst="straightConnector1">
            <a:avLst/>
          </a:prstGeom>
          <a:noFill/>
          <a:ln cap="flat" cmpd="sng" w="12700">
            <a:solidFill>
              <a:srgbClr val="102D69"/>
            </a:solidFill>
            <a:prstDash val="solid"/>
            <a:miter lim="800000"/>
            <a:headEnd len="sm" w="sm" type="none"/>
            <a:tailEnd len="sm" w="sm" type="none"/>
          </a:ln>
        </p:spPr>
      </p:cxnSp>
      <p:sp>
        <p:nvSpPr>
          <p:cNvPr id="140" name="Google Shape;140;p11"/>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41" name="Google Shape;141;p11"/>
          <p:cNvSpPr txBox="1"/>
          <p:nvPr>
            <p:ph idx="1" type="body"/>
          </p:nvPr>
        </p:nvSpPr>
        <p:spPr>
          <a:xfrm>
            <a:off x="585897" y="2379663"/>
            <a:ext cx="11057971" cy="3745092"/>
          </a:xfrm>
          <a:prstGeom prst="rect">
            <a:avLst/>
          </a:prstGeom>
          <a:noFill/>
          <a:ln>
            <a:noFill/>
          </a:ln>
        </p:spPr>
        <p:txBody>
          <a:bodyPr anchorCtr="0" anchor="t" bIns="45700" lIns="0" spcFirstLastPara="1" rIns="0" wrap="square" tIns="0">
            <a:noAutofit/>
          </a:bodyPr>
          <a:lstStyle>
            <a:lvl1pPr indent="-228600" lvl="0" marL="457200" marR="0" rtl="0" algn="l">
              <a:lnSpc>
                <a:spcPct val="100000"/>
              </a:lnSpc>
              <a:spcBef>
                <a:spcPts val="12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2" name="Google Shape;142;p11"/>
          <p:cNvSpPr txBox="1"/>
          <p:nvPr>
            <p:ph idx="2" type="body"/>
          </p:nvPr>
        </p:nvSpPr>
        <p:spPr>
          <a:xfrm>
            <a:off x="1143689" y="540904"/>
            <a:ext cx="1901825"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3" name="Google Shape;143;p11"/>
          <p:cNvSpPr txBox="1"/>
          <p:nvPr>
            <p:ph idx="3" type="body"/>
          </p:nvPr>
        </p:nvSpPr>
        <p:spPr>
          <a:xfrm>
            <a:off x="3459163" y="548720"/>
            <a:ext cx="2070100" cy="408109"/>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2pPr>
            <a:lvl3pPr indent="-228600" lvl="2" marL="13716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3pPr>
            <a:lvl4pPr indent="-228600" lvl="3" marL="18288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4pPr>
            <a:lvl5pPr indent="-228600" lvl="4" marL="22860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4" name="Google Shape;144;p11"/>
          <p:cNvSpPr txBox="1"/>
          <p:nvPr>
            <p:ph idx="4" type="body"/>
          </p:nvPr>
        </p:nvSpPr>
        <p:spPr>
          <a:xfrm>
            <a:off x="6259892" y="548720"/>
            <a:ext cx="2070100" cy="408109"/>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2pPr>
            <a:lvl3pPr indent="-228600" lvl="2" marL="13716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3pPr>
            <a:lvl4pPr indent="-228600" lvl="3" marL="18288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4pPr>
            <a:lvl5pPr indent="-228600" lvl="4" marL="22860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Текст_3">
  <p:cSld name="Текст_3">
    <p:bg>
      <p:bgPr>
        <a:blipFill>
          <a:blip r:embed="rId2">
            <a:alphaModFix/>
          </a:blip>
          <a:stretch>
            <a:fillRect/>
          </a:stretch>
        </a:blipFill>
      </p:bgPr>
    </p:bg>
    <p:spTree>
      <p:nvGrpSpPr>
        <p:cNvPr id="145" name="Shape 145"/>
        <p:cNvGrpSpPr/>
        <p:nvPr/>
      </p:nvGrpSpPr>
      <p:grpSpPr>
        <a:xfrm>
          <a:off x="0" y="0"/>
          <a:ext cx="0" cy="0"/>
          <a:chOff x="0" y="0"/>
          <a:chExt cx="0" cy="0"/>
        </a:xfrm>
      </p:grpSpPr>
      <p:pic>
        <p:nvPicPr>
          <p:cNvPr descr="Icon&#10;&#10;Description automatically generated" id="146" name="Google Shape;146;p12"/>
          <p:cNvPicPr preferRelativeResize="0"/>
          <p:nvPr/>
        </p:nvPicPr>
        <p:blipFill rotWithShape="1">
          <a:blip r:embed="rId3">
            <a:alphaModFix/>
          </a:blip>
          <a:srcRect b="0" l="0" r="0" t="0"/>
          <a:stretch/>
        </p:blipFill>
        <p:spPr>
          <a:xfrm>
            <a:off x="517199" y="464363"/>
            <a:ext cx="448276" cy="448276"/>
          </a:xfrm>
          <a:prstGeom prst="rect">
            <a:avLst/>
          </a:prstGeom>
          <a:noFill/>
          <a:ln>
            <a:noFill/>
          </a:ln>
        </p:spPr>
      </p:pic>
      <p:cxnSp>
        <p:nvCxnSpPr>
          <p:cNvPr id="147" name="Google Shape;147;p12"/>
          <p:cNvCxnSpPr/>
          <p:nvPr/>
        </p:nvCxnSpPr>
        <p:spPr>
          <a:xfrm>
            <a:off x="3298686" y="464363"/>
            <a:ext cx="0" cy="586260"/>
          </a:xfrm>
          <a:prstGeom prst="straightConnector1">
            <a:avLst/>
          </a:prstGeom>
          <a:noFill/>
          <a:ln cap="flat" cmpd="sng" w="12700">
            <a:solidFill>
              <a:srgbClr val="102D69"/>
            </a:solidFill>
            <a:prstDash val="solid"/>
            <a:miter lim="800000"/>
            <a:headEnd len="sm" w="sm" type="none"/>
            <a:tailEnd len="sm" w="sm" type="none"/>
          </a:ln>
        </p:spPr>
      </p:cxnSp>
      <p:cxnSp>
        <p:nvCxnSpPr>
          <p:cNvPr id="148" name="Google Shape;148;p12"/>
          <p:cNvCxnSpPr/>
          <p:nvPr/>
        </p:nvCxnSpPr>
        <p:spPr>
          <a:xfrm>
            <a:off x="6099416" y="464363"/>
            <a:ext cx="0" cy="586260"/>
          </a:xfrm>
          <a:prstGeom prst="straightConnector1">
            <a:avLst/>
          </a:prstGeom>
          <a:noFill/>
          <a:ln cap="flat" cmpd="sng" w="12700">
            <a:solidFill>
              <a:srgbClr val="102D69"/>
            </a:solidFill>
            <a:prstDash val="solid"/>
            <a:miter lim="800000"/>
            <a:headEnd len="sm" w="sm" type="none"/>
            <a:tailEnd len="sm" w="sm" type="none"/>
          </a:ln>
        </p:spPr>
      </p:cxnSp>
      <p:cxnSp>
        <p:nvCxnSpPr>
          <p:cNvPr id="149" name="Google Shape;149;p12"/>
          <p:cNvCxnSpPr/>
          <p:nvPr/>
        </p:nvCxnSpPr>
        <p:spPr>
          <a:xfrm>
            <a:off x="10277081" y="464363"/>
            <a:ext cx="0" cy="586260"/>
          </a:xfrm>
          <a:prstGeom prst="straightConnector1">
            <a:avLst/>
          </a:prstGeom>
          <a:noFill/>
          <a:ln cap="flat" cmpd="sng" w="12700">
            <a:solidFill>
              <a:srgbClr val="102D69"/>
            </a:solidFill>
            <a:prstDash val="solid"/>
            <a:miter lim="800000"/>
            <a:headEnd len="sm" w="sm" type="none"/>
            <a:tailEnd len="sm" w="sm" type="none"/>
          </a:ln>
        </p:spPr>
      </p:cxnSp>
      <p:sp>
        <p:nvSpPr>
          <p:cNvPr id="150" name="Google Shape;150;p12"/>
          <p:cNvSpPr txBox="1"/>
          <p:nvPr/>
        </p:nvSpPr>
        <p:spPr>
          <a:xfrm>
            <a:off x="10410201" y="532278"/>
            <a:ext cx="671977" cy="30777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fld id="{00000000-1234-1234-1234-123412341234}" type="slidenum">
              <a:rPr lang="ru-RU" sz="2000">
                <a:solidFill>
                  <a:srgbClr val="102D69"/>
                </a:solidFill>
                <a:latin typeface="Arial"/>
                <a:ea typeface="Arial"/>
                <a:cs typeface="Arial"/>
                <a:sym typeface="Arial"/>
              </a:rPr>
              <a:t>‹#›</a:t>
            </a:fld>
            <a:endParaRPr sz="2000">
              <a:solidFill>
                <a:srgbClr val="102D69"/>
              </a:solidFill>
              <a:latin typeface="Arial"/>
              <a:ea typeface="Arial"/>
              <a:cs typeface="Arial"/>
              <a:sym typeface="Arial"/>
            </a:endParaRPr>
          </a:p>
        </p:txBody>
      </p:sp>
      <p:cxnSp>
        <p:nvCxnSpPr>
          <p:cNvPr id="151" name="Google Shape;151;p12"/>
          <p:cNvCxnSpPr/>
          <p:nvPr/>
        </p:nvCxnSpPr>
        <p:spPr>
          <a:xfrm>
            <a:off x="11643868" y="464363"/>
            <a:ext cx="0" cy="586260"/>
          </a:xfrm>
          <a:prstGeom prst="straightConnector1">
            <a:avLst/>
          </a:prstGeom>
          <a:noFill/>
          <a:ln cap="flat" cmpd="sng" w="12700">
            <a:solidFill>
              <a:srgbClr val="102D69"/>
            </a:solidFill>
            <a:prstDash val="solid"/>
            <a:miter lim="800000"/>
            <a:headEnd len="sm" w="sm" type="none"/>
            <a:tailEnd len="sm" w="sm" type="none"/>
          </a:ln>
        </p:spPr>
      </p:cxnSp>
      <p:sp>
        <p:nvSpPr>
          <p:cNvPr id="152" name="Google Shape;152;p12"/>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3" name="Google Shape;153;p12"/>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4" name="Google Shape;154;p12"/>
          <p:cNvSpPr txBox="1"/>
          <p:nvPr>
            <p:ph idx="3" type="body"/>
          </p:nvPr>
        </p:nvSpPr>
        <p:spPr>
          <a:xfrm>
            <a:off x="6259892" y="2379663"/>
            <a:ext cx="5383968" cy="3451794"/>
          </a:xfrm>
          <a:prstGeom prst="rect">
            <a:avLst/>
          </a:prstGeom>
          <a:noFill/>
          <a:ln>
            <a:noFill/>
          </a:ln>
        </p:spPr>
        <p:txBody>
          <a:bodyPr anchorCtr="0" anchor="t" bIns="0" lIns="0" spcFirstLastPara="1" rIns="0" wrap="square" tIns="0">
            <a:normAutofit/>
          </a:bodyPr>
          <a:lstStyle>
            <a:lvl1pPr indent="-228600" lvl="0" marL="457200" marR="0" rtl="0" algn="l">
              <a:lnSpc>
                <a:spcPct val="90000"/>
              </a:lnSpc>
              <a:spcBef>
                <a:spcPts val="1000"/>
              </a:spcBef>
              <a:spcAft>
                <a:spcPts val="0"/>
              </a:spcAft>
              <a:buClr>
                <a:srgbClr val="0E2D69"/>
              </a:buClr>
              <a:buSzPts val="3200"/>
              <a:buFont typeface="Arial"/>
              <a:buNone/>
              <a:defRPr b="0" i="0" sz="3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5" name="Google Shape;155;p12"/>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56" name="Google Shape;156;p12"/>
          <p:cNvSpPr txBox="1"/>
          <p:nvPr>
            <p:ph idx="4" type="body"/>
          </p:nvPr>
        </p:nvSpPr>
        <p:spPr>
          <a:xfrm>
            <a:off x="1143689" y="540904"/>
            <a:ext cx="1901825"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7" name="Google Shape;157;p12"/>
          <p:cNvSpPr txBox="1"/>
          <p:nvPr>
            <p:ph idx="5" type="body"/>
          </p:nvPr>
        </p:nvSpPr>
        <p:spPr>
          <a:xfrm>
            <a:off x="3459163" y="548720"/>
            <a:ext cx="2070100" cy="408109"/>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2pPr>
            <a:lvl3pPr indent="-228600" lvl="2" marL="13716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3pPr>
            <a:lvl4pPr indent="-228600" lvl="3" marL="18288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4pPr>
            <a:lvl5pPr indent="-228600" lvl="4" marL="22860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8" name="Google Shape;158;p12"/>
          <p:cNvSpPr txBox="1"/>
          <p:nvPr>
            <p:ph idx="6" type="body"/>
          </p:nvPr>
        </p:nvSpPr>
        <p:spPr>
          <a:xfrm>
            <a:off x="6259892" y="548720"/>
            <a:ext cx="2070100" cy="408109"/>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2pPr>
            <a:lvl3pPr indent="-228600" lvl="2" marL="13716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3pPr>
            <a:lvl4pPr indent="-228600" lvl="3" marL="18288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4pPr>
            <a:lvl5pPr indent="-228600" lvl="4" marL="22860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Цифры">
  <p:cSld name="Цифры">
    <p:bg>
      <p:bgPr>
        <a:blipFill>
          <a:blip r:embed="rId2">
            <a:alphaModFix/>
          </a:blip>
          <a:stretch>
            <a:fillRect/>
          </a:stretch>
        </a:blipFill>
      </p:bgPr>
    </p:bg>
    <p:spTree>
      <p:nvGrpSpPr>
        <p:cNvPr id="159" name="Shape 159"/>
        <p:cNvGrpSpPr/>
        <p:nvPr/>
      </p:nvGrpSpPr>
      <p:grpSpPr>
        <a:xfrm>
          <a:off x="0" y="0"/>
          <a:ext cx="0" cy="0"/>
          <a:chOff x="0" y="0"/>
          <a:chExt cx="0" cy="0"/>
        </a:xfrm>
      </p:grpSpPr>
      <p:pic>
        <p:nvPicPr>
          <p:cNvPr descr="Icon&#10;&#10;Description automatically generated" id="160" name="Google Shape;160;p13"/>
          <p:cNvPicPr preferRelativeResize="0"/>
          <p:nvPr/>
        </p:nvPicPr>
        <p:blipFill rotWithShape="1">
          <a:blip r:embed="rId3">
            <a:alphaModFix/>
          </a:blip>
          <a:srcRect b="0" l="0" r="0" t="0"/>
          <a:stretch/>
        </p:blipFill>
        <p:spPr>
          <a:xfrm>
            <a:off x="517199" y="464363"/>
            <a:ext cx="448276" cy="448276"/>
          </a:xfrm>
          <a:prstGeom prst="rect">
            <a:avLst/>
          </a:prstGeom>
          <a:noFill/>
          <a:ln>
            <a:noFill/>
          </a:ln>
        </p:spPr>
      </p:pic>
      <p:cxnSp>
        <p:nvCxnSpPr>
          <p:cNvPr id="161" name="Google Shape;161;p13"/>
          <p:cNvCxnSpPr/>
          <p:nvPr/>
        </p:nvCxnSpPr>
        <p:spPr>
          <a:xfrm>
            <a:off x="3298686" y="464363"/>
            <a:ext cx="0" cy="586260"/>
          </a:xfrm>
          <a:prstGeom prst="straightConnector1">
            <a:avLst/>
          </a:prstGeom>
          <a:noFill/>
          <a:ln cap="flat" cmpd="sng" w="12700">
            <a:solidFill>
              <a:srgbClr val="102D69"/>
            </a:solidFill>
            <a:prstDash val="solid"/>
            <a:miter lim="800000"/>
            <a:headEnd len="sm" w="sm" type="none"/>
            <a:tailEnd len="sm" w="sm" type="none"/>
          </a:ln>
        </p:spPr>
      </p:cxnSp>
      <p:cxnSp>
        <p:nvCxnSpPr>
          <p:cNvPr id="162" name="Google Shape;162;p13"/>
          <p:cNvCxnSpPr/>
          <p:nvPr/>
        </p:nvCxnSpPr>
        <p:spPr>
          <a:xfrm>
            <a:off x="6099416" y="464363"/>
            <a:ext cx="0" cy="586260"/>
          </a:xfrm>
          <a:prstGeom prst="straightConnector1">
            <a:avLst/>
          </a:prstGeom>
          <a:noFill/>
          <a:ln cap="flat" cmpd="sng" w="12700">
            <a:solidFill>
              <a:srgbClr val="102D69"/>
            </a:solidFill>
            <a:prstDash val="solid"/>
            <a:miter lim="800000"/>
            <a:headEnd len="sm" w="sm" type="none"/>
            <a:tailEnd len="sm" w="sm" type="none"/>
          </a:ln>
        </p:spPr>
      </p:cxnSp>
      <p:cxnSp>
        <p:nvCxnSpPr>
          <p:cNvPr id="163" name="Google Shape;163;p13"/>
          <p:cNvCxnSpPr/>
          <p:nvPr/>
        </p:nvCxnSpPr>
        <p:spPr>
          <a:xfrm>
            <a:off x="10277081" y="464363"/>
            <a:ext cx="0" cy="586260"/>
          </a:xfrm>
          <a:prstGeom prst="straightConnector1">
            <a:avLst/>
          </a:prstGeom>
          <a:noFill/>
          <a:ln cap="flat" cmpd="sng" w="12700">
            <a:solidFill>
              <a:srgbClr val="102D69"/>
            </a:solidFill>
            <a:prstDash val="solid"/>
            <a:miter lim="800000"/>
            <a:headEnd len="sm" w="sm" type="none"/>
            <a:tailEnd len="sm" w="sm" type="none"/>
          </a:ln>
        </p:spPr>
      </p:cxnSp>
      <p:sp>
        <p:nvSpPr>
          <p:cNvPr id="164" name="Google Shape;164;p13"/>
          <p:cNvSpPr txBox="1"/>
          <p:nvPr/>
        </p:nvSpPr>
        <p:spPr>
          <a:xfrm>
            <a:off x="10410201" y="532278"/>
            <a:ext cx="671977" cy="30777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fld id="{00000000-1234-1234-1234-123412341234}" type="slidenum">
              <a:rPr lang="ru-RU" sz="2000">
                <a:solidFill>
                  <a:srgbClr val="102D69"/>
                </a:solidFill>
                <a:latin typeface="Arial"/>
                <a:ea typeface="Arial"/>
                <a:cs typeface="Arial"/>
                <a:sym typeface="Arial"/>
              </a:rPr>
              <a:t>‹#›</a:t>
            </a:fld>
            <a:endParaRPr sz="2000">
              <a:solidFill>
                <a:srgbClr val="102D69"/>
              </a:solidFill>
              <a:latin typeface="Arial"/>
              <a:ea typeface="Arial"/>
              <a:cs typeface="Arial"/>
              <a:sym typeface="Arial"/>
            </a:endParaRPr>
          </a:p>
        </p:txBody>
      </p:sp>
      <p:cxnSp>
        <p:nvCxnSpPr>
          <p:cNvPr id="165" name="Google Shape;165;p13"/>
          <p:cNvCxnSpPr/>
          <p:nvPr/>
        </p:nvCxnSpPr>
        <p:spPr>
          <a:xfrm>
            <a:off x="11643868" y="464363"/>
            <a:ext cx="0" cy="586260"/>
          </a:xfrm>
          <a:prstGeom prst="straightConnector1">
            <a:avLst/>
          </a:prstGeom>
          <a:noFill/>
          <a:ln cap="flat" cmpd="sng" w="12700">
            <a:solidFill>
              <a:srgbClr val="102D69"/>
            </a:solidFill>
            <a:prstDash val="solid"/>
            <a:miter lim="800000"/>
            <a:headEnd len="sm" w="sm" type="none"/>
            <a:tailEnd len="sm" w="sm" type="none"/>
          </a:ln>
        </p:spPr>
      </p:cxnSp>
      <p:sp>
        <p:nvSpPr>
          <p:cNvPr id="166" name="Google Shape;166;p13"/>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67" name="Google Shape;167;p13"/>
          <p:cNvSpPr txBox="1"/>
          <p:nvPr>
            <p:ph idx="1" type="body"/>
          </p:nvPr>
        </p:nvSpPr>
        <p:spPr>
          <a:xfrm>
            <a:off x="575076" y="4103994"/>
            <a:ext cx="2758143"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8" name="Google Shape;168;p13"/>
          <p:cNvSpPr txBox="1"/>
          <p:nvPr>
            <p:ph idx="2" type="body"/>
          </p:nvPr>
        </p:nvSpPr>
        <p:spPr>
          <a:xfrm>
            <a:off x="4047007"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9" name="Google Shape;169;p13"/>
          <p:cNvSpPr txBox="1"/>
          <p:nvPr>
            <p:ph idx="3" type="body"/>
          </p:nvPr>
        </p:nvSpPr>
        <p:spPr>
          <a:xfrm>
            <a:off x="7518938"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0" name="Google Shape;170;p13"/>
          <p:cNvSpPr txBox="1"/>
          <p:nvPr>
            <p:ph idx="4" type="body"/>
          </p:nvPr>
        </p:nvSpPr>
        <p:spPr>
          <a:xfrm>
            <a:off x="575076"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1" name="Google Shape;171;p13"/>
          <p:cNvSpPr txBox="1"/>
          <p:nvPr>
            <p:ph idx="5" type="body"/>
          </p:nvPr>
        </p:nvSpPr>
        <p:spPr>
          <a:xfrm>
            <a:off x="4047007"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2" name="Google Shape;172;p13"/>
          <p:cNvSpPr txBox="1"/>
          <p:nvPr>
            <p:ph idx="6" type="body"/>
          </p:nvPr>
        </p:nvSpPr>
        <p:spPr>
          <a:xfrm>
            <a:off x="7518938"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3" name="Google Shape;173;p13"/>
          <p:cNvSpPr txBox="1"/>
          <p:nvPr>
            <p:ph idx="7" type="body"/>
          </p:nvPr>
        </p:nvSpPr>
        <p:spPr>
          <a:xfrm>
            <a:off x="1143689" y="540904"/>
            <a:ext cx="1901825"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4" name="Google Shape;174;p13"/>
          <p:cNvSpPr txBox="1"/>
          <p:nvPr>
            <p:ph idx="8" type="body"/>
          </p:nvPr>
        </p:nvSpPr>
        <p:spPr>
          <a:xfrm>
            <a:off x="3459163" y="548720"/>
            <a:ext cx="2070100" cy="408109"/>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2pPr>
            <a:lvl3pPr indent="-228600" lvl="2" marL="13716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3pPr>
            <a:lvl4pPr indent="-228600" lvl="3" marL="18288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4pPr>
            <a:lvl5pPr indent="-228600" lvl="4" marL="22860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5" name="Google Shape;175;p13"/>
          <p:cNvSpPr txBox="1"/>
          <p:nvPr>
            <p:ph idx="9" type="body"/>
          </p:nvPr>
        </p:nvSpPr>
        <p:spPr>
          <a:xfrm>
            <a:off x="6259892" y="548720"/>
            <a:ext cx="2070100" cy="408109"/>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2pPr>
            <a:lvl3pPr indent="-228600" lvl="2" marL="13716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3pPr>
            <a:lvl4pPr indent="-228600" lvl="3" marL="18288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4pPr>
            <a:lvl5pPr indent="-228600" lvl="4" marL="2286000" marR="0" rtl="0" algn="l">
              <a:lnSpc>
                <a:spcPct val="90000"/>
              </a:lnSpc>
              <a:spcBef>
                <a:spcPts val="5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www.kaggle.com/datasets/zoya77/aging-risk-assessment-dataset"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0.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image" Target="../media/image25.png"/><Relationship Id="rId5" Type="http://schemas.openxmlformats.org/officeDocument/2006/relationships/image" Target="../media/image23.png"/><Relationship Id="rId6"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3.png"/><Relationship Id="rId4" Type="http://schemas.openxmlformats.org/officeDocument/2006/relationships/image" Target="../media/image21.png"/><Relationship Id="rId5"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2.png"/><Relationship Id="rId4" Type="http://schemas.openxmlformats.org/officeDocument/2006/relationships/image" Target="../media/image27.png"/><Relationship Id="rId5"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14"/>
          <p:cNvSpPr txBox="1"/>
          <p:nvPr>
            <p:ph type="title"/>
          </p:nvPr>
        </p:nvSpPr>
        <p:spPr>
          <a:xfrm>
            <a:off x="1027975" y="2404675"/>
            <a:ext cx="9976500" cy="1978200"/>
          </a:xfrm>
          <a:prstGeom prst="rect">
            <a:avLst/>
          </a:prstGeom>
          <a:noFill/>
          <a:ln>
            <a:noFill/>
          </a:ln>
        </p:spPr>
        <p:txBody>
          <a:bodyPr anchorCtr="0" anchor="t" bIns="0" lIns="0" spcFirstLastPara="1" rIns="0" wrap="square" tIns="0">
            <a:normAutofit/>
          </a:bodyPr>
          <a:lstStyle/>
          <a:p>
            <a:pPr indent="0" lvl="0" marL="0" rtl="0" algn="l">
              <a:lnSpc>
                <a:spcPct val="100000"/>
              </a:lnSpc>
              <a:spcBef>
                <a:spcPts val="0"/>
              </a:spcBef>
              <a:spcAft>
                <a:spcPts val="0"/>
              </a:spcAft>
              <a:buClr>
                <a:srgbClr val="0E2D69"/>
              </a:buClr>
              <a:buSzPts val="4300"/>
              <a:buFont typeface="Arial"/>
              <a:buNone/>
            </a:pPr>
            <a:r>
              <a:rPr lang="ru-RU" sz="4200"/>
              <a:t>Safe aging challenge. Predicting healthy longevity from lifestyle and health data</a:t>
            </a:r>
            <a:endParaRPr sz="4200"/>
          </a:p>
        </p:txBody>
      </p:sp>
      <p:sp>
        <p:nvSpPr>
          <p:cNvPr id="181" name="Google Shape;181;p14"/>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ru-RU">
                <a:solidFill>
                  <a:srgbClr val="0F2C68"/>
                </a:solidFill>
              </a:rPr>
              <a:t>National Research University Higher School of Economics</a:t>
            </a:r>
            <a:endParaRPr>
              <a:solidFill>
                <a:srgbClr val="0F2C68"/>
              </a:solidFill>
            </a:endParaRPr>
          </a:p>
          <a:p>
            <a:pPr indent="0" lvl="0" marL="0" rtl="0" algn="l">
              <a:spcBef>
                <a:spcPts val="0"/>
              </a:spcBef>
              <a:spcAft>
                <a:spcPts val="0"/>
              </a:spcAft>
              <a:buNone/>
            </a:pPr>
            <a:r>
              <a:t/>
            </a:r>
            <a:endParaRPr>
              <a:solidFill>
                <a:srgbClr val="0F2C68"/>
              </a:solidFill>
            </a:endParaRPr>
          </a:p>
          <a:p>
            <a:pPr indent="0" lvl="0" marL="0" rtl="0" algn="l">
              <a:lnSpc>
                <a:spcPct val="100000"/>
              </a:lnSpc>
              <a:spcBef>
                <a:spcPts val="0"/>
              </a:spcBef>
              <a:spcAft>
                <a:spcPts val="0"/>
              </a:spcAft>
              <a:buClr>
                <a:schemeClr val="dk1"/>
              </a:buClr>
              <a:buSzPts val="1600"/>
              <a:buNone/>
            </a:pPr>
            <a:r>
              <a:t/>
            </a:r>
            <a:endParaRPr/>
          </a:p>
        </p:txBody>
      </p:sp>
      <p:sp>
        <p:nvSpPr>
          <p:cNvPr id="182" name="Google Shape;182;p14"/>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E2D69"/>
              </a:buClr>
              <a:buSzPts val="1200"/>
              <a:buFont typeface="Arial"/>
              <a:buNone/>
            </a:pPr>
            <a:r>
              <a:rPr lang="ru-RU"/>
              <a:t>Data analysis and mining</a:t>
            </a:r>
            <a:endParaRPr/>
          </a:p>
        </p:txBody>
      </p:sp>
      <p:sp>
        <p:nvSpPr>
          <p:cNvPr id="183" name="Google Shape;183;p14"/>
          <p:cNvSpPr txBox="1"/>
          <p:nvPr>
            <p:ph idx="3" type="body"/>
          </p:nvPr>
        </p:nvSpPr>
        <p:spPr>
          <a:xfrm>
            <a:off x="8786720" y="1173829"/>
            <a:ext cx="2217738" cy="463186"/>
          </a:xfrm>
          <a:prstGeom prst="rect">
            <a:avLst/>
          </a:prstGeom>
          <a:noFill/>
          <a:ln>
            <a:noFill/>
          </a:ln>
        </p:spPr>
        <p:txBody>
          <a:bodyPr anchorCtr="0" anchor="t" bIns="0" lIns="0" spcFirstLastPara="1" rIns="0" wrap="square" tIns="0">
            <a:normAutofit fontScale="85000" lnSpcReduction="20000"/>
          </a:bodyPr>
          <a:lstStyle/>
          <a:p>
            <a:pPr indent="0" lvl="0" marL="0" rtl="0" algn="l">
              <a:spcBef>
                <a:spcPts val="0"/>
              </a:spcBef>
              <a:spcAft>
                <a:spcPts val="0"/>
              </a:spcAft>
              <a:buNone/>
            </a:pPr>
            <a:r>
              <a:rPr lang="ru-RU" sz="1600">
                <a:solidFill>
                  <a:srgbClr val="0F2C68"/>
                </a:solidFill>
              </a:rPr>
              <a:t>13 December 2025</a:t>
            </a:r>
            <a:endParaRPr sz="1600">
              <a:solidFill>
                <a:srgbClr val="0F2C68"/>
              </a:solidFill>
            </a:endParaRPr>
          </a:p>
          <a:p>
            <a:pPr indent="0" lvl="0" marL="0" rtl="0" algn="l">
              <a:spcBef>
                <a:spcPts val="0"/>
              </a:spcBef>
              <a:spcAft>
                <a:spcPts val="0"/>
              </a:spcAft>
              <a:buNone/>
            </a:pPr>
            <a:r>
              <a:t/>
            </a:r>
            <a:endParaRPr sz="1600">
              <a:solidFill>
                <a:srgbClr val="0F2C68"/>
              </a:solidFill>
            </a:endParaRPr>
          </a:p>
          <a:p>
            <a:pPr indent="0" lvl="0" marL="0" marR="0" rtl="0" algn="l">
              <a:lnSpc>
                <a:spcPct val="100000"/>
              </a:lnSpc>
              <a:spcBef>
                <a:spcPts val="0"/>
              </a:spcBef>
              <a:spcAft>
                <a:spcPts val="0"/>
              </a:spcAft>
              <a:buClr>
                <a:srgbClr val="0E2D69"/>
              </a:buClr>
              <a:buSzPct val="100000"/>
              <a:buFont typeface="Arial"/>
              <a:buNone/>
            </a:pPr>
            <a:r>
              <a:t/>
            </a:r>
            <a:endParaRPr/>
          </a:p>
        </p:txBody>
      </p:sp>
      <p:sp>
        <p:nvSpPr>
          <p:cNvPr id="184" name="Google Shape;184;p14"/>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lnSpcReduction="20000"/>
          </a:bodyPr>
          <a:lstStyle/>
          <a:p>
            <a:pPr indent="0" lvl="0" marL="0" marR="0" rtl="0" algn="l">
              <a:lnSpc>
                <a:spcPct val="100000"/>
              </a:lnSpc>
              <a:spcBef>
                <a:spcPts val="0"/>
              </a:spcBef>
              <a:spcAft>
                <a:spcPts val="0"/>
              </a:spcAft>
              <a:buClr>
                <a:srgbClr val="0E2D69"/>
              </a:buClr>
              <a:buSzPts val="1600"/>
              <a:buFont typeface="Arial"/>
              <a:buNone/>
            </a:pPr>
            <a:r>
              <a:rPr lang="ru-RU"/>
              <a:t>by Sovetkina Ludmila</a:t>
            </a:r>
            <a:endParaRPr/>
          </a:p>
          <a:p>
            <a:pPr indent="0" lvl="0" marL="0" marR="0" rtl="0" algn="l">
              <a:lnSpc>
                <a:spcPct val="100000"/>
              </a:lnSpc>
              <a:spcBef>
                <a:spcPts val="0"/>
              </a:spcBef>
              <a:spcAft>
                <a:spcPts val="0"/>
              </a:spcAft>
              <a:buClr>
                <a:srgbClr val="0E2D69"/>
              </a:buClr>
              <a:buSzPts val="1600"/>
              <a:buFont typeface="Arial"/>
              <a:buNone/>
            </a:pPr>
            <a:r>
              <a:t/>
            </a:r>
            <a:endParaRPr/>
          </a:p>
          <a:p>
            <a:pPr indent="0" lvl="0" marL="0" marR="0" rtl="0" algn="l">
              <a:lnSpc>
                <a:spcPct val="100000"/>
              </a:lnSpc>
              <a:spcBef>
                <a:spcPts val="0"/>
              </a:spcBef>
              <a:spcAft>
                <a:spcPts val="0"/>
              </a:spcAft>
              <a:buClr>
                <a:srgbClr val="0E2D69"/>
              </a:buClr>
              <a:buSzPts val="1600"/>
              <a:buFont typeface="Arial"/>
              <a:buNone/>
            </a:pPr>
            <a:r>
              <a:rPr lang="ru-RU"/>
              <a:t>Challenge: </a:t>
            </a:r>
            <a:r>
              <a:rPr lang="ru-RU" u="sng">
                <a:solidFill>
                  <a:schemeClr val="hlink"/>
                </a:solidFill>
                <a:hlinkClick r:id="rId3"/>
              </a:rPr>
              <a:t>https://www.kaggle.com/datasets/zoya77/aging-risk-assessment-dataset</a:t>
            </a:r>
            <a:r>
              <a:rPr lang="ru-RU"/>
              <a:t>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15"/>
          <p:cNvSpPr txBox="1"/>
          <p:nvPr>
            <p:ph type="title"/>
          </p:nvPr>
        </p:nvSpPr>
        <p:spPr>
          <a:xfrm>
            <a:off x="1470673" y="1410365"/>
            <a:ext cx="5245500" cy="777000"/>
          </a:xfrm>
          <a:prstGeom prst="rect">
            <a:avLst/>
          </a:prstGeom>
          <a:noFill/>
          <a:ln>
            <a:noFill/>
          </a:ln>
        </p:spPr>
        <p:txBody>
          <a:bodyPr anchorCtr="0" anchor="t" bIns="0" lIns="0" spcFirstLastPara="1" rIns="0" wrap="square" tIns="0">
            <a:normAutofit/>
          </a:bodyPr>
          <a:lstStyle/>
          <a:p>
            <a:pPr indent="0" lvl="0" marL="0" rtl="0" algn="l">
              <a:lnSpc>
                <a:spcPct val="100000"/>
              </a:lnSpc>
              <a:spcBef>
                <a:spcPts val="0"/>
              </a:spcBef>
              <a:spcAft>
                <a:spcPts val="0"/>
              </a:spcAft>
              <a:buClr>
                <a:schemeClr val="dk1"/>
              </a:buClr>
              <a:buSzPts val="2400"/>
              <a:buFont typeface="Arial"/>
              <a:buNone/>
            </a:pPr>
            <a:r>
              <a:rPr b="1" lang="ru-RU" sz="2900"/>
              <a:t>Research objective</a:t>
            </a:r>
            <a:endParaRPr b="1" sz="2900"/>
          </a:p>
        </p:txBody>
      </p:sp>
      <p:sp>
        <p:nvSpPr>
          <p:cNvPr id="190" name="Google Shape;190;p15"/>
          <p:cNvSpPr txBox="1"/>
          <p:nvPr>
            <p:ph idx="3" type="body"/>
          </p:nvPr>
        </p:nvSpPr>
        <p:spPr>
          <a:xfrm>
            <a:off x="1143689" y="540904"/>
            <a:ext cx="1901700" cy="415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ru-RU" sz="1100">
                <a:solidFill>
                  <a:srgbClr val="0F2C68"/>
                </a:solidFill>
              </a:rPr>
              <a:t>National Research University Higher School of Economics</a:t>
            </a:r>
            <a:endParaRPr sz="1100">
              <a:solidFill>
                <a:srgbClr val="0F2C68"/>
              </a:solidFill>
            </a:endParaRPr>
          </a:p>
          <a:p>
            <a:pPr indent="0" lvl="0" marL="0" rtl="0" algn="l">
              <a:spcBef>
                <a:spcPts val="0"/>
              </a:spcBef>
              <a:spcAft>
                <a:spcPts val="0"/>
              </a:spcAft>
              <a:buNone/>
            </a:pPr>
            <a:r>
              <a:t/>
            </a:r>
            <a:endParaRPr sz="1100">
              <a:solidFill>
                <a:srgbClr val="0F2C68"/>
              </a:solidFill>
            </a:endParaRPr>
          </a:p>
          <a:p>
            <a:pPr indent="0" lvl="0" marL="0" rtl="0" algn="l">
              <a:spcBef>
                <a:spcPts val="0"/>
              </a:spcBef>
              <a:spcAft>
                <a:spcPts val="0"/>
              </a:spcAft>
              <a:buClr>
                <a:schemeClr val="dk1"/>
              </a:buClr>
              <a:buSzPts val="1600"/>
              <a:buFont typeface="Arial"/>
              <a:buNone/>
            </a:pPr>
            <a:r>
              <a:t/>
            </a:r>
            <a:endParaRPr sz="1100">
              <a:solidFill>
                <a:srgbClr val="000000"/>
              </a:solidFill>
            </a:endParaRPr>
          </a:p>
          <a:p>
            <a:pPr indent="0" lvl="0" marL="0" marR="0" rtl="0" algn="l">
              <a:lnSpc>
                <a:spcPct val="100000"/>
              </a:lnSpc>
              <a:spcBef>
                <a:spcPts val="0"/>
              </a:spcBef>
              <a:spcAft>
                <a:spcPts val="0"/>
              </a:spcAft>
              <a:buClr>
                <a:schemeClr val="dk1"/>
              </a:buClr>
              <a:buSzPts val="1000"/>
              <a:buFont typeface="Arial"/>
              <a:buNone/>
            </a:pPr>
            <a:r>
              <a:t/>
            </a:r>
            <a:endParaRPr sz="700"/>
          </a:p>
        </p:txBody>
      </p:sp>
      <p:sp>
        <p:nvSpPr>
          <p:cNvPr id="191" name="Google Shape;191;p15"/>
          <p:cNvSpPr txBox="1"/>
          <p:nvPr>
            <p:ph idx="4" type="body"/>
          </p:nvPr>
        </p:nvSpPr>
        <p:spPr>
          <a:xfrm>
            <a:off x="3459163" y="548720"/>
            <a:ext cx="2070000" cy="408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E2D69"/>
              </a:buClr>
              <a:buSzPts val="1200"/>
              <a:buFont typeface="Arial"/>
              <a:buNone/>
            </a:pPr>
            <a:r>
              <a:rPr lang="ru-RU" sz="1100"/>
              <a:t>Data analysis and mining</a:t>
            </a:r>
            <a:endParaRPr sz="1100"/>
          </a:p>
          <a:p>
            <a:pPr indent="0" lvl="0" marL="0" rtl="0" algn="l">
              <a:spcBef>
                <a:spcPts val="0"/>
              </a:spcBef>
              <a:spcAft>
                <a:spcPts val="0"/>
              </a:spcAft>
              <a:buClr>
                <a:srgbClr val="0E2D69"/>
              </a:buClr>
              <a:buSzPts val="1200"/>
              <a:buFont typeface="Arial"/>
              <a:buNone/>
            </a:pPr>
            <a:r>
              <a:t/>
            </a:r>
            <a:endParaRPr sz="1100"/>
          </a:p>
          <a:p>
            <a:pPr indent="0" lvl="0" marL="0" rtl="0" algn="l">
              <a:lnSpc>
                <a:spcPct val="100000"/>
              </a:lnSpc>
              <a:spcBef>
                <a:spcPts val="0"/>
              </a:spcBef>
              <a:spcAft>
                <a:spcPts val="0"/>
              </a:spcAft>
              <a:buClr>
                <a:srgbClr val="0E2D69"/>
              </a:buClr>
              <a:buSzPts val="1000"/>
              <a:buNone/>
            </a:pPr>
            <a:r>
              <a:t/>
            </a:r>
            <a:endParaRPr sz="1100"/>
          </a:p>
        </p:txBody>
      </p:sp>
      <p:sp>
        <p:nvSpPr>
          <p:cNvPr id="192" name="Google Shape;192;p15"/>
          <p:cNvSpPr txBox="1"/>
          <p:nvPr>
            <p:ph idx="4" type="body"/>
          </p:nvPr>
        </p:nvSpPr>
        <p:spPr>
          <a:xfrm>
            <a:off x="6174850" y="612901"/>
            <a:ext cx="2217600" cy="367500"/>
          </a:xfrm>
          <a:prstGeom prst="rect">
            <a:avLst/>
          </a:prstGeom>
          <a:noFill/>
          <a:ln>
            <a:noFill/>
          </a:ln>
        </p:spPr>
        <p:txBody>
          <a:bodyPr anchorCtr="0" anchor="t" bIns="0" lIns="0" spcFirstLastPara="1" rIns="0" wrap="square" tIns="0">
            <a:normAutofit/>
          </a:bodyPr>
          <a:lstStyle/>
          <a:p>
            <a:pPr indent="0" lvl="0" marL="0" rtl="0" algn="l">
              <a:lnSpc>
                <a:spcPct val="70000"/>
              </a:lnSpc>
              <a:spcBef>
                <a:spcPts val="0"/>
              </a:spcBef>
              <a:spcAft>
                <a:spcPts val="0"/>
              </a:spcAft>
              <a:buSzPts val="935"/>
              <a:buNone/>
            </a:pPr>
            <a:r>
              <a:rPr lang="ru-RU" sz="1160">
                <a:solidFill>
                  <a:srgbClr val="0F2C68"/>
                </a:solidFill>
              </a:rPr>
              <a:t>13 December 2025</a:t>
            </a:r>
            <a:endParaRPr sz="1160">
              <a:solidFill>
                <a:srgbClr val="0F2C68"/>
              </a:solidFill>
            </a:endParaRPr>
          </a:p>
          <a:p>
            <a:pPr indent="0" lvl="0" marL="0" rtl="0" algn="l">
              <a:lnSpc>
                <a:spcPct val="70000"/>
              </a:lnSpc>
              <a:spcBef>
                <a:spcPts val="0"/>
              </a:spcBef>
              <a:spcAft>
                <a:spcPts val="0"/>
              </a:spcAft>
              <a:buSzPts val="935"/>
              <a:buNone/>
            </a:pPr>
            <a:r>
              <a:t/>
            </a:r>
            <a:endParaRPr sz="1160">
              <a:solidFill>
                <a:srgbClr val="0F2C68"/>
              </a:solidFill>
            </a:endParaRPr>
          </a:p>
          <a:p>
            <a:pPr indent="0" lvl="0" marL="0" marR="0" rtl="0" algn="l">
              <a:lnSpc>
                <a:spcPct val="70000"/>
              </a:lnSpc>
              <a:spcBef>
                <a:spcPts val="0"/>
              </a:spcBef>
              <a:spcAft>
                <a:spcPts val="0"/>
              </a:spcAft>
              <a:buClr>
                <a:srgbClr val="0E2D69"/>
              </a:buClr>
              <a:buSzPts val="1020"/>
              <a:buFont typeface="Arial"/>
              <a:buNone/>
            </a:pPr>
            <a:r>
              <a:t/>
            </a:r>
            <a:endParaRPr sz="650"/>
          </a:p>
        </p:txBody>
      </p:sp>
      <p:sp>
        <p:nvSpPr>
          <p:cNvPr id="193" name="Google Shape;193;p15"/>
          <p:cNvSpPr txBox="1"/>
          <p:nvPr>
            <p:ph idx="1" type="body"/>
          </p:nvPr>
        </p:nvSpPr>
        <p:spPr>
          <a:xfrm>
            <a:off x="585903" y="2003651"/>
            <a:ext cx="11055300" cy="3769200"/>
          </a:xfrm>
          <a:prstGeom prst="rect">
            <a:avLst/>
          </a:prstGeom>
        </p:spPr>
        <p:txBody>
          <a:bodyPr anchorCtr="0" anchor="t" bIns="45700" lIns="0" spcFirstLastPara="1" rIns="0" wrap="square" tIns="0">
            <a:noAutofit/>
          </a:bodyPr>
          <a:lstStyle/>
          <a:p>
            <a:pPr indent="0" lvl="0" marL="0" rtl="0" algn="l">
              <a:spcBef>
                <a:spcPts val="1000"/>
              </a:spcBef>
              <a:spcAft>
                <a:spcPts val="0"/>
              </a:spcAft>
              <a:buNone/>
            </a:pPr>
            <a:r>
              <a:rPr lang="ru-RU" sz="2500">
                <a:solidFill>
                  <a:srgbClr val="000000"/>
                </a:solidFill>
              </a:rPr>
              <a:t>The goal of the study is to analyse the </a:t>
            </a:r>
            <a:r>
              <a:rPr b="1" lang="ru-RU" sz="2500">
                <a:solidFill>
                  <a:srgbClr val="000000"/>
                </a:solidFill>
              </a:rPr>
              <a:t>most probable causes </a:t>
            </a:r>
            <a:r>
              <a:rPr lang="ru-RU" sz="2500">
                <a:solidFill>
                  <a:srgbClr val="000000"/>
                </a:solidFill>
              </a:rPr>
              <a:t>and </a:t>
            </a:r>
            <a:r>
              <a:rPr b="1" lang="ru-RU" sz="2500">
                <a:solidFill>
                  <a:srgbClr val="000000"/>
                </a:solidFill>
              </a:rPr>
              <a:t>metrics</a:t>
            </a:r>
            <a:r>
              <a:rPr b="1" lang="ru-RU" sz="2500">
                <a:solidFill>
                  <a:srgbClr val="000000"/>
                </a:solidFill>
              </a:rPr>
              <a:t> </a:t>
            </a:r>
            <a:r>
              <a:rPr lang="ru-RU" sz="2500">
                <a:solidFill>
                  <a:srgbClr val="000000"/>
                </a:solidFill>
              </a:rPr>
              <a:t>of </a:t>
            </a:r>
            <a:r>
              <a:rPr b="1" lang="ru-RU" sz="2500">
                <a:solidFill>
                  <a:srgbClr val="000000"/>
                </a:solidFill>
              </a:rPr>
              <a:t>aging outcomes</a:t>
            </a:r>
            <a:r>
              <a:rPr lang="ru-RU" sz="2500">
                <a:solidFill>
                  <a:srgbClr val="000000"/>
                </a:solidFill>
              </a:rPr>
              <a:t>. Additionally we have provided a classification model for reliable prediction of outcomes. In this study we are going to:</a:t>
            </a:r>
            <a:endParaRPr sz="2500">
              <a:solidFill>
                <a:srgbClr val="000000"/>
              </a:solidFill>
            </a:endParaRPr>
          </a:p>
          <a:p>
            <a:pPr indent="-387350" lvl="0" marL="457200" rtl="0" algn="l">
              <a:spcBef>
                <a:spcPts val="1000"/>
              </a:spcBef>
              <a:spcAft>
                <a:spcPts val="0"/>
              </a:spcAft>
              <a:buClr>
                <a:srgbClr val="000000"/>
              </a:buClr>
              <a:buSzPts val="2500"/>
              <a:buChar char="-"/>
            </a:pPr>
            <a:r>
              <a:rPr lang="ru-RU" sz="2500">
                <a:solidFill>
                  <a:srgbClr val="000000"/>
                </a:solidFill>
              </a:rPr>
              <a:t>analyze </a:t>
            </a:r>
            <a:r>
              <a:rPr b="1" lang="ru-RU" sz="2500">
                <a:solidFill>
                  <a:srgbClr val="000000"/>
                </a:solidFill>
              </a:rPr>
              <a:t>most reliable metrics</a:t>
            </a:r>
            <a:r>
              <a:rPr lang="ru-RU" sz="2500">
                <a:solidFill>
                  <a:srgbClr val="000000"/>
                </a:solidFill>
              </a:rPr>
              <a:t> to predict undesirable outcome of aging;</a:t>
            </a:r>
            <a:endParaRPr sz="2500">
              <a:solidFill>
                <a:srgbClr val="000000"/>
              </a:solidFill>
            </a:endParaRPr>
          </a:p>
          <a:p>
            <a:pPr indent="-387350" lvl="0" marL="457200" rtl="0" algn="l">
              <a:spcBef>
                <a:spcPts val="0"/>
              </a:spcBef>
              <a:spcAft>
                <a:spcPts val="0"/>
              </a:spcAft>
              <a:buClr>
                <a:srgbClr val="000000"/>
              </a:buClr>
              <a:buSzPts val="2500"/>
              <a:buChar char="-"/>
            </a:pPr>
            <a:r>
              <a:rPr lang="ru-RU" sz="2500">
                <a:solidFill>
                  <a:srgbClr val="000000"/>
                </a:solidFill>
              </a:rPr>
              <a:t>analyse </a:t>
            </a:r>
            <a:r>
              <a:rPr b="1" lang="ru-RU" sz="2500">
                <a:solidFill>
                  <a:srgbClr val="000000"/>
                </a:solidFill>
              </a:rPr>
              <a:t>most definite causes </a:t>
            </a:r>
            <a:r>
              <a:rPr lang="ru-RU" sz="2500">
                <a:solidFill>
                  <a:srgbClr val="000000"/>
                </a:solidFill>
              </a:rPr>
              <a:t>of undesirable outcomes of aging;</a:t>
            </a:r>
            <a:endParaRPr sz="2500">
              <a:solidFill>
                <a:srgbClr val="000000"/>
              </a:solidFill>
            </a:endParaRPr>
          </a:p>
          <a:p>
            <a:pPr indent="-387350" lvl="0" marL="457200" rtl="0" algn="l">
              <a:spcBef>
                <a:spcPts val="0"/>
              </a:spcBef>
              <a:spcAft>
                <a:spcPts val="0"/>
              </a:spcAft>
              <a:buClr>
                <a:srgbClr val="000000"/>
              </a:buClr>
              <a:buSzPts val="2500"/>
              <a:buChar char="-"/>
            </a:pPr>
            <a:r>
              <a:rPr lang="ru-RU" sz="2500">
                <a:solidFill>
                  <a:srgbClr val="000000"/>
                </a:solidFill>
              </a:rPr>
              <a:t>make a </a:t>
            </a:r>
            <a:r>
              <a:rPr b="1" lang="ru-RU" sz="2500">
                <a:solidFill>
                  <a:srgbClr val="000000"/>
                </a:solidFill>
              </a:rPr>
              <a:t>classification model </a:t>
            </a:r>
            <a:r>
              <a:rPr lang="ru-RU" sz="2500">
                <a:solidFill>
                  <a:srgbClr val="000000"/>
                </a:solidFill>
              </a:rPr>
              <a:t>to predict undesirable outcomes.</a:t>
            </a:r>
            <a:endParaRPr sz="250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16"/>
          <p:cNvSpPr txBox="1"/>
          <p:nvPr>
            <p:ph type="title"/>
          </p:nvPr>
        </p:nvSpPr>
        <p:spPr>
          <a:xfrm>
            <a:off x="1397398" y="1263815"/>
            <a:ext cx="5245500" cy="777000"/>
          </a:xfrm>
          <a:prstGeom prst="rect">
            <a:avLst/>
          </a:prstGeom>
          <a:noFill/>
          <a:ln>
            <a:noFill/>
          </a:ln>
        </p:spPr>
        <p:txBody>
          <a:bodyPr anchorCtr="0" anchor="t" bIns="0" lIns="0" spcFirstLastPara="1" rIns="0" wrap="square" tIns="0">
            <a:normAutofit/>
          </a:bodyPr>
          <a:lstStyle/>
          <a:p>
            <a:pPr indent="0" lvl="0" marL="0" rtl="0" algn="l">
              <a:lnSpc>
                <a:spcPct val="100000"/>
              </a:lnSpc>
              <a:spcBef>
                <a:spcPts val="0"/>
              </a:spcBef>
              <a:spcAft>
                <a:spcPts val="0"/>
              </a:spcAft>
              <a:buClr>
                <a:schemeClr val="dk1"/>
              </a:buClr>
              <a:buSzPts val="2400"/>
              <a:buFont typeface="Arial"/>
              <a:buNone/>
            </a:pPr>
            <a:r>
              <a:rPr b="1" lang="ru-RU" sz="2900"/>
              <a:t>About the dataset</a:t>
            </a:r>
            <a:endParaRPr b="1" sz="2900"/>
          </a:p>
        </p:txBody>
      </p:sp>
      <p:sp>
        <p:nvSpPr>
          <p:cNvPr id="199" name="Google Shape;199;p16"/>
          <p:cNvSpPr txBox="1"/>
          <p:nvPr>
            <p:ph idx="3" type="body"/>
          </p:nvPr>
        </p:nvSpPr>
        <p:spPr>
          <a:xfrm>
            <a:off x="1143689" y="540904"/>
            <a:ext cx="1901700" cy="415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ru-RU" sz="1100">
                <a:solidFill>
                  <a:srgbClr val="0F2C68"/>
                </a:solidFill>
              </a:rPr>
              <a:t>National Research University Higher School of Economics</a:t>
            </a:r>
            <a:endParaRPr sz="1100">
              <a:solidFill>
                <a:srgbClr val="0F2C68"/>
              </a:solidFill>
            </a:endParaRPr>
          </a:p>
          <a:p>
            <a:pPr indent="0" lvl="0" marL="0" rtl="0" algn="l">
              <a:spcBef>
                <a:spcPts val="0"/>
              </a:spcBef>
              <a:spcAft>
                <a:spcPts val="0"/>
              </a:spcAft>
              <a:buNone/>
            </a:pPr>
            <a:r>
              <a:t/>
            </a:r>
            <a:endParaRPr sz="1100">
              <a:solidFill>
                <a:srgbClr val="0F2C68"/>
              </a:solidFill>
            </a:endParaRPr>
          </a:p>
          <a:p>
            <a:pPr indent="0" lvl="0" marL="0" rtl="0" algn="l">
              <a:spcBef>
                <a:spcPts val="0"/>
              </a:spcBef>
              <a:spcAft>
                <a:spcPts val="0"/>
              </a:spcAft>
              <a:buClr>
                <a:schemeClr val="dk1"/>
              </a:buClr>
              <a:buSzPts val="1600"/>
              <a:buFont typeface="Arial"/>
              <a:buNone/>
            </a:pPr>
            <a:r>
              <a:t/>
            </a:r>
            <a:endParaRPr sz="1100">
              <a:solidFill>
                <a:srgbClr val="000000"/>
              </a:solidFill>
            </a:endParaRPr>
          </a:p>
          <a:p>
            <a:pPr indent="0" lvl="0" marL="0" marR="0" rtl="0" algn="l">
              <a:lnSpc>
                <a:spcPct val="100000"/>
              </a:lnSpc>
              <a:spcBef>
                <a:spcPts val="0"/>
              </a:spcBef>
              <a:spcAft>
                <a:spcPts val="0"/>
              </a:spcAft>
              <a:buClr>
                <a:schemeClr val="dk1"/>
              </a:buClr>
              <a:buSzPts val="1000"/>
              <a:buFont typeface="Arial"/>
              <a:buNone/>
            </a:pPr>
            <a:r>
              <a:t/>
            </a:r>
            <a:endParaRPr sz="700"/>
          </a:p>
        </p:txBody>
      </p:sp>
      <p:sp>
        <p:nvSpPr>
          <p:cNvPr id="200" name="Google Shape;200;p16"/>
          <p:cNvSpPr txBox="1"/>
          <p:nvPr>
            <p:ph idx="4" type="body"/>
          </p:nvPr>
        </p:nvSpPr>
        <p:spPr>
          <a:xfrm>
            <a:off x="3459163" y="548720"/>
            <a:ext cx="2070000" cy="408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E2D69"/>
              </a:buClr>
              <a:buSzPts val="1200"/>
              <a:buFont typeface="Arial"/>
              <a:buNone/>
            </a:pPr>
            <a:r>
              <a:rPr lang="ru-RU" sz="1100"/>
              <a:t>Data analysis and mining</a:t>
            </a:r>
            <a:endParaRPr sz="1100"/>
          </a:p>
          <a:p>
            <a:pPr indent="0" lvl="0" marL="0" rtl="0" algn="l">
              <a:spcBef>
                <a:spcPts val="0"/>
              </a:spcBef>
              <a:spcAft>
                <a:spcPts val="0"/>
              </a:spcAft>
              <a:buClr>
                <a:srgbClr val="0E2D69"/>
              </a:buClr>
              <a:buSzPts val="1200"/>
              <a:buFont typeface="Arial"/>
              <a:buNone/>
            </a:pPr>
            <a:r>
              <a:t/>
            </a:r>
            <a:endParaRPr sz="1100"/>
          </a:p>
          <a:p>
            <a:pPr indent="0" lvl="0" marL="0" rtl="0" algn="l">
              <a:lnSpc>
                <a:spcPct val="100000"/>
              </a:lnSpc>
              <a:spcBef>
                <a:spcPts val="0"/>
              </a:spcBef>
              <a:spcAft>
                <a:spcPts val="0"/>
              </a:spcAft>
              <a:buClr>
                <a:srgbClr val="0E2D69"/>
              </a:buClr>
              <a:buSzPts val="1000"/>
              <a:buNone/>
            </a:pPr>
            <a:r>
              <a:t/>
            </a:r>
            <a:endParaRPr sz="1100"/>
          </a:p>
        </p:txBody>
      </p:sp>
      <p:sp>
        <p:nvSpPr>
          <p:cNvPr id="201" name="Google Shape;201;p16"/>
          <p:cNvSpPr txBox="1"/>
          <p:nvPr>
            <p:ph idx="4" type="body"/>
          </p:nvPr>
        </p:nvSpPr>
        <p:spPr>
          <a:xfrm>
            <a:off x="6174850" y="612901"/>
            <a:ext cx="2217600" cy="367500"/>
          </a:xfrm>
          <a:prstGeom prst="rect">
            <a:avLst/>
          </a:prstGeom>
          <a:noFill/>
          <a:ln>
            <a:noFill/>
          </a:ln>
        </p:spPr>
        <p:txBody>
          <a:bodyPr anchorCtr="0" anchor="t" bIns="0" lIns="0" spcFirstLastPara="1" rIns="0" wrap="square" tIns="0">
            <a:normAutofit/>
          </a:bodyPr>
          <a:lstStyle/>
          <a:p>
            <a:pPr indent="0" lvl="0" marL="0" rtl="0" algn="l">
              <a:lnSpc>
                <a:spcPct val="70000"/>
              </a:lnSpc>
              <a:spcBef>
                <a:spcPts val="0"/>
              </a:spcBef>
              <a:spcAft>
                <a:spcPts val="0"/>
              </a:spcAft>
              <a:buSzPts val="935"/>
              <a:buNone/>
            </a:pPr>
            <a:r>
              <a:rPr lang="ru-RU" sz="1160">
                <a:solidFill>
                  <a:srgbClr val="0F2C68"/>
                </a:solidFill>
              </a:rPr>
              <a:t>13 December 2025</a:t>
            </a:r>
            <a:endParaRPr sz="1160">
              <a:solidFill>
                <a:srgbClr val="0F2C68"/>
              </a:solidFill>
            </a:endParaRPr>
          </a:p>
          <a:p>
            <a:pPr indent="0" lvl="0" marL="0" rtl="0" algn="l">
              <a:lnSpc>
                <a:spcPct val="70000"/>
              </a:lnSpc>
              <a:spcBef>
                <a:spcPts val="0"/>
              </a:spcBef>
              <a:spcAft>
                <a:spcPts val="0"/>
              </a:spcAft>
              <a:buSzPts val="935"/>
              <a:buNone/>
            </a:pPr>
            <a:r>
              <a:t/>
            </a:r>
            <a:endParaRPr sz="1160">
              <a:solidFill>
                <a:srgbClr val="0F2C68"/>
              </a:solidFill>
            </a:endParaRPr>
          </a:p>
          <a:p>
            <a:pPr indent="0" lvl="0" marL="0" marR="0" rtl="0" algn="l">
              <a:lnSpc>
                <a:spcPct val="70000"/>
              </a:lnSpc>
              <a:spcBef>
                <a:spcPts val="0"/>
              </a:spcBef>
              <a:spcAft>
                <a:spcPts val="0"/>
              </a:spcAft>
              <a:buClr>
                <a:srgbClr val="0E2D69"/>
              </a:buClr>
              <a:buSzPts val="1020"/>
              <a:buFont typeface="Arial"/>
              <a:buNone/>
            </a:pPr>
            <a:r>
              <a:t/>
            </a:r>
            <a:endParaRPr sz="650"/>
          </a:p>
        </p:txBody>
      </p:sp>
      <p:pic>
        <p:nvPicPr>
          <p:cNvPr id="202" name="Google Shape;202;p16"/>
          <p:cNvPicPr preferRelativeResize="0"/>
          <p:nvPr/>
        </p:nvPicPr>
        <p:blipFill>
          <a:blip r:embed="rId3">
            <a:alphaModFix/>
          </a:blip>
          <a:stretch>
            <a:fillRect/>
          </a:stretch>
        </p:blipFill>
        <p:spPr>
          <a:xfrm>
            <a:off x="445600" y="1854604"/>
            <a:ext cx="5083574" cy="4557921"/>
          </a:xfrm>
          <a:prstGeom prst="rect">
            <a:avLst/>
          </a:prstGeom>
          <a:noFill/>
          <a:ln>
            <a:noFill/>
          </a:ln>
        </p:spPr>
      </p:pic>
      <p:sp>
        <p:nvSpPr>
          <p:cNvPr id="203" name="Google Shape;203;p16"/>
          <p:cNvSpPr txBox="1"/>
          <p:nvPr>
            <p:ph idx="1" type="body"/>
          </p:nvPr>
        </p:nvSpPr>
        <p:spPr>
          <a:xfrm>
            <a:off x="5235975" y="1614800"/>
            <a:ext cx="6492600" cy="4659000"/>
          </a:xfrm>
          <a:prstGeom prst="rect">
            <a:avLst/>
          </a:prstGeom>
        </p:spPr>
        <p:txBody>
          <a:bodyPr anchorCtr="0" anchor="ctr" bIns="45700" lIns="0" spcFirstLastPara="1" rIns="0" wrap="square" tIns="0">
            <a:noAutofit/>
          </a:bodyPr>
          <a:lstStyle/>
          <a:p>
            <a:pPr indent="0" lvl="0" marL="0" rtl="0" algn="r">
              <a:spcBef>
                <a:spcPts val="1000"/>
              </a:spcBef>
              <a:spcAft>
                <a:spcPts val="0"/>
              </a:spcAft>
              <a:buNone/>
            </a:pPr>
            <a:r>
              <a:rPr i="1" lang="ru-RU" sz="2000">
                <a:solidFill>
                  <a:schemeClr val="dk1"/>
                </a:solidFill>
              </a:rPr>
              <a:t>This dataset contains 3456 records and is intended for machine learning tasks, particularly classification and regression. It includes synthetic data on aging prediction, where the outcome variable is derived from several features related to an individual's health and lifestyle. The dataset aims to assist in understanding aging patterns and predicting the likelihood of an individual falling into one of the three aging categories: Healthy, At-risk, or Frail. It provides valuable insights into age-related health outcomes based on demographic and lifestyle factors</a:t>
            </a:r>
            <a:endParaRPr i="1" sz="20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17"/>
          <p:cNvSpPr txBox="1"/>
          <p:nvPr>
            <p:ph idx="3" type="body"/>
          </p:nvPr>
        </p:nvSpPr>
        <p:spPr>
          <a:xfrm>
            <a:off x="1143689" y="540904"/>
            <a:ext cx="1901825" cy="415925"/>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ru-RU" sz="1100">
                <a:solidFill>
                  <a:srgbClr val="0F2C68"/>
                </a:solidFill>
              </a:rPr>
              <a:t>National Research University Higher School of Economics</a:t>
            </a:r>
            <a:endParaRPr sz="1100">
              <a:solidFill>
                <a:srgbClr val="0F2C68"/>
              </a:solidFill>
            </a:endParaRPr>
          </a:p>
          <a:p>
            <a:pPr indent="0" lvl="0" marL="0" rtl="0" algn="l">
              <a:spcBef>
                <a:spcPts val="0"/>
              </a:spcBef>
              <a:spcAft>
                <a:spcPts val="0"/>
              </a:spcAft>
              <a:buNone/>
            </a:pPr>
            <a:r>
              <a:t/>
            </a:r>
            <a:endParaRPr sz="1100">
              <a:solidFill>
                <a:srgbClr val="0F2C68"/>
              </a:solidFill>
            </a:endParaRPr>
          </a:p>
          <a:p>
            <a:pPr indent="0" lvl="0" marL="0" rtl="0" algn="l">
              <a:spcBef>
                <a:spcPts val="0"/>
              </a:spcBef>
              <a:spcAft>
                <a:spcPts val="0"/>
              </a:spcAft>
              <a:buClr>
                <a:schemeClr val="dk1"/>
              </a:buClr>
              <a:buSzPts val="1600"/>
              <a:buFont typeface="Arial"/>
              <a:buNone/>
            </a:pPr>
            <a:r>
              <a:t/>
            </a:r>
            <a:endParaRPr sz="1100">
              <a:solidFill>
                <a:srgbClr val="000000"/>
              </a:solidFill>
            </a:endParaRPr>
          </a:p>
          <a:p>
            <a:pPr indent="0" lvl="0" marL="0" marR="0" rtl="0" algn="l">
              <a:lnSpc>
                <a:spcPct val="100000"/>
              </a:lnSpc>
              <a:spcBef>
                <a:spcPts val="0"/>
              </a:spcBef>
              <a:spcAft>
                <a:spcPts val="0"/>
              </a:spcAft>
              <a:buClr>
                <a:schemeClr val="dk1"/>
              </a:buClr>
              <a:buSzPts val="1000"/>
              <a:buFont typeface="Arial"/>
              <a:buNone/>
            </a:pPr>
            <a:r>
              <a:t/>
            </a:r>
            <a:endParaRPr sz="700"/>
          </a:p>
        </p:txBody>
      </p:sp>
      <p:sp>
        <p:nvSpPr>
          <p:cNvPr id="209" name="Google Shape;209;p17"/>
          <p:cNvSpPr txBox="1"/>
          <p:nvPr>
            <p:ph idx="4" type="body"/>
          </p:nvPr>
        </p:nvSpPr>
        <p:spPr>
          <a:xfrm>
            <a:off x="3459163" y="548720"/>
            <a:ext cx="2070100" cy="408109"/>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E2D69"/>
              </a:buClr>
              <a:buSzPts val="1200"/>
              <a:buFont typeface="Arial"/>
              <a:buNone/>
            </a:pPr>
            <a:r>
              <a:rPr lang="ru-RU" sz="1100"/>
              <a:t>Data analysis and mining</a:t>
            </a:r>
            <a:endParaRPr sz="1100"/>
          </a:p>
          <a:p>
            <a:pPr indent="0" lvl="0" marL="0" rtl="0" algn="l">
              <a:spcBef>
                <a:spcPts val="0"/>
              </a:spcBef>
              <a:spcAft>
                <a:spcPts val="0"/>
              </a:spcAft>
              <a:buClr>
                <a:srgbClr val="0E2D69"/>
              </a:buClr>
              <a:buSzPts val="1200"/>
              <a:buFont typeface="Arial"/>
              <a:buNone/>
            </a:pPr>
            <a:r>
              <a:t/>
            </a:r>
            <a:endParaRPr sz="1100"/>
          </a:p>
          <a:p>
            <a:pPr indent="0" lvl="0" marL="0" rtl="0" algn="l">
              <a:lnSpc>
                <a:spcPct val="100000"/>
              </a:lnSpc>
              <a:spcBef>
                <a:spcPts val="0"/>
              </a:spcBef>
              <a:spcAft>
                <a:spcPts val="0"/>
              </a:spcAft>
              <a:buClr>
                <a:srgbClr val="0E2D69"/>
              </a:buClr>
              <a:buSzPts val="1000"/>
              <a:buNone/>
            </a:pPr>
            <a:r>
              <a:t/>
            </a:r>
            <a:endParaRPr sz="1100"/>
          </a:p>
        </p:txBody>
      </p:sp>
      <p:sp>
        <p:nvSpPr>
          <p:cNvPr id="210" name="Google Shape;210;p17"/>
          <p:cNvSpPr txBox="1"/>
          <p:nvPr>
            <p:ph idx="4" type="body"/>
          </p:nvPr>
        </p:nvSpPr>
        <p:spPr>
          <a:xfrm>
            <a:off x="6174850" y="612901"/>
            <a:ext cx="2217600" cy="367500"/>
          </a:xfrm>
          <a:prstGeom prst="rect">
            <a:avLst/>
          </a:prstGeom>
          <a:noFill/>
          <a:ln>
            <a:noFill/>
          </a:ln>
        </p:spPr>
        <p:txBody>
          <a:bodyPr anchorCtr="0" anchor="t" bIns="0" lIns="0" spcFirstLastPara="1" rIns="0" wrap="square" tIns="0">
            <a:normAutofit/>
          </a:bodyPr>
          <a:lstStyle/>
          <a:p>
            <a:pPr indent="0" lvl="0" marL="0" rtl="0" algn="l">
              <a:lnSpc>
                <a:spcPct val="70000"/>
              </a:lnSpc>
              <a:spcBef>
                <a:spcPts val="0"/>
              </a:spcBef>
              <a:spcAft>
                <a:spcPts val="0"/>
              </a:spcAft>
              <a:buSzPts val="935"/>
              <a:buNone/>
            </a:pPr>
            <a:r>
              <a:rPr lang="ru-RU" sz="1160">
                <a:solidFill>
                  <a:srgbClr val="0F2C68"/>
                </a:solidFill>
              </a:rPr>
              <a:t>13 December 2025</a:t>
            </a:r>
            <a:endParaRPr sz="1160">
              <a:solidFill>
                <a:srgbClr val="0F2C68"/>
              </a:solidFill>
            </a:endParaRPr>
          </a:p>
          <a:p>
            <a:pPr indent="0" lvl="0" marL="0" rtl="0" algn="l">
              <a:lnSpc>
                <a:spcPct val="70000"/>
              </a:lnSpc>
              <a:spcBef>
                <a:spcPts val="0"/>
              </a:spcBef>
              <a:spcAft>
                <a:spcPts val="0"/>
              </a:spcAft>
              <a:buSzPts val="935"/>
              <a:buNone/>
            </a:pPr>
            <a:r>
              <a:t/>
            </a:r>
            <a:endParaRPr sz="1160">
              <a:solidFill>
                <a:srgbClr val="0F2C68"/>
              </a:solidFill>
            </a:endParaRPr>
          </a:p>
          <a:p>
            <a:pPr indent="0" lvl="0" marL="0" marR="0" rtl="0" algn="l">
              <a:lnSpc>
                <a:spcPct val="70000"/>
              </a:lnSpc>
              <a:spcBef>
                <a:spcPts val="0"/>
              </a:spcBef>
              <a:spcAft>
                <a:spcPts val="0"/>
              </a:spcAft>
              <a:buClr>
                <a:srgbClr val="0E2D69"/>
              </a:buClr>
              <a:buSzPts val="1020"/>
              <a:buFont typeface="Arial"/>
              <a:buNone/>
            </a:pPr>
            <a:r>
              <a:t/>
            </a:r>
            <a:endParaRPr sz="650"/>
          </a:p>
        </p:txBody>
      </p:sp>
      <p:pic>
        <p:nvPicPr>
          <p:cNvPr id="211" name="Google Shape;211;p17"/>
          <p:cNvPicPr preferRelativeResize="0"/>
          <p:nvPr/>
        </p:nvPicPr>
        <p:blipFill>
          <a:blip r:embed="rId3">
            <a:alphaModFix/>
          </a:blip>
          <a:stretch>
            <a:fillRect/>
          </a:stretch>
        </p:blipFill>
        <p:spPr>
          <a:xfrm>
            <a:off x="188575" y="1084601"/>
            <a:ext cx="6599787" cy="5572800"/>
          </a:xfrm>
          <a:prstGeom prst="rect">
            <a:avLst/>
          </a:prstGeom>
          <a:noFill/>
          <a:ln>
            <a:noFill/>
          </a:ln>
        </p:spPr>
      </p:pic>
      <p:sp>
        <p:nvSpPr>
          <p:cNvPr id="212" name="Google Shape;212;p17"/>
          <p:cNvSpPr txBox="1"/>
          <p:nvPr>
            <p:ph idx="1" type="body"/>
          </p:nvPr>
        </p:nvSpPr>
        <p:spPr>
          <a:xfrm>
            <a:off x="7005100" y="1614800"/>
            <a:ext cx="4723500" cy="4659000"/>
          </a:xfrm>
          <a:prstGeom prst="rect">
            <a:avLst/>
          </a:prstGeom>
        </p:spPr>
        <p:txBody>
          <a:bodyPr anchorCtr="0" anchor="ctr" bIns="45700" lIns="0" spcFirstLastPara="1" rIns="0" wrap="square" tIns="0">
            <a:noAutofit/>
          </a:bodyPr>
          <a:lstStyle/>
          <a:p>
            <a:pPr indent="0" lvl="0" marL="0" rtl="0" algn="r">
              <a:spcBef>
                <a:spcPts val="1000"/>
              </a:spcBef>
              <a:spcAft>
                <a:spcPts val="0"/>
              </a:spcAft>
              <a:buNone/>
            </a:pPr>
            <a:r>
              <a:rPr i="1" lang="ru-RU" sz="2000">
                <a:solidFill>
                  <a:schemeClr val="dk1"/>
                </a:solidFill>
              </a:rPr>
              <a:t>Overall the dataset contained 5 numerical, 8 ordinal, and 2 nominal variables with target being an ordinal variable which allows us to explore methods of strict classification and ordinal regressions. We can apply for example Random Forest methods or choice regressions. Because of </a:t>
            </a:r>
            <a:r>
              <a:rPr i="1" lang="ru-RU" sz="2000">
                <a:solidFill>
                  <a:schemeClr val="dk1"/>
                </a:solidFill>
              </a:rPr>
              <a:t>absence</a:t>
            </a:r>
            <a:r>
              <a:rPr i="1" lang="ru-RU" sz="2000">
                <a:solidFill>
                  <a:schemeClr val="dk1"/>
                </a:solidFill>
              </a:rPr>
              <a:t> of linear relationships between numeric variables ordinal linear methods would not be considered </a:t>
            </a:r>
            <a:endParaRPr i="1" sz="20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18"/>
          <p:cNvSpPr txBox="1"/>
          <p:nvPr>
            <p:ph idx="3" type="body"/>
          </p:nvPr>
        </p:nvSpPr>
        <p:spPr>
          <a:xfrm>
            <a:off x="1143689" y="540904"/>
            <a:ext cx="1901700" cy="415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ru-RU" sz="1100">
                <a:solidFill>
                  <a:srgbClr val="0F2C68"/>
                </a:solidFill>
              </a:rPr>
              <a:t>National Research University Higher School of Economics</a:t>
            </a:r>
            <a:endParaRPr sz="1100">
              <a:solidFill>
                <a:srgbClr val="0F2C68"/>
              </a:solidFill>
            </a:endParaRPr>
          </a:p>
          <a:p>
            <a:pPr indent="0" lvl="0" marL="0" rtl="0" algn="l">
              <a:spcBef>
                <a:spcPts val="0"/>
              </a:spcBef>
              <a:spcAft>
                <a:spcPts val="0"/>
              </a:spcAft>
              <a:buNone/>
            </a:pPr>
            <a:r>
              <a:t/>
            </a:r>
            <a:endParaRPr sz="1100">
              <a:solidFill>
                <a:srgbClr val="0F2C68"/>
              </a:solidFill>
            </a:endParaRPr>
          </a:p>
          <a:p>
            <a:pPr indent="0" lvl="0" marL="0" rtl="0" algn="l">
              <a:spcBef>
                <a:spcPts val="0"/>
              </a:spcBef>
              <a:spcAft>
                <a:spcPts val="0"/>
              </a:spcAft>
              <a:buClr>
                <a:schemeClr val="dk1"/>
              </a:buClr>
              <a:buSzPts val="1600"/>
              <a:buFont typeface="Arial"/>
              <a:buNone/>
            </a:pPr>
            <a:r>
              <a:t/>
            </a:r>
            <a:endParaRPr sz="1100">
              <a:solidFill>
                <a:srgbClr val="000000"/>
              </a:solidFill>
            </a:endParaRPr>
          </a:p>
          <a:p>
            <a:pPr indent="0" lvl="0" marL="0" marR="0" rtl="0" algn="l">
              <a:lnSpc>
                <a:spcPct val="100000"/>
              </a:lnSpc>
              <a:spcBef>
                <a:spcPts val="0"/>
              </a:spcBef>
              <a:spcAft>
                <a:spcPts val="0"/>
              </a:spcAft>
              <a:buClr>
                <a:schemeClr val="dk1"/>
              </a:buClr>
              <a:buSzPts val="1000"/>
              <a:buFont typeface="Arial"/>
              <a:buNone/>
            </a:pPr>
            <a:r>
              <a:t/>
            </a:r>
            <a:endParaRPr sz="700"/>
          </a:p>
        </p:txBody>
      </p:sp>
      <p:sp>
        <p:nvSpPr>
          <p:cNvPr id="218" name="Google Shape;218;p18"/>
          <p:cNvSpPr txBox="1"/>
          <p:nvPr>
            <p:ph idx="4" type="body"/>
          </p:nvPr>
        </p:nvSpPr>
        <p:spPr>
          <a:xfrm>
            <a:off x="3459163" y="548720"/>
            <a:ext cx="2070000" cy="408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E2D69"/>
              </a:buClr>
              <a:buSzPts val="1200"/>
              <a:buFont typeface="Arial"/>
              <a:buNone/>
            </a:pPr>
            <a:r>
              <a:rPr lang="ru-RU" sz="1100"/>
              <a:t>Data analysis and mining</a:t>
            </a:r>
            <a:endParaRPr sz="1100"/>
          </a:p>
          <a:p>
            <a:pPr indent="0" lvl="0" marL="0" rtl="0" algn="l">
              <a:spcBef>
                <a:spcPts val="0"/>
              </a:spcBef>
              <a:spcAft>
                <a:spcPts val="0"/>
              </a:spcAft>
              <a:buClr>
                <a:srgbClr val="0E2D69"/>
              </a:buClr>
              <a:buSzPts val="1200"/>
              <a:buFont typeface="Arial"/>
              <a:buNone/>
            </a:pPr>
            <a:r>
              <a:t/>
            </a:r>
            <a:endParaRPr sz="1100"/>
          </a:p>
          <a:p>
            <a:pPr indent="0" lvl="0" marL="0" rtl="0" algn="l">
              <a:lnSpc>
                <a:spcPct val="100000"/>
              </a:lnSpc>
              <a:spcBef>
                <a:spcPts val="0"/>
              </a:spcBef>
              <a:spcAft>
                <a:spcPts val="0"/>
              </a:spcAft>
              <a:buClr>
                <a:srgbClr val="0E2D69"/>
              </a:buClr>
              <a:buSzPts val="1000"/>
              <a:buNone/>
            </a:pPr>
            <a:r>
              <a:t/>
            </a:r>
            <a:endParaRPr sz="1100"/>
          </a:p>
        </p:txBody>
      </p:sp>
      <p:sp>
        <p:nvSpPr>
          <p:cNvPr id="219" name="Google Shape;219;p18"/>
          <p:cNvSpPr txBox="1"/>
          <p:nvPr>
            <p:ph idx="4" type="body"/>
          </p:nvPr>
        </p:nvSpPr>
        <p:spPr>
          <a:xfrm>
            <a:off x="6174850" y="612901"/>
            <a:ext cx="2217600" cy="367500"/>
          </a:xfrm>
          <a:prstGeom prst="rect">
            <a:avLst/>
          </a:prstGeom>
          <a:noFill/>
          <a:ln>
            <a:noFill/>
          </a:ln>
        </p:spPr>
        <p:txBody>
          <a:bodyPr anchorCtr="0" anchor="t" bIns="0" lIns="0" spcFirstLastPara="1" rIns="0" wrap="square" tIns="0">
            <a:normAutofit/>
          </a:bodyPr>
          <a:lstStyle/>
          <a:p>
            <a:pPr indent="0" lvl="0" marL="0" rtl="0" algn="l">
              <a:lnSpc>
                <a:spcPct val="70000"/>
              </a:lnSpc>
              <a:spcBef>
                <a:spcPts val="0"/>
              </a:spcBef>
              <a:spcAft>
                <a:spcPts val="0"/>
              </a:spcAft>
              <a:buSzPts val="935"/>
              <a:buNone/>
            </a:pPr>
            <a:r>
              <a:rPr lang="ru-RU" sz="1160">
                <a:solidFill>
                  <a:srgbClr val="0F2C68"/>
                </a:solidFill>
              </a:rPr>
              <a:t>13 December 2025</a:t>
            </a:r>
            <a:endParaRPr sz="1160">
              <a:solidFill>
                <a:srgbClr val="0F2C68"/>
              </a:solidFill>
            </a:endParaRPr>
          </a:p>
          <a:p>
            <a:pPr indent="0" lvl="0" marL="0" rtl="0" algn="l">
              <a:lnSpc>
                <a:spcPct val="70000"/>
              </a:lnSpc>
              <a:spcBef>
                <a:spcPts val="0"/>
              </a:spcBef>
              <a:spcAft>
                <a:spcPts val="0"/>
              </a:spcAft>
              <a:buSzPts val="935"/>
              <a:buNone/>
            </a:pPr>
            <a:r>
              <a:t/>
            </a:r>
            <a:endParaRPr sz="1160">
              <a:solidFill>
                <a:srgbClr val="0F2C68"/>
              </a:solidFill>
            </a:endParaRPr>
          </a:p>
          <a:p>
            <a:pPr indent="0" lvl="0" marL="0" marR="0" rtl="0" algn="l">
              <a:lnSpc>
                <a:spcPct val="70000"/>
              </a:lnSpc>
              <a:spcBef>
                <a:spcPts val="0"/>
              </a:spcBef>
              <a:spcAft>
                <a:spcPts val="0"/>
              </a:spcAft>
              <a:buClr>
                <a:srgbClr val="0E2D69"/>
              </a:buClr>
              <a:buSzPts val="1020"/>
              <a:buFont typeface="Arial"/>
              <a:buNone/>
            </a:pPr>
            <a:r>
              <a:t/>
            </a:r>
            <a:endParaRPr sz="650"/>
          </a:p>
        </p:txBody>
      </p:sp>
      <p:sp>
        <p:nvSpPr>
          <p:cNvPr id="220" name="Google Shape;220;p18"/>
          <p:cNvSpPr txBox="1"/>
          <p:nvPr>
            <p:ph idx="1" type="body"/>
          </p:nvPr>
        </p:nvSpPr>
        <p:spPr>
          <a:xfrm>
            <a:off x="7005100" y="1614800"/>
            <a:ext cx="4723500" cy="4659000"/>
          </a:xfrm>
          <a:prstGeom prst="rect">
            <a:avLst/>
          </a:prstGeom>
        </p:spPr>
        <p:txBody>
          <a:bodyPr anchorCtr="0" anchor="ctr" bIns="45700" lIns="0" spcFirstLastPara="1" rIns="0" wrap="square" tIns="0">
            <a:noAutofit/>
          </a:bodyPr>
          <a:lstStyle/>
          <a:p>
            <a:pPr indent="0" lvl="0" marL="0" rtl="0" algn="r">
              <a:spcBef>
                <a:spcPts val="1000"/>
              </a:spcBef>
              <a:spcAft>
                <a:spcPts val="0"/>
              </a:spcAft>
              <a:buNone/>
            </a:pPr>
            <a:r>
              <a:rPr i="1" lang="ru-RU" sz="2000">
                <a:solidFill>
                  <a:schemeClr val="dk1"/>
                </a:solidFill>
              </a:rPr>
              <a:t>The</a:t>
            </a:r>
            <a:r>
              <a:rPr i="1" lang="ru-RU" sz="2000">
                <a:solidFill>
                  <a:schemeClr val="dk1"/>
                </a:solidFill>
              </a:rPr>
              <a:t> dataset </a:t>
            </a:r>
            <a:r>
              <a:rPr i="1" lang="ru-RU" sz="2000">
                <a:solidFill>
                  <a:schemeClr val="dk1"/>
                </a:solidFill>
              </a:rPr>
              <a:t>mainly</a:t>
            </a:r>
            <a:r>
              <a:rPr i="1" lang="ru-RU" sz="2000">
                <a:solidFill>
                  <a:schemeClr val="dk1"/>
                </a:solidFill>
              </a:rPr>
              <a:t> consists of categorical and nominal variables. Additional inspection has showed that dataset is not intendent </a:t>
            </a:r>
            <a:r>
              <a:rPr i="1" lang="ru-RU" sz="2000">
                <a:solidFill>
                  <a:schemeClr val="dk1"/>
                </a:solidFill>
              </a:rPr>
              <a:t>much</a:t>
            </a:r>
            <a:r>
              <a:rPr i="1" lang="ru-RU" sz="2000">
                <a:solidFill>
                  <a:schemeClr val="dk1"/>
                </a:solidFill>
              </a:rPr>
              <a:t> for ecomoterics or tasks outside prediction. Most of numeric data is </a:t>
            </a:r>
            <a:r>
              <a:rPr i="1" lang="ru-RU" sz="2000" u="sng">
                <a:solidFill>
                  <a:schemeClr val="dk1"/>
                </a:solidFill>
              </a:rPr>
              <a:t>not </a:t>
            </a:r>
            <a:r>
              <a:rPr i="1" lang="ru-RU" sz="2000" u="sng">
                <a:solidFill>
                  <a:schemeClr val="dk1"/>
                </a:solidFill>
              </a:rPr>
              <a:t>normally</a:t>
            </a:r>
            <a:r>
              <a:rPr i="1" lang="ru-RU" sz="2000" u="sng">
                <a:solidFill>
                  <a:schemeClr val="dk1"/>
                </a:solidFill>
              </a:rPr>
              <a:t> </a:t>
            </a:r>
            <a:r>
              <a:rPr i="1" lang="ru-RU" sz="2000">
                <a:solidFill>
                  <a:schemeClr val="dk1"/>
                </a:solidFill>
              </a:rPr>
              <a:t>distributed which inflicts certain limitations on </a:t>
            </a:r>
            <a:r>
              <a:rPr i="1" lang="ru-RU" sz="2000">
                <a:solidFill>
                  <a:schemeClr val="dk1"/>
                </a:solidFill>
              </a:rPr>
              <a:t>interpretations. One exception is BMI. </a:t>
            </a:r>
            <a:endParaRPr i="1" sz="2000">
              <a:solidFill>
                <a:schemeClr val="dk1"/>
              </a:solidFill>
            </a:endParaRPr>
          </a:p>
        </p:txBody>
      </p:sp>
      <p:pic>
        <p:nvPicPr>
          <p:cNvPr id="221" name="Google Shape;221;p18"/>
          <p:cNvPicPr preferRelativeResize="0"/>
          <p:nvPr/>
        </p:nvPicPr>
        <p:blipFill>
          <a:blip r:embed="rId3">
            <a:alphaModFix/>
          </a:blip>
          <a:stretch>
            <a:fillRect/>
          </a:stretch>
        </p:blipFill>
        <p:spPr>
          <a:xfrm>
            <a:off x="715250" y="1072929"/>
            <a:ext cx="5380743" cy="559649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sp>
        <p:nvSpPr>
          <p:cNvPr id="226" name="Google Shape;226;p19"/>
          <p:cNvSpPr txBox="1"/>
          <p:nvPr>
            <p:ph type="title"/>
          </p:nvPr>
        </p:nvSpPr>
        <p:spPr>
          <a:xfrm>
            <a:off x="390775" y="1270002"/>
            <a:ext cx="6325500" cy="917400"/>
          </a:xfrm>
          <a:prstGeom prst="rect">
            <a:avLst/>
          </a:prstGeom>
          <a:noFill/>
          <a:ln>
            <a:noFill/>
          </a:ln>
        </p:spPr>
        <p:txBody>
          <a:bodyPr anchorCtr="0" anchor="t" bIns="0" lIns="0" spcFirstLastPara="1" rIns="0" wrap="square" tIns="0">
            <a:normAutofit/>
          </a:bodyPr>
          <a:lstStyle/>
          <a:p>
            <a:pPr indent="0" lvl="0" marL="0" rtl="0" algn="l">
              <a:lnSpc>
                <a:spcPct val="100000"/>
              </a:lnSpc>
              <a:spcBef>
                <a:spcPts val="0"/>
              </a:spcBef>
              <a:spcAft>
                <a:spcPts val="0"/>
              </a:spcAft>
              <a:buClr>
                <a:schemeClr val="dk1"/>
              </a:buClr>
              <a:buSzPts val="2400"/>
              <a:buFont typeface="Arial"/>
              <a:buNone/>
            </a:pPr>
            <a:r>
              <a:rPr b="1" lang="ru-RU" sz="2900"/>
              <a:t>Predictive modeling</a:t>
            </a:r>
            <a:r>
              <a:rPr b="1" lang="ru-RU" sz="2900"/>
              <a:t> </a:t>
            </a:r>
            <a:endParaRPr b="1" sz="2900"/>
          </a:p>
        </p:txBody>
      </p:sp>
      <p:sp>
        <p:nvSpPr>
          <p:cNvPr id="227" name="Google Shape;227;p19"/>
          <p:cNvSpPr txBox="1"/>
          <p:nvPr>
            <p:ph idx="3" type="body"/>
          </p:nvPr>
        </p:nvSpPr>
        <p:spPr>
          <a:xfrm>
            <a:off x="1143689" y="540904"/>
            <a:ext cx="1901700" cy="415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ru-RU" sz="1100">
                <a:solidFill>
                  <a:srgbClr val="0F2C68"/>
                </a:solidFill>
              </a:rPr>
              <a:t>National Research University Higher School of Economics</a:t>
            </a:r>
            <a:endParaRPr sz="1100">
              <a:solidFill>
                <a:srgbClr val="0F2C68"/>
              </a:solidFill>
            </a:endParaRPr>
          </a:p>
          <a:p>
            <a:pPr indent="0" lvl="0" marL="0" rtl="0" algn="l">
              <a:spcBef>
                <a:spcPts val="0"/>
              </a:spcBef>
              <a:spcAft>
                <a:spcPts val="0"/>
              </a:spcAft>
              <a:buNone/>
            </a:pPr>
            <a:r>
              <a:t/>
            </a:r>
            <a:endParaRPr sz="1100">
              <a:solidFill>
                <a:srgbClr val="0F2C68"/>
              </a:solidFill>
            </a:endParaRPr>
          </a:p>
          <a:p>
            <a:pPr indent="0" lvl="0" marL="0" rtl="0" algn="l">
              <a:spcBef>
                <a:spcPts val="0"/>
              </a:spcBef>
              <a:spcAft>
                <a:spcPts val="0"/>
              </a:spcAft>
              <a:buClr>
                <a:schemeClr val="dk1"/>
              </a:buClr>
              <a:buSzPts val="1600"/>
              <a:buFont typeface="Arial"/>
              <a:buNone/>
            </a:pPr>
            <a:r>
              <a:t/>
            </a:r>
            <a:endParaRPr sz="1100">
              <a:solidFill>
                <a:srgbClr val="000000"/>
              </a:solidFill>
            </a:endParaRPr>
          </a:p>
          <a:p>
            <a:pPr indent="0" lvl="0" marL="0" marR="0" rtl="0" algn="l">
              <a:lnSpc>
                <a:spcPct val="100000"/>
              </a:lnSpc>
              <a:spcBef>
                <a:spcPts val="0"/>
              </a:spcBef>
              <a:spcAft>
                <a:spcPts val="0"/>
              </a:spcAft>
              <a:buClr>
                <a:schemeClr val="dk1"/>
              </a:buClr>
              <a:buSzPts val="1000"/>
              <a:buFont typeface="Arial"/>
              <a:buNone/>
            </a:pPr>
            <a:r>
              <a:t/>
            </a:r>
            <a:endParaRPr sz="700"/>
          </a:p>
        </p:txBody>
      </p:sp>
      <p:sp>
        <p:nvSpPr>
          <p:cNvPr id="228" name="Google Shape;228;p19"/>
          <p:cNvSpPr txBox="1"/>
          <p:nvPr>
            <p:ph idx="4" type="body"/>
          </p:nvPr>
        </p:nvSpPr>
        <p:spPr>
          <a:xfrm>
            <a:off x="3459163" y="548720"/>
            <a:ext cx="2070000" cy="408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E2D69"/>
              </a:buClr>
              <a:buSzPts val="1200"/>
              <a:buFont typeface="Arial"/>
              <a:buNone/>
            </a:pPr>
            <a:r>
              <a:rPr lang="ru-RU" sz="1100"/>
              <a:t>Data analysis and mining</a:t>
            </a:r>
            <a:endParaRPr sz="1100"/>
          </a:p>
          <a:p>
            <a:pPr indent="0" lvl="0" marL="0" rtl="0" algn="l">
              <a:spcBef>
                <a:spcPts val="0"/>
              </a:spcBef>
              <a:spcAft>
                <a:spcPts val="0"/>
              </a:spcAft>
              <a:buClr>
                <a:srgbClr val="0E2D69"/>
              </a:buClr>
              <a:buSzPts val="1200"/>
              <a:buFont typeface="Arial"/>
              <a:buNone/>
            </a:pPr>
            <a:r>
              <a:t/>
            </a:r>
            <a:endParaRPr sz="1100"/>
          </a:p>
          <a:p>
            <a:pPr indent="0" lvl="0" marL="0" rtl="0" algn="l">
              <a:lnSpc>
                <a:spcPct val="100000"/>
              </a:lnSpc>
              <a:spcBef>
                <a:spcPts val="0"/>
              </a:spcBef>
              <a:spcAft>
                <a:spcPts val="0"/>
              </a:spcAft>
              <a:buClr>
                <a:srgbClr val="0E2D69"/>
              </a:buClr>
              <a:buSzPts val="1000"/>
              <a:buNone/>
            </a:pPr>
            <a:r>
              <a:t/>
            </a:r>
            <a:endParaRPr sz="1100"/>
          </a:p>
        </p:txBody>
      </p:sp>
      <p:sp>
        <p:nvSpPr>
          <p:cNvPr id="229" name="Google Shape;229;p19"/>
          <p:cNvSpPr txBox="1"/>
          <p:nvPr>
            <p:ph idx="4" type="body"/>
          </p:nvPr>
        </p:nvSpPr>
        <p:spPr>
          <a:xfrm>
            <a:off x="6174850" y="612901"/>
            <a:ext cx="2217600" cy="367500"/>
          </a:xfrm>
          <a:prstGeom prst="rect">
            <a:avLst/>
          </a:prstGeom>
          <a:noFill/>
          <a:ln>
            <a:noFill/>
          </a:ln>
        </p:spPr>
        <p:txBody>
          <a:bodyPr anchorCtr="0" anchor="t" bIns="0" lIns="0" spcFirstLastPara="1" rIns="0" wrap="square" tIns="0">
            <a:normAutofit/>
          </a:bodyPr>
          <a:lstStyle/>
          <a:p>
            <a:pPr indent="0" lvl="0" marL="0" rtl="0" algn="l">
              <a:lnSpc>
                <a:spcPct val="70000"/>
              </a:lnSpc>
              <a:spcBef>
                <a:spcPts val="0"/>
              </a:spcBef>
              <a:spcAft>
                <a:spcPts val="0"/>
              </a:spcAft>
              <a:buSzPts val="935"/>
              <a:buNone/>
            </a:pPr>
            <a:r>
              <a:rPr lang="ru-RU" sz="1160">
                <a:solidFill>
                  <a:srgbClr val="0F2C68"/>
                </a:solidFill>
              </a:rPr>
              <a:t>13 December 2025</a:t>
            </a:r>
            <a:endParaRPr sz="1160">
              <a:solidFill>
                <a:srgbClr val="0F2C68"/>
              </a:solidFill>
            </a:endParaRPr>
          </a:p>
          <a:p>
            <a:pPr indent="0" lvl="0" marL="0" rtl="0" algn="l">
              <a:lnSpc>
                <a:spcPct val="70000"/>
              </a:lnSpc>
              <a:spcBef>
                <a:spcPts val="0"/>
              </a:spcBef>
              <a:spcAft>
                <a:spcPts val="0"/>
              </a:spcAft>
              <a:buSzPts val="935"/>
              <a:buNone/>
            </a:pPr>
            <a:r>
              <a:t/>
            </a:r>
            <a:endParaRPr sz="1160">
              <a:solidFill>
                <a:srgbClr val="0F2C68"/>
              </a:solidFill>
            </a:endParaRPr>
          </a:p>
          <a:p>
            <a:pPr indent="0" lvl="0" marL="0" marR="0" rtl="0" algn="l">
              <a:lnSpc>
                <a:spcPct val="70000"/>
              </a:lnSpc>
              <a:spcBef>
                <a:spcPts val="0"/>
              </a:spcBef>
              <a:spcAft>
                <a:spcPts val="0"/>
              </a:spcAft>
              <a:buClr>
                <a:srgbClr val="0E2D69"/>
              </a:buClr>
              <a:buSzPts val="1020"/>
              <a:buFont typeface="Arial"/>
              <a:buNone/>
            </a:pPr>
            <a:r>
              <a:t/>
            </a:r>
            <a:endParaRPr sz="650"/>
          </a:p>
        </p:txBody>
      </p:sp>
      <p:sp>
        <p:nvSpPr>
          <p:cNvPr id="230" name="Google Shape;230;p19"/>
          <p:cNvSpPr txBox="1"/>
          <p:nvPr>
            <p:ph idx="1" type="body"/>
          </p:nvPr>
        </p:nvSpPr>
        <p:spPr>
          <a:xfrm>
            <a:off x="585900" y="2003650"/>
            <a:ext cx="11055300" cy="4410600"/>
          </a:xfrm>
          <a:prstGeom prst="rect">
            <a:avLst/>
          </a:prstGeom>
        </p:spPr>
        <p:txBody>
          <a:bodyPr anchorCtr="0" anchor="t" bIns="45700" lIns="0" spcFirstLastPara="1" rIns="0" wrap="square" tIns="0">
            <a:noAutofit/>
          </a:bodyPr>
          <a:lstStyle/>
          <a:p>
            <a:pPr indent="0" lvl="0" marL="0" rtl="0" algn="l">
              <a:spcBef>
                <a:spcPts val="1000"/>
              </a:spcBef>
              <a:spcAft>
                <a:spcPts val="0"/>
              </a:spcAft>
              <a:buNone/>
            </a:pPr>
            <a:r>
              <a:rPr lang="ru-RU" sz="2500">
                <a:solidFill>
                  <a:srgbClr val="000000"/>
                </a:solidFill>
              </a:rPr>
              <a:t>In order to examine additional relationships we directly used </a:t>
            </a:r>
            <a:r>
              <a:rPr b="1" lang="ru-RU" sz="2500">
                <a:solidFill>
                  <a:srgbClr val="000000"/>
                </a:solidFill>
              </a:rPr>
              <a:t>catboosting models</a:t>
            </a:r>
            <a:r>
              <a:rPr lang="ru-RU" sz="2500">
                <a:solidFill>
                  <a:srgbClr val="000000"/>
                </a:solidFill>
              </a:rPr>
              <a:t> to examine variable importance in predicting the target. That gave us both measure of </a:t>
            </a:r>
            <a:r>
              <a:rPr b="1" lang="ru-RU" sz="2500">
                <a:solidFill>
                  <a:srgbClr val="000000"/>
                </a:solidFill>
              </a:rPr>
              <a:t>importance </a:t>
            </a:r>
            <a:r>
              <a:rPr lang="ru-RU" sz="2500">
                <a:solidFill>
                  <a:srgbClr val="000000"/>
                </a:solidFill>
              </a:rPr>
              <a:t>and </a:t>
            </a:r>
            <a:r>
              <a:rPr b="1" lang="ru-RU" sz="2500">
                <a:solidFill>
                  <a:srgbClr val="000000"/>
                </a:solidFill>
              </a:rPr>
              <a:t>prediction model</a:t>
            </a:r>
            <a:r>
              <a:rPr lang="ru-RU" sz="2500">
                <a:solidFill>
                  <a:srgbClr val="000000"/>
                </a:solidFill>
              </a:rPr>
              <a:t>. The catboost is used here because of its </a:t>
            </a:r>
            <a:r>
              <a:rPr b="1" lang="ru-RU" sz="2500">
                <a:solidFill>
                  <a:srgbClr val="000000"/>
                </a:solidFill>
              </a:rPr>
              <a:t>fluid categorical</a:t>
            </a:r>
            <a:r>
              <a:rPr lang="ru-RU" sz="2500">
                <a:solidFill>
                  <a:srgbClr val="000000"/>
                </a:solidFill>
              </a:rPr>
              <a:t> columns handling and </a:t>
            </a:r>
            <a:r>
              <a:rPr b="1" lang="ru-RU" sz="2500">
                <a:solidFill>
                  <a:srgbClr val="000000"/>
                </a:solidFill>
              </a:rPr>
              <a:t>ani-overfit measures </a:t>
            </a:r>
            <a:r>
              <a:rPr lang="ru-RU" sz="2500">
                <a:solidFill>
                  <a:srgbClr val="000000"/>
                </a:solidFill>
              </a:rPr>
              <a:t>built in. </a:t>
            </a:r>
            <a:endParaRPr sz="2500">
              <a:solidFill>
                <a:srgbClr val="000000"/>
              </a:solidFill>
            </a:endParaRPr>
          </a:p>
          <a:p>
            <a:pPr indent="0" lvl="0" marL="0" rtl="0" algn="l">
              <a:spcBef>
                <a:spcPts val="1000"/>
              </a:spcBef>
              <a:spcAft>
                <a:spcPts val="0"/>
              </a:spcAft>
              <a:buNone/>
            </a:pPr>
            <a:r>
              <a:rPr lang="ru-RU" sz="2500">
                <a:solidFill>
                  <a:srgbClr val="000000"/>
                </a:solidFill>
              </a:rPr>
              <a:t>Compared to other approaches it is produces much less overfiting like </a:t>
            </a:r>
            <a:r>
              <a:rPr b="1" lang="ru-RU" sz="2500">
                <a:solidFill>
                  <a:srgbClr val="000000"/>
                </a:solidFill>
              </a:rPr>
              <a:t>RandomForests</a:t>
            </a:r>
            <a:r>
              <a:rPr lang="ru-RU" sz="2500">
                <a:solidFill>
                  <a:srgbClr val="000000"/>
                </a:solidFill>
              </a:rPr>
              <a:t>, or </a:t>
            </a:r>
            <a:r>
              <a:rPr b="1" lang="ru-RU" sz="2500">
                <a:solidFill>
                  <a:srgbClr val="000000"/>
                </a:solidFill>
              </a:rPr>
              <a:t>XGBoosting </a:t>
            </a:r>
            <a:r>
              <a:rPr lang="ru-RU" sz="2500">
                <a:solidFill>
                  <a:srgbClr val="000000"/>
                </a:solidFill>
              </a:rPr>
              <a:t>or </a:t>
            </a:r>
            <a:r>
              <a:rPr b="1" lang="ru-RU" sz="2500">
                <a:solidFill>
                  <a:srgbClr val="000000"/>
                </a:solidFill>
              </a:rPr>
              <a:t>AdaBoosting</a:t>
            </a:r>
            <a:r>
              <a:rPr lang="ru-RU" sz="2500">
                <a:solidFill>
                  <a:srgbClr val="000000"/>
                </a:solidFill>
              </a:rPr>
              <a:t>. Unlike </a:t>
            </a:r>
            <a:r>
              <a:rPr b="1" lang="ru-RU" sz="2500">
                <a:solidFill>
                  <a:srgbClr val="000000"/>
                </a:solidFill>
              </a:rPr>
              <a:t>XGBoosting </a:t>
            </a:r>
            <a:r>
              <a:rPr lang="ru-RU" sz="2500">
                <a:solidFill>
                  <a:srgbClr val="000000"/>
                </a:solidFill>
              </a:rPr>
              <a:t> the performance won’t be affected as much by dataset size. To ensure </a:t>
            </a:r>
            <a:r>
              <a:rPr lang="ru-RU" sz="2500">
                <a:solidFill>
                  <a:srgbClr val="000000"/>
                </a:solidFill>
              </a:rPr>
              <a:t>best</a:t>
            </a:r>
            <a:r>
              <a:rPr lang="ru-RU" sz="2500">
                <a:solidFill>
                  <a:srgbClr val="000000"/>
                </a:solidFill>
              </a:rPr>
              <a:t> fit, first we completed grid searching</a:t>
            </a:r>
            <a:endParaRPr sz="2500">
              <a:solidFill>
                <a:srgbClr val="000000"/>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20"/>
          <p:cNvSpPr txBox="1"/>
          <p:nvPr>
            <p:ph type="title"/>
          </p:nvPr>
        </p:nvSpPr>
        <p:spPr>
          <a:xfrm>
            <a:off x="390775" y="1270002"/>
            <a:ext cx="6325500" cy="917400"/>
          </a:xfrm>
          <a:prstGeom prst="rect">
            <a:avLst/>
          </a:prstGeom>
          <a:noFill/>
          <a:ln>
            <a:noFill/>
          </a:ln>
        </p:spPr>
        <p:txBody>
          <a:bodyPr anchorCtr="0" anchor="t" bIns="0" lIns="0" spcFirstLastPara="1" rIns="0" wrap="square" tIns="0">
            <a:normAutofit/>
          </a:bodyPr>
          <a:lstStyle/>
          <a:p>
            <a:pPr indent="0" lvl="0" marL="0" rtl="0" algn="l">
              <a:lnSpc>
                <a:spcPct val="100000"/>
              </a:lnSpc>
              <a:spcBef>
                <a:spcPts val="0"/>
              </a:spcBef>
              <a:spcAft>
                <a:spcPts val="0"/>
              </a:spcAft>
              <a:buClr>
                <a:schemeClr val="dk1"/>
              </a:buClr>
              <a:buSzPts val="2400"/>
              <a:buFont typeface="Arial"/>
              <a:buNone/>
            </a:pPr>
            <a:r>
              <a:rPr b="1" lang="ru-RU" sz="2900"/>
              <a:t>Grid searching </a:t>
            </a:r>
            <a:r>
              <a:rPr b="1" lang="ru-RU" sz="2900"/>
              <a:t>results</a:t>
            </a:r>
            <a:r>
              <a:rPr b="1" lang="ru-RU" sz="2900"/>
              <a:t> </a:t>
            </a:r>
            <a:endParaRPr b="1" sz="2900"/>
          </a:p>
        </p:txBody>
      </p:sp>
      <p:sp>
        <p:nvSpPr>
          <p:cNvPr id="236" name="Google Shape;236;p20"/>
          <p:cNvSpPr txBox="1"/>
          <p:nvPr>
            <p:ph idx="3" type="body"/>
          </p:nvPr>
        </p:nvSpPr>
        <p:spPr>
          <a:xfrm>
            <a:off x="1143689" y="540904"/>
            <a:ext cx="1901700" cy="415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ru-RU" sz="1100">
                <a:solidFill>
                  <a:srgbClr val="0F2C68"/>
                </a:solidFill>
              </a:rPr>
              <a:t>National Research University Higher School of Economics</a:t>
            </a:r>
            <a:endParaRPr sz="1100">
              <a:solidFill>
                <a:srgbClr val="0F2C68"/>
              </a:solidFill>
            </a:endParaRPr>
          </a:p>
          <a:p>
            <a:pPr indent="0" lvl="0" marL="0" rtl="0" algn="l">
              <a:spcBef>
                <a:spcPts val="0"/>
              </a:spcBef>
              <a:spcAft>
                <a:spcPts val="0"/>
              </a:spcAft>
              <a:buNone/>
            </a:pPr>
            <a:r>
              <a:t/>
            </a:r>
            <a:endParaRPr sz="1100">
              <a:solidFill>
                <a:srgbClr val="0F2C68"/>
              </a:solidFill>
            </a:endParaRPr>
          </a:p>
          <a:p>
            <a:pPr indent="0" lvl="0" marL="0" rtl="0" algn="l">
              <a:spcBef>
                <a:spcPts val="0"/>
              </a:spcBef>
              <a:spcAft>
                <a:spcPts val="0"/>
              </a:spcAft>
              <a:buClr>
                <a:schemeClr val="dk1"/>
              </a:buClr>
              <a:buSzPts val="1600"/>
              <a:buFont typeface="Arial"/>
              <a:buNone/>
            </a:pPr>
            <a:r>
              <a:t/>
            </a:r>
            <a:endParaRPr sz="1100">
              <a:solidFill>
                <a:srgbClr val="000000"/>
              </a:solidFill>
            </a:endParaRPr>
          </a:p>
          <a:p>
            <a:pPr indent="0" lvl="0" marL="0" marR="0" rtl="0" algn="l">
              <a:lnSpc>
                <a:spcPct val="100000"/>
              </a:lnSpc>
              <a:spcBef>
                <a:spcPts val="0"/>
              </a:spcBef>
              <a:spcAft>
                <a:spcPts val="0"/>
              </a:spcAft>
              <a:buClr>
                <a:schemeClr val="dk1"/>
              </a:buClr>
              <a:buSzPts val="1000"/>
              <a:buFont typeface="Arial"/>
              <a:buNone/>
            </a:pPr>
            <a:r>
              <a:t/>
            </a:r>
            <a:endParaRPr sz="700"/>
          </a:p>
        </p:txBody>
      </p:sp>
      <p:sp>
        <p:nvSpPr>
          <p:cNvPr id="237" name="Google Shape;237;p20"/>
          <p:cNvSpPr txBox="1"/>
          <p:nvPr>
            <p:ph idx="4" type="body"/>
          </p:nvPr>
        </p:nvSpPr>
        <p:spPr>
          <a:xfrm>
            <a:off x="3459163" y="548720"/>
            <a:ext cx="2070000" cy="408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E2D69"/>
              </a:buClr>
              <a:buSzPts val="1200"/>
              <a:buFont typeface="Arial"/>
              <a:buNone/>
            </a:pPr>
            <a:r>
              <a:rPr lang="ru-RU" sz="1100"/>
              <a:t>Data analysis and mining</a:t>
            </a:r>
            <a:endParaRPr sz="1100"/>
          </a:p>
          <a:p>
            <a:pPr indent="0" lvl="0" marL="0" rtl="0" algn="l">
              <a:spcBef>
                <a:spcPts val="0"/>
              </a:spcBef>
              <a:spcAft>
                <a:spcPts val="0"/>
              </a:spcAft>
              <a:buClr>
                <a:srgbClr val="0E2D69"/>
              </a:buClr>
              <a:buSzPts val="1200"/>
              <a:buFont typeface="Arial"/>
              <a:buNone/>
            </a:pPr>
            <a:r>
              <a:t/>
            </a:r>
            <a:endParaRPr sz="1100"/>
          </a:p>
          <a:p>
            <a:pPr indent="0" lvl="0" marL="0" rtl="0" algn="l">
              <a:lnSpc>
                <a:spcPct val="100000"/>
              </a:lnSpc>
              <a:spcBef>
                <a:spcPts val="0"/>
              </a:spcBef>
              <a:spcAft>
                <a:spcPts val="0"/>
              </a:spcAft>
              <a:buClr>
                <a:srgbClr val="0E2D69"/>
              </a:buClr>
              <a:buSzPts val="1000"/>
              <a:buNone/>
            </a:pPr>
            <a:r>
              <a:t/>
            </a:r>
            <a:endParaRPr sz="1100"/>
          </a:p>
        </p:txBody>
      </p:sp>
      <p:sp>
        <p:nvSpPr>
          <p:cNvPr id="238" name="Google Shape;238;p20"/>
          <p:cNvSpPr txBox="1"/>
          <p:nvPr>
            <p:ph idx="4" type="body"/>
          </p:nvPr>
        </p:nvSpPr>
        <p:spPr>
          <a:xfrm>
            <a:off x="6174850" y="612901"/>
            <a:ext cx="2217600" cy="367500"/>
          </a:xfrm>
          <a:prstGeom prst="rect">
            <a:avLst/>
          </a:prstGeom>
          <a:noFill/>
          <a:ln>
            <a:noFill/>
          </a:ln>
        </p:spPr>
        <p:txBody>
          <a:bodyPr anchorCtr="0" anchor="t" bIns="0" lIns="0" spcFirstLastPara="1" rIns="0" wrap="square" tIns="0">
            <a:normAutofit/>
          </a:bodyPr>
          <a:lstStyle/>
          <a:p>
            <a:pPr indent="0" lvl="0" marL="0" rtl="0" algn="l">
              <a:lnSpc>
                <a:spcPct val="70000"/>
              </a:lnSpc>
              <a:spcBef>
                <a:spcPts val="0"/>
              </a:spcBef>
              <a:spcAft>
                <a:spcPts val="0"/>
              </a:spcAft>
              <a:buSzPts val="935"/>
              <a:buNone/>
            </a:pPr>
            <a:r>
              <a:rPr lang="ru-RU" sz="1160">
                <a:solidFill>
                  <a:srgbClr val="0F2C68"/>
                </a:solidFill>
              </a:rPr>
              <a:t>13 December 2025</a:t>
            </a:r>
            <a:endParaRPr sz="1160">
              <a:solidFill>
                <a:srgbClr val="0F2C68"/>
              </a:solidFill>
            </a:endParaRPr>
          </a:p>
          <a:p>
            <a:pPr indent="0" lvl="0" marL="0" rtl="0" algn="l">
              <a:lnSpc>
                <a:spcPct val="70000"/>
              </a:lnSpc>
              <a:spcBef>
                <a:spcPts val="0"/>
              </a:spcBef>
              <a:spcAft>
                <a:spcPts val="0"/>
              </a:spcAft>
              <a:buSzPts val="935"/>
              <a:buNone/>
            </a:pPr>
            <a:r>
              <a:t/>
            </a:r>
            <a:endParaRPr sz="1160">
              <a:solidFill>
                <a:srgbClr val="0F2C68"/>
              </a:solidFill>
            </a:endParaRPr>
          </a:p>
          <a:p>
            <a:pPr indent="0" lvl="0" marL="0" marR="0" rtl="0" algn="l">
              <a:lnSpc>
                <a:spcPct val="70000"/>
              </a:lnSpc>
              <a:spcBef>
                <a:spcPts val="0"/>
              </a:spcBef>
              <a:spcAft>
                <a:spcPts val="0"/>
              </a:spcAft>
              <a:buClr>
                <a:srgbClr val="0E2D69"/>
              </a:buClr>
              <a:buSzPts val="1020"/>
              <a:buFont typeface="Arial"/>
              <a:buNone/>
            </a:pPr>
            <a:r>
              <a:t/>
            </a:r>
            <a:endParaRPr sz="650"/>
          </a:p>
        </p:txBody>
      </p:sp>
      <p:sp>
        <p:nvSpPr>
          <p:cNvPr id="239" name="Google Shape;239;p20"/>
          <p:cNvSpPr txBox="1"/>
          <p:nvPr>
            <p:ph idx="1" type="body"/>
          </p:nvPr>
        </p:nvSpPr>
        <p:spPr>
          <a:xfrm>
            <a:off x="585900" y="1856775"/>
            <a:ext cx="4851900" cy="4359000"/>
          </a:xfrm>
          <a:prstGeom prst="rect">
            <a:avLst/>
          </a:prstGeom>
        </p:spPr>
        <p:txBody>
          <a:bodyPr anchorCtr="0" anchor="t" bIns="45700" lIns="0" spcFirstLastPara="1" rIns="0" wrap="square" tIns="0">
            <a:noAutofit/>
          </a:bodyPr>
          <a:lstStyle/>
          <a:p>
            <a:pPr indent="0" lvl="0" marL="0" rtl="0" algn="l">
              <a:spcBef>
                <a:spcPts val="1000"/>
              </a:spcBef>
              <a:spcAft>
                <a:spcPts val="0"/>
              </a:spcAft>
              <a:buNone/>
            </a:pPr>
            <a:r>
              <a:rPr lang="ru-RU" sz="2500">
                <a:solidFill>
                  <a:srgbClr val="000000"/>
                </a:solidFill>
              </a:rPr>
              <a:t>The most appropriate metric in for grid searching usually </a:t>
            </a:r>
            <a:r>
              <a:rPr b="1" lang="ru-RU" sz="2500">
                <a:solidFill>
                  <a:srgbClr val="000000"/>
                </a:solidFill>
              </a:rPr>
              <a:t>AUC</a:t>
            </a:r>
            <a:r>
              <a:rPr lang="ru-RU" sz="2500">
                <a:solidFill>
                  <a:srgbClr val="000000"/>
                </a:solidFill>
              </a:rPr>
              <a:t>. This metric is very reliable when assessing multiclass like this one. </a:t>
            </a:r>
            <a:endParaRPr sz="2500">
              <a:solidFill>
                <a:srgbClr val="000000"/>
              </a:solidFill>
            </a:endParaRPr>
          </a:p>
          <a:p>
            <a:pPr indent="0" lvl="0" marL="0" rtl="0" algn="l">
              <a:spcBef>
                <a:spcPts val="1000"/>
              </a:spcBef>
              <a:spcAft>
                <a:spcPts val="0"/>
              </a:spcAft>
              <a:buNone/>
            </a:pPr>
            <a:r>
              <a:rPr lang="ru-RU" sz="2500">
                <a:solidFill>
                  <a:srgbClr val="000000"/>
                </a:solidFill>
              </a:rPr>
              <a:t>The best group of parameters is:</a:t>
            </a:r>
            <a:endParaRPr sz="2500">
              <a:solidFill>
                <a:srgbClr val="000000"/>
              </a:solidFill>
            </a:endParaRPr>
          </a:p>
          <a:p>
            <a:pPr indent="0" lvl="0" marL="0" rtl="0" algn="l">
              <a:spcBef>
                <a:spcPts val="1000"/>
              </a:spcBef>
              <a:spcAft>
                <a:spcPts val="0"/>
              </a:spcAft>
              <a:buNone/>
            </a:pPr>
            <a:r>
              <a:rPr b="1" lang="ru-RU" sz="2500">
                <a:solidFill>
                  <a:srgbClr val="000000"/>
                </a:solidFill>
              </a:rPr>
              <a:t>{'depth': 5, </a:t>
            </a:r>
            <a:endParaRPr b="1" sz="2500">
              <a:solidFill>
                <a:srgbClr val="000000"/>
              </a:solidFill>
            </a:endParaRPr>
          </a:p>
          <a:p>
            <a:pPr indent="0" lvl="0" marL="0" rtl="0" algn="l">
              <a:spcBef>
                <a:spcPts val="1000"/>
              </a:spcBef>
              <a:spcAft>
                <a:spcPts val="0"/>
              </a:spcAft>
              <a:buNone/>
            </a:pPr>
            <a:r>
              <a:rPr b="1" lang="ru-RU" sz="2500">
                <a:solidFill>
                  <a:srgbClr val="000000"/>
                </a:solidFill>
              </a:rPr>
              <a:t>'learning_rate': 0.1, </a:t>
            </a:r>
            <a:endParaRPr b="1" sz="2500">
              <a:solidFill>
                <a:srgbClr val="000000"/>
              </a:solidFill>
            </a:endParaRPr>
          </a:p>
          <a:p>
            <a:pPr indent="0" lvl="0" marL="0" rtl="0" algn="l">
              <a:spcBef>
                <a:spcPts val="1000"/>
              </a:spcBef>
              <a:spcAft>
                <a:spcPts val="0"/>
              </a:spcAft>
              <a:buNone/>
            </a:pPr>
            <a:r>
              <a:rPr b="1" lang="ru-RU" sz="2500">
                <a:solidFill>
                  <a:srgbClr val="000000"/>
                </a:solidFill>
              </a:rPr>
              <a:t>'l2_leaf_reg': 1}</a:t>
            </a:r>
            <a:endParaRPr b="1" sz="2500">
              <a:solidFill>
                <a:srgbClr val="000000"/>
              </a:solidFill>
            </a:endParaRPr>
          </a:p>
        </p:txBody>
      </p:sp>
      <p:pic>
        <p:nvPicPr>
          <p:cNvPr id="240" name="Google Shape;240;p20"/>
          <p:cNvPicPr preferRelativeResize="0"/>
          <p:nvPr/>
        </p:nvPicPr>
        <p:blipFill>
          <a:blip r:embed="rId3">
            <a:alphaModFix/>
          </a:blip>
          <a:stretch>
            <a:fillRect/>
          </a:stretch>
        </p:blipFill>
        <p:spPr>
          <a:xfrm>
            <a:off x="5578150" y="2086602"/>
            <a:ext cx="6449399" cy="368820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21"/>
          <p:cNvSpPr txBox="1"/>
          <p:nvPr>
            <p:ph type="title"/>
          </p:nvPr>
        </p:nvSpPr>
        <p:spPr>
          <a:xfrm>
            <a:off x="390775" y="1270002"/>
            <a:ext cx="6325500" cy="917400"/>
          </a:xfrm>
          <a:prstGeom prst="rect">
            <a:avLst/>
          </a:prstGeom>
          <a:noFill/>
          <a:ln>
            <a:noFill/>
          </a:ln>
        </p:spPr>
        <p:txBody>
          <a:bodyPr anchorCtr="0" anchor="t" bIns="0" lIns="0" spcFirstLastPara="1" rIns="0" wrap="square" tIns="0">
            <a:normAutofit/>
          </a:bodyPr>
          <a:lstStyle/>
          <a:p>
            <a:pPr indent="0" lvl="0" marL="0" rtl="0" algn="l">
              <a:lnSpc>
                <a:spcPct val="100000"/>
              </a:lnSpc>
              <a:spcBef>
                <a:spcPts val="0"/>
              </a:spcBef>
              <a:spcAft>
                <a:spcPts val="0"/>
              </a:spcAft>
              <a:buClr>
                <a:schemeClr val="dk1"/>
              </a:buClr>
              <a:buSzPts val="2400"/>
              <a:buFont typeface="Arial"/>
              <a:buNone/>
            </a:pPr>
            <a:r>
              <a:rPr b="1" lang="ru-RU" sz="2900"/>
              <a:t>Prediction model design </a:t>
            </a:r>
            <a:endParaRPr b="1" sz="2900"/>
          </a:p>
        </p:txBody>
      </p:sp>
      <p:sp>
        <p:nvSpPr>
          <p:cNvPr id="246" name="Google Shape;246;p21"/>
          <p:cNvSpPr txBox="1"/>
          <p:nvPr>
            <p:ph idx="3" type="body"/>
          </p:nvPr>
        </p:nvSpPr>
        <p:spPr>
          <a:xfrm>
            <a:off x="1143689" y="540904"/>
            <a:ext cx="1901700" cy="415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ru-RU" sz="1100">
                <a:solidFill>
                  <a:srgbClr val="0F2C68"/>
                </a:solidFill>
              </a:rPr>
              <a:t>National Research University Higher School of Economics</a:t>
            </a:r>
            <a:endParaRPr sz="1100">
              <a:solidFill>
                <a:srgbClr val="0F2C68"/>
              </a:solidFill>
            </a:endParaRPr>
          </a:p>
          <a:p>
            <a:pPr indent="0" lvl="0" marL="0" rtl="0" algn="l">
              <a:spcBef>
                <a:spcPts val="0"/>
              </a:spcBef>
              <a:spcAft>
                <a:spcPts val="0"/>
              </a:spcAft>
              <a:buNone/>
            </a:pPr>
            <a:r>
              <a:t/>
            </a:r>
            <a:endParaRPr sz="1100">
              <a:solidFill>
                <a:srgbClr val="0F2C68"/>
              </a:solidFill>
            </a:endParaRPr>
          </a:p>
          <a:p>
            <a:pPr indent="0" lvl="0" marL="0" rtl="0" algn="l">
              <a:spcBef>
                <a:spcPts val="0"/>
              </a:spcBef>
              <a:spcAft>
                <a:spcPts val="0"/>
              </a:spcAft>
              <a:buClr>
                <a:schemeClr val="dk1"/>
              </a:buClr>
              <a:buSzPts val="1600"/>
              <a:buFont typeface="Arial"/>
              <a:buNone/>
            </a:pPr>
            <a:r>
              <a:t/>
            </a:r>
            <a:endParaRPr sz="1100">
              <a:solidFill>
                <a:srgbClr val="000000"/>
              </a:solidFill>
            </a:endParaRPr>
          </a:p>
          <a:p>
            <a:pPr indent="0" lvl="0" marL="0" marR="0" rtl="0" algn="l">
              <a:lnSpc>
                <a:spcPct val="100000"/>
              </a:lnSpc>
              <a:spcBef>
                <a:spcPts val="0"/>
              </a:spcBef>
              <a:spcAft>
                <a:spcPts val="0"/>
              </a:spcAft>
              <a:buClr>
                <a:schemeClr val="dk1"/>
              </a:buClr>
              <a:buSzPts val="1000"/>
              <a:buFont typeface="Arial"/>
              <a:buNone/>
            </a:pPr>
            <a:r>
              <a:t/>
            </a:r>
            <a:endParaRPr sz="700"/>
          </a:p>
        </p:txBody>
      </p:sp>
      <p:sp>
        <p:nvSpPr>
          <p:cNvPr id="247" name="Google Shape;247;p21"/>
          <p:cNvSpPr txBox="1"/>
          <p:nvPr>
            <p:ph idx="4" type="body"/>
          </p:nvPr>
        </p:nvSpPr>
        <p:spPr>
          <a:xfrm>
            <a:off x="3459163" y="548720"/>
            <a:ext cx="2070000" cy="408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E2D69"/>
              </a:buClr>
              <a:buSzPts val="1200"/>
              <a:buFont typeface="Arial"/>
              <a:buNone/>
            </a:pPr>
            <a:r>
              <a:rPr lang="ru-RU" sz="1100"/>
              <a:t>Data analysis and mining</a:t>
            </a:r>
            <a:endParaRPr sz="1100"/>
          </a:p>
          <a:p>
            <a:pPr indent="0" lvl="0" marL="0" rtl="0" algn="l">
              <a:spcBef>
                <a:spcPts val="0"/>
              </a:spcBef>
              <a:spcAft>
                <a:spcPts val="0"/>
              </a:spcAft>
              <a:buClr>
                <a:srgbClr val="0E2D69"/>
              </a:buClr>
              <a:buSzPts val="1200"/>
              <a:buFont typeface="Arial"/>
              <a:buNone/>
            </a:pPr>
            <a:r>
              <a:t/>
            </a:r>
            <a:endParaRPr sz="1100"/>
          </a:p>
          <a:p>
            <a:pPr indent="0" lvl="0" marL="0" rtl="0" algn="l">
              <a:lnSpc>
                <a:spcPct val="100000"/>
              </a:lnSpc>
              <a:spcBef>
                <a:spcPts val="0"/>
              </a:spcBef>
              <a:spcAft>
                <a:spcPts val="0"/>
              </a:spcAft>
              <a:buClr>
                <a:srgbClr val="0E2D69"/>
              </a:buClr>
              <a:buSzPts val="1000"/>
              <a:buNone/>
            </a:pPr>
            <a:r>
              <a:t/>
            </a:r>
            <a:endParaRPr sz="1100"/>
          </a:p>
        </p:txBody>
      </p:sp>
      <p:sp>
        <p:nvSpPr>
          <p:cNvPr id="248" name="Google Shape;248;p21"/>
          <p:cNvSpPr txBox="1"/>
          <p:nvPr>
            <p:ph idx="4" type="body"/>
          </p:nvPr>
        </p:nvSpPr>
        <p:spPr>
          <a:xfrm>
            <a:off x="6174850" y="612901"/>
            <a:ext cx="2217600" cy="367500"/>
          </a:xfrm>
          <a:prstGeom prst="rect">
            <a:avLst/>
          </a:prstGeom>
          <a:noFill/>
          <a:ln>
            <a:noFill/>
          </a:ln>
        </p:spPr>
        <p:txBody>
          <a:bodyPr anchorCtr="0" anchor="t" bIns="0" lIns="0" spcFirstLastPara="1" rIns="0" wrap="square" tIns="0">
            <a:normAutofit/>
          </a:bodyPr>
          <a:lstStyle/>
          <a:p>
            <a:pPr indent="0" lvl="0" marL="0" rtl="0" algn="l">
              <a:lnSpc>
                <a:spcPct val="70000"/>
              </a:lnSpc>
              <a:spcBef>
                <a:spcPts val="0"/>
              </a:spcBef>
              <a:spcAft>
                <a:spcPts val="0"/>
              </a:spcAft>
              <a:buSzPts val="935"/>
              <a:buNone/>
            </a:pPr>
            <a:r>
              <a:rPr lang="ru-RU" sz="1160">
                <a:solidFill>
                  <a:srgbClr val="0F2C68"/>
                </a:solidFill>
              </a:rPr>
              <a:t>13 December 2025</a:t>
            </a:r>
            <a:endParaRPr sz="1160">
              <a:solidFill>
                <a:srgbClr val="0F2C68"/>
              </a:solidFill>
            </a:endParaRPr>
          </a:p>
          <a:p>
            <a:pPr indent="0" lvl="0" marL="0" rtl="0" algn="l">
              <a:lnSpc>
                <a:spcPct val="70000"/>
              </a:lnSpc>
              <a:spcBef>
                <a:spcPts val="0"/>
              </a:spcBef>
              <a:spcAft>
                <a:spcPts val="0"/>
              </a:spcAft>
              <a:buSzPts val="935"/>
              <a:buNone/>
            </a:pPr>
            <a:r>
              <a:t/>
            </a:r>
            <a:endParaRPr sz="1160">
              <a:solidFill>
                <a:srgbClr val="0F2C68"/>
              </a:solidFill>
            </a:endParaRPr>
          </a:p>
          <a:p>
            <a:pPr indent="0" lvl="0" marL="0" marR="0" rtl="0" algn="l">
              <a:lnSpc>
                <a:spcPct val="70000"/>
              </a:lnSpc>
              <a:spcBef>
                <a:spcPts val="0"/>
              </a:spcBef>
              <a:spcAft>
                <a:spcPts val="0"/>
              </a:spcAft>
              <a:buClr>
                <a:srgbClr val="0E2D69"/>
              </a:buClr>
              <a:buSzPts val="1020"/>
              <a:buFont typeface="Arial"/>
              <a:buNone/>
            </a:pPr>
            <a:r>
              <a:t/>
            </a:r>
            <a:endParaRPr sz="650"/>
          </a:p>
        </p:txBody>
      </p:sp>
      <p:sp>
        <p:nvSpPr>
          <p:cNvPr id="249" name="Google Shape;249;p21"/>
          <p:cNvSpPr txBox="1"/>
          <p:nvPr>
            <p:ph idx="1" type="body"/>
          </p:nvPr>
        </p:nvSpPr>
        <p:spPr>
          <a:xfrm>
            <a:off x="585900" y="1856775"/>
            <a:ext cx="4851900" cy="4359000"/>
          </a:xfrm>
          <a:prstGeom prst="rect">
            <a:avLst/>
          </a:prstGeom>
        </p:spPr>
        <p:txBody>
          <a:bodyPr anchorCtr="0" anchor="t" bIns="45700" lIns="0" spcFirstLastPara="1" rIns="0" wrap="square" tIns="0">
            <a:noAutofit/>
          </a:bodyPr>
          <a:lstStyle/>
          <a:p>
            <a:pPr indent="0" lvl="0" marL="0" rtl="0" algn="l">
              <a:spcBef>
                <a:spcPts val="1000"/>
              </a:spcBef>
              <a:spcAft>
                <a:spcPts val="0"/>
              </a:spcAft>
              <a:buNone/>
            </a:pPr>
            <a:r>
              <a:rPr lang="ru-RU" sz="2100">
                <a:solidFill>
                  <a:srgbClr val="000000"/>
                </a:solidFill>
              </a:rPr>
              <a:t>Based on grid search results we trained best model with </a:t>
            </a:r>
            <a:r>
              <a:rPr b="1" lang="ru-RU" sz="2100">
                <a:solidFill>
                  <a:srgbClr val="000000"/>
                </a:solidFill>
              </a:rPr>
              <a:t>F1</a:t>
            </a:r>
            <a:r>
              <a:rPr lang="ru-RU" sz="2100">
                <a:solidFill>
                  <a:srgbClr val="000000"/>
                </a:solidFill>
              </a:rPr>
              <a:t> evaluation metric to ensure </a:t>
            </a:r>
            <a:r>
              <a:rPr lang="ru-RU" sz="2100">
                <a:solidFill>
                  <a:srgbClr val="000000"/>
                </a:solidFill>
              </a:rPr>
              <a:t>absence</a:t>
            </a:r>
            <a:r>
              <a:rPr lang="ru-RU" sz="2100">
                <a:solidFill>
                  <a:srgbClr val="000000"/>
                </a:solidFill>
              </a:rPr>
              <a:t> of </a:t>
            </a:r>
            <a:r>
              <a:rPr b="1" lang="ru-RU" sz="2100">
                <a:solidFill>
                  <a:srgbClr val="000000"/>
                </a:solidFill>
              </a:rPr>
              <a:t>false</a:t>
            </a:r>
            <a:r>
              <a:rPr b="1" lang="ru-RU" sz="2100">
                <a:solidFill>
                  <a:srgbClr val="000000"/>
                </a:solidFill>
              </a:rPr>
              <a:t> positives</a:t>
            </a:r>
            <a:r>
              <a:rPr lang="ru-RU" sz="2100">
                <a:solidFill>
                  <a:srgbClr val="000000"/>
                </a:solidFill>
              </a:rPr>
              <a:t> (better safe than sorry).</a:t>
            </a:r>
            <a:endParaRPr sz="2100">
              <a:solidFill>
                <a:srgbClr val="000000"/>
              </a:solidFill>
            </a:endParaRPr>
          </a:p>
          <a:p>
            <a:pPr indent="0" lvl="0" marL="0" rtl="0" algn="l">
              <a:spcBef>
                <a:spcPts val="1000"/>
              </a:spcBef>
              <a:spcAft>
                <a:spcPts val="0"/>
              </a:spcAft>
              <a:buNone/>
            </a:pPr>
            <a:r>
              <a:rPr lang="ru-RU" sz="2100">
                <a:solidFill>
                  <a:srgbClr val="000000"/>
                </a:solidFill>
              </a:rPr>
              <a:t>Evidentiality</a:t>
            </a:r>
            <a:r>
              <a:rPr lang="ru-RU" sz="2100">
                <a:solidFill>
                  <a:srgbClr val="000000"/>
                </a:solidFill>
              </a:rPr>
              <a:t> in all trials we </a:t>
            </a:r>
            <a:r>
              <a:rPr lang="ru-RU" sz="2100">
                <a:solidFill>
                  <a:srgbClr val="000000"/>
                </a:solidFill>
              </a:rPr>
              <a:t>ended up with what seems </a:t>
            </a:r>
            <a:r>
              <a:rPr b="1" lang="ru-RU" sz="2100">
                <a:solidFill>
                  <a:srgbClr val="000000"/>
                </a:solidFill>
              </a:rPr>
              <a:t>overfitting models</a:t>
            </a:r>
            <a:r>
              <a:rPr lang="ru-RU" sz="2100">
                <a:solidFill>
                  <a:srgbClr val="000000"/>
                </a:solidFill>
              </a:rPr>
              <a:t>. Unfortunately, there’s no room to add artificial variance to combat overfitting. Certainly this is a problem with dataset. Most likely it was </a:t>
            </a:r>
            <a:r>
              <a:rPr b="1" lang="ru-RU" sz="2100">
                <a:solidFill>
                  <a:srgbClr val="000000"/>
                </a:solidFill>
              </a:rPr>
              <a:t>downsampled </a:t>
            </a:r>
            <a:r>
              <a:rPr lang="ru-RU" sz="2100">
                <a:solidFill>
                  <a:srgbClr val="000000"/>
                </a:solidFill>
              </a:rPr>
              <a:t>for better classification tasks which </a:t>
            </a:r>
            <a:r>
              <a:rPr b="1" lang="ru-RU" sz="2100">
                <a:solidFill>
                  <a:srgbClr val="000000"/>
                </a:solidFill>
              </a:rPr>
              <a:t>damaged data’s </a:t>
            </a:r>
            <a:r>
              <a:rPr lang="ru-RU" sz="2100">
                <a:solidFill>
                  <a:srgbClr val="000000"/>
                </a:solidFill>
              </a:rPr>
              <a:t>explanatory value</a:t>
            </a:r>
            <a:endParaRPr sz="2100">
              <a:solidFill>
                <a:srgbClr val="000000"/>
              </a:solidFill>
            </a:endParaRPr>
          </a:p>
        </p:txBody>
      </p:sp>
      <p:pic>
        <p:nvPicPr>
          <p:cNvPr id="250" name="Google Shape;250;p21"/>
          <p:cNvPicPr preferRelativeResize="0"/>
          <p:nvPr/>
        </p:nvPicPr>
        <p:blipFill>
          <a:blip r:embed="rId3">
            <a:alphaModFix/>
          </a:blip>
          <a:stretch>
            <a:fillRect/>
          </a:stretch>
        </p:blipFill>
        <p:spPr>
          <a:xfrm>
            <a:off x="5590200" y="2049507"/>
            <a:ext cx="6325501" cy="4656092"/>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22"/>
          <p:cNvSpPr txBox="1"/>
          <p:nvPr>
            <p:ph idx="3" type="body"/>
          </p:nvPr>
        </p:nvSpPr>
        <p:spPr>
          <a:xfrm>
            <a:off x="1143689" y="540904"/>
            <a:ext cx="1901700" cy="415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ru-RU" sz="1100">
                <a:solidFill>
                  <a:srgbClr val="0F2C68"/>
                </a:solidFill>
              </a:rPr>
              <a:t>National Research University Higher School of Economics</a:t>
            </a:r>
            <a:endParaRPr sz="1100">
              <a:solidFill>
                <a:srgbClr val="0F2C68"/>
              </a:solidFill>
            </a:endParaRPr>
          </a:p>
          <a:p>
            <a:pPr indent="0" lvl="0" marL="0" rtl="0" algn="l">
              <a:spcBef>
                <a:spcPts val="0"/>
              </a:spcBef>
              <a:spcAft>
                <a:spcPts val="0"/>
              </a:spcAft>
              <a:buNone/>
            </a:pPr>
            <a:r>
              <a:t/>
            </a:r>
            <a:endParaRPr sz="1100">
              <a:solidFill>
                <a:srgbClr val="0F2C68"/>
              </a:solidFill>
            </a:endParaRPr>
          </a:p>
          <a:p>
            <a:pPr indent="0" lvl="0" marL="0" rtl="0" algn="l">
              <a:spcBef>
                <a:spcPts val="0"/>
              </a:spcBef>
              <a:spcAft>
                <a:spcPts val="0"/>
              </a:spcAft>
              <a:buClr>
                <a:schemeClr val="dk1"/>
              </a:buClr>
              <a:buSzPts val="1600"/>
              <a:buFont typeface="Arial"/>
              <a:buNone/>
            </a:pPr>
            <a:r>
              <a:t/>
            </a:r>
            <a:endParaRPr sz="1100">
              <a:solidFill>
                <a:srgbClr val="000000"/>
              </a:solidFill>
            </a:endParaRPr>
          </a:p>
          <a:p>
            <a:pPr indent="0" lvl="0" marL="0" marR="0" rtl="0" algn="l">
              <a:lnSpc>
                <a:spcPct val="100000"/>
              </a:lnSpc>
              <a:spcBef>
                <a:spcPts val="0"/>
              </a:spcBef>
              <a:spcAft>
                <a:spcPts val="0"/>
              </a:spcAft>
              <a:buClr>
                <a:schemeClr val="dk1"/>
              </a:buClr>
              <a:buSzPts val="1000"/>
              <a:buFont typeface="Arial"/>
              <a:buNone/>
            </a:pPr>
            <a:r>
              <a:t/>
            </a:r>
            <a:endParaRPr sz="700"/>
          </a:p>
        </p:txBody>
      </p:sp>
      <p:sp>
        <p:nvSpPr>
          <p:cNvPr id="256" name="Google Shape;256;p22"/>
          <p:cNvSpPr txBox="1"/>
          <p:nvPr>
            <p:ph idx="4" type="body"/>
          </p:nvPr>
        </p:nvSpPr>
        <p:spPr>
          <a:xfrm>
            <a:off x="3459163" y="548720"/>
            <a:ext cx="2070000" cy="408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E2D69"/>
              </a:buClr>
              <a:buSzPts val="1200"/>
              <a:buFont typeface="Arial"/>
              <a:buNone/>
            </a:pPr>
            <a:r>
              <a:rPr lang="ru-RU" sz="1100"/>
              <a:t>Data analysis and mining</a:t>
            </a:r>
            <a:endParaRPr sz="1100"/>
          </a:p>
          <a:p>
            <a:pPr indent="0" lvl="0" marL="0" rtl="0" algn="l">
              <a:spcBef>
                <a:spcPts val="0"/>
              </a:spcBef>
              <a:spcAft>
                <a:spcPts val="0"/>
              </a:spcAft>
              <a:buClr>
                <a:srgbClr val="0E2D69"/>
              </a:buClr>
              <a:buSzPts val="1200"/>
              <a:buFont typeface="Arial"/>
              <a:buNone/>
            </a:pPr>
            <a:r>
              <a:t/>
            </a:r>
            <a:endParaRPr sz="1100"/>
          </a:p>
          <a:p>
            <a:pPr indent="0" lvl="0" marL="0" rtl="0" algn="l">
              <a:lnSpc>
                <a:spcPct val="100000"/>
              </a:lnSpc>
              <a:spcBef>
                <a:spcPts val="0"/>
              </a:spcBef>
              <a:spcAft>
                <a:spcPts val="0"/>
              </a:spcAft>
              <a:buClr>
                <a:srgbClr val="0E2D69"/>
              </a:buClr>
              <a:buSzPts val="1000"/>
              <a:buNone/>
            </a:pPr>
            <a:r>
              <a:t/>
            </a:r>
            <a:endParaRPr sz="1100"/>
          </a:p>
        </p:txBody>
      </p:sp>
      <p:sp>
        <p:nvSpPr>
          <p:cNvPr id="257" name="Google Shape;257;p22"/>
          <p:cNvSpPr txBox="1"/>
          <p:nvPr>
            <p:ph idx="4" type="body"/>
          </p:nvPr>
        </p:nvSpPr>
        <p:spPr>
          <a:xfrm>
            <a:off x="6174850" y="612901"/>
            <a:ext cx="2217600" cy="367500"/>
          </a:xfrm>
          <a:prstGeom prst="rect">
            <a:avLst/>
          </a:prstGeom>
          <a:noFill/>
          <a:ln>
            <a:noFill/>
          </a:ln>
        </p:spPr>
        <p:txBody>
          <a:bodyPr anchorCtr="0" anchor="t" bIns="0" lIns="0" spcFirstLastPara="1" rIns="0" wrap="square" tIns="0">
            <a:normAutofit/>
          </a:bodyPr>
          <a:lstStyle/>
          <a:p>
            <a:pPr indent="0" lvl="0" marL="0" rtl="0" algn="l">
              <a:lnSpc>
                <a:spcPct val="70000"/>
              </a:lnSpc>
              <a:spcBef>
                <a:spcPts val="0"/>
              </a:spcBef>
              <a:spcAft>
                <a:spcPts val="0"/>
              </a:spcAft>
              <a:buSzPts val="935"/>
              <a:buNone/>
            </a:pPr>
            <a:r>
              <a:rPr lang="ru-RU" sz="1160">
                <a:solidFill>
                  <a:srgbClr val="0F2C68"/>
                </a:solidFill>
              </a:rPr>
              <a:t>13 December 2025</a:t>
            </a:r>
            <a:endParaRPr sz="1160">
              <a:solidFill>
                <a:srgbClr val="0F2C68"/>
              </a:solidFill>
            </a:endParaRPr>
          </a:p>
          <a:p>
            <a:pPr indent="0" lvl="0" marL="0" rtl="0" algn="l">
              <a:lnSpc>
                <a:spcPct val="70000"/>
              </a:lnSpc>
              <a:spcBef>
                <a:spcPts val="0"/>
              </a:spcBef>
              <a:spcAft>
                <a:spcPts val="0"/>
              </a:spcAft>
              <a:buSzPts val="935"/>
              <a:buNone/>
            </a:pPr>
            <a:r>
              <a:t/>
            </a:r>
            <a:endParaRPr sz="1160">
              <a:solidFill>
                <a:srgbClr val="0F2C68"/>
              </a:solidFill>
            </a:endParaRPr>
          </a:p>
          <a:p>
            <a:pPr indent="0" lvl="0" marL="0" marR="0" rtl="0" algn="l">
              <a:lnSpc>
                <a:spcPct val="70000"/>
              </a:lnSpc>
              <a:spcBef>
                <a:spcPts val="0"/>
              </a:spcBef>
              <a:spcAft>
                <a:spcPts val="0"/>
              </a:spcAft>
              <a:buClr>
                <a:srgbClr val="0E2D69"/>
              </a:buClr>
              <a:buSzPts val="1020"/>
              <a:buFont typeface="Arial"/>
              <a:buNone/>
            </a:pPr>
            <a:r>
              <a:t/>
            </a:r>
            <a:endParaRPr sz="650"/>
          </a:p>
        </p:txBody>
      </p:sp>
      <p:pic>
        <p:nvPicPr>
          <p:cNvPr id="258" name="Google Shape;258;p22"/>
          <p:cNvPicPr preferRelativeResize="0"/>
          <p:nvPr/>
        </p:nvPicPr>
        <p:blipFill rotWithShape="1">
          <a:blip r:embed="rId3">
            <a:alphaModFix/>
          </a:blip>
          <a:srcRect b="0" l="0" r="1341" t="0"/>
          <a:stretch/>
        </p:blipFill>
        <p:spPr>
          <a:xfrm>
            <a:off x="304800" y="1048400"/>
            <a:ext cx="9509575" cy="5558826"/>
          </a:xfrm>
          <a:prstGeom prst="rect">
            <a:avLst/>
          </a:prstGeom>
          <a:noFill/>
          <a:ln>
            <a:noFill/>
          </a:ln>
        </p:spPr>
      </p:pic>
      <p:sp>
        <p:nvSpPr>
          <p:cNvPr id="259" name="Google Shape;259;p22"/>
          <p:cNvSpPr txBox="1"/>
          <p:nvPr>
            <p:ph idx="1" type="body"/>
          </p:nvPr>
        </p:nvSpPr>
        <p:spPr>
          <a:xfrm>
            <a:off x="7113600" y="1755325"/>
            <a:ext cx="4603200" cy="4659000"/>
          </a:xfrm>
          <a:prstGeom prst="rect">
            <a:avLst/>
          </a:prstGeom>
        </p:spPr>
        <p:txBody>
          <a:bodyPr anchorCtr="0" anchor="ctr" bIns="45700" lIns="0" spcFirstLastPara="1" rIns="0" wrap="square" tIns="0">
            <a:noAutofit/>
          </a:bodyPr>
          <a:lstStyle/>
          <a:p>
            <a:pPr indent="0" lvl="0" marL="0" rtl="0" algn="r">
              <a:spcBef>
                <a:spcPts val="1000"/>
              </a:spcBef>
              <a:spcAft>
                <a:spcPts val="0"/>
              </a:spcAft>
              <a:buNone/>
            </a:pPr>
            <a:r>
              <a:rPr i="1" lang="ru-RU" sz="2000">
                <a:solidFill>
                  <a:schemeClr val="dk1"/>
                </a:solidFill>
              </a:rPr>
              <a:t>Fortunately best fit </a:t>
            </a:r>
            <a:r>
              <a:rPr i="1" lang="ru-RU" sz="2000">
                <a:solidFill>
                  <a:schemeClr val="dk1"/>
                </a:solidFill>
              </a:rPr>
              <a:t>usually</a:t>
            </a:r>
            <a:r>
              <a:rPr i="1" lang="ru-RU" sz="2000">
                <a:solidFill>
                  <a:schemeClr val="dk1"/>
                </a:solidFill>
              </a:rPr>
              <a:t> explains all the variance. In case of CatBoost we have gotten feature importance for each </a:t>
            </a:r>
            <a:r>
              <a:rPr i="1" lang="ru-RU" sz="2000">
                <a:solidFill>
                  <a:schemeClr val="dk1"/>
                </a:solidFill>
              </a:rPr>
              <a:t>predictor. Based on these features we can now analyse </a:t>
            </a:r>
            <a:r>
              <a:rPr b="1" i="1" lang="ru-RU" sz="2000">
                <a:solidFill>
                  <a:schemeClr val="dk1"/>
                </a:solidFill>
              </a:rPr>
              <a:t>importance </a:t>
            </a:r>
            <a:r>
              <a:rPr i="1" lang="ru-RU" sz="2000">
                <a:solidFill>
                  <a:schemeClr val="dk1"/>
                </a:solidFill>
              </a:rPr>
              <a:t>of variables as </a:t>
            </a:r>
            <a:r>
              <a:rPr b="1" i="1" lang="ru-RU" sz="2000">
                <a:solidFill>
                  <a:schemeClr val="dk1"/>
                </a:solidFill>
              </a:rPr>
              <a:t>metrics </a:t>
            </a:r>
            <a:r>
              <a:rPr i="1" lang="ru-RU" sz="2000">
                <a:solidFill>
                  <a:schemeClr val="dk1"/>
                </a:solidFill>
              </a:rPr>
              <a:t>or </a:t>
            </a:r>
            <a:r>
              <a:rPr b="1" i="1" lang="ru-RU" sz="2000">
                <a:solidFill>
                  <a:schemeClr val="dk1"/>
                </a:solidFill>
              </a:rPr>
              <a:t>causes </a:t>
            </a:r>
            <a:r>
              <a:rPr i="1" lang="ru-RU" sz="2000">
                <a:solidFill>
                  <a:schemeClr val="dk1"/>
                </a:solidFill>
              </a:rPr>
              <a:t>of aging outcomes</a:t>
            </a:r>
            <a:endParaRPr i="1" sz="200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p23"/>
          <p:cNvSpPr txBox="1"/>
          <p:nvPr>
            <p:ph type="title"/>
          </p:nvPr>
        </p:nvSpPr>
        <p:spPr>
          <a:xfrm>
            <a:off x="390775" y="1270000"/>
            <a:ext cx="7602900" cy="917400"/>
          </a:xfrm>
          <a:prstGeom prst="rect">
            <a:avLst/>
          </a:prstGeom>
          <a:noFill/>
          <a:ln>
            <a:noFill/>
          </a:ln>
        </p:spPr>
        <p:txBody>
          <a:bodyPr anchorCtr="0" anchor="t" bIns="0" lIns="0" spcFirstLastPara="1" rIns="0" wrap="square" tIns="0">
            <a:normAutofit/>
          </a:bodyPr>
          <a:lstStyle/>
          <a:p>
            <a:pPr indent="0" lvl="0" marL="0" rtl="0" algn="l">
              <a:lnSpc>
                <a:spcPct val="100000"/>
              </a:lnSpc>
              <a:spcBef>
                <a:spcPts val="0"/>
              </a:spcBef>
              <a:spcAft>
                <a:spcPts val="0"/>
              </a:spcAft>
              <a:buClr>
                <a:schemeClr val="dk1"/>
              </a:buClr>
              <a:buSzPts val="2400"/>
              <a:buFont typeface="Arial"/>
              <a:buNone/>
            </a:pPr>
            <a:r>
              <a:rPr b="1" lang="ru-RU" sz="2900"/>
              <a:t>Memory</a:t>
            </a:r>
            <a:r>
              <a:rPr b="1" lang="ru-RU" sz="2900"/>
              <a:t> score: the most reliable metric</a:t>
            </a:r>
            <a:endParaRPr b="1" sz="2900"/>
          </a:p>
        </p:txBody>
      </p:sp>
      <p:sp>
        <p:nvSpPr>
          <p:cNvPr id="265" name="Google Shape;265;p23"/>
          <p:cNvSpPr txBox="1"/>
          <p:nvPr>
            <p:ph idx="3" type="body"/>
          </p:nvPr>
        </p:nvSpPr>
        <p:spPr>
          <a:xfrm>
            <a:off x="1143689" y="540904"/>
            <a:ext cx="1901700" cy="415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ru-RU" sz="1100">
                <a:solidFill>
                  <a:srgbClr val="0F2C68"/>
                </a:solidFill>
              </a:rPr>
              <a:t>National Research University Higher School of Economics</a:t>
            </a:r>
            <a:endParaRPr sz="1100">
              <a:solidFill>
                <a:srgbClr val="0F2C68"/>
              </a:solidFill>
            </a:endParaRPr>
          </a:p>
          <a:p>
            <a:pPr indent="0" lvl="0" marL="0" rtl="0" algn="l">
              <a:spcBef>
                <a:spcPts val="0"/>
              </a:spcBef>
              <a:spcAft>
                <a:spcPts val="0"/>
              </a:spcAft>
              <a:buNone/>
            </a:pPr>
            <a:r>
              <a:t/>
            </a:r>
            <a:endParaRPr sz="1100">
              <a:solidFill>
                <a:srgbClr val="0F2C68"/>
              </a:solidFill>
            </a:endParaRPr>
          </a:p>
          <a:p>
            <a:pPr indent="0" lvl="0" marL="0" rtl="0" algn="l">
              <a:spcBef>
                <a:spcPts val="0"/>
              </a:spcBef>
              <a:spcAft>
                <a:spcPts val="0"/>
              </a:spcAft>
              <a:buClr>
                <a:schemeClr val="dk1"/>
              </a:buClr>
              <a:buSzPts val="1600"/>
              <a:buFont typeface="Arial"/>
              <a:buNone/>
            </a:pPr>
            <a:r>
              <a:t/>
            </a:r>
            <a:endParaRPr sz="1100">
              <a:solidFill>
                <a:srgbClr val="000000"/>
              </a:solidFill>
            </a:endParaRPr>
          </a:p>
          <a:p>
            <a:pPr indent="0" lvl="0" marL="0" marR="0" rtl="0" algn="l">
              <a:lnSpc>
                <a:spcPct val="100000"/>
              </a:lnSpc>
              <a:spcBef>
                <a:spcPts val="0"/>
              </a:spcBef>
              <a:spcAft>
                <a:spcPts val="0"/>
              </a:spcAft>
              <a:buClr>
                <a:schemeClr val="dk1"/>
              </a:buClr>
              <a:buSzPts val="1000"/>
              <a:buFont typeface="Arial"/>
              <a:buNone/>
            </a:pPr>
            <a:r>
              <a:t/>
            </a:r>
            <a:endParaRPr sz="700"/>
          </a:p>
        </p:txBody>
      </p:sp>
      <p:sp>
        <p:nvSpPr>
          <p:cNvPr id="266" name="Google Shape;266;p23"/>
          <p:cNvSpPr txBox="1"/>
          <p:nvPr>
            <p:ph idx="4" type="body"/>
          </p:nvPr>
        </p:nvSpPr>
        <p:spPr>
          <a:xfrm>
            <a:off x="3459163" y="548720"/>
            <a:ext cx="2070000" cy="408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E2D69"/>
              </a:buClr>
              <a:buSzPts val="1200"/>
              <a:buFont typeface="Arial"/>
              <a:buNone/>
            </a:pPr>
            <a:r>
              <a:rPr lang="ru-RU" sz="1100"/>
              <a:t>Data analysis and mining</a:t>
            </a:r>
            <a:endParaRPr sz="1100"/>
          </a:p>
          <a:p>
            <a:pPr indent="0" lvl="0" marL="0" rtl="0" algn="l">
              <a:spcBef>
                <a:spcPts val="0"/>
              </a:spcBef>
              <a:spcAft>
                <a:spcPts val="0"/>
              </a:spcAft>
              <a:buClr>
                <a:srgbClr val="0E2D69"/>
              </a:buClr>
              <a:buSzPts val="1200"/>
              <a:buFont typeface="Arial"/>
              <a:buNone/>
            </a:pPr>
            <a:r>
              <a:t/>
            </a:r>
            <a:endParaRPr sz="1100"/>
          </a:p>
          <a:p>
            <a:pPr indent="0" lvl="0" marL="0" rtl="0" algn="l">
              <a:lnSpc>
                <a:spcPct val="100000"/>
              </a:lnSpc>
              <a:spcBef>
                <a:spcPts val="0"/>
              </a:spcBef>
              <a:spcAft>
                <a:spcPts val="0"/>
              </a:spcAft>
              <a:buClr>
                <a:srgbClr val="0E2D69"/>
              </a:buClr>
              <a:buSzPts val="1000"/>
              <a:buNone/>
            </a:pPr>
            <a:r>
              <a:t/>
            </a:r>
            <a:endParaRPr sz="1100"/>
          </a:p>
        </p:txBody>
      </p:sp>
      <p:sp>
        <p:nvSpPr>
          <p:cNvPr id="267" name="Google Shape;267;p23"/>
          <p:cNvSpPr txBox="1"/>
          <p:nvPr>
            <p:ph idx="4" type="body"/>
          </p:nvPr>
        </p:nvSpPr>
        <p:spPr>
          <a:xfrm>
            <a:off x="6174850" y="612901"/>
            <a:ext cx="2217600" cy="367500"/>
          </a:xfrm>
          <a:prstGeom prst="rect">
            <a:avLst/>
          </a:prstGeom>
          <a:noFill/>
          <a:ln>
            <a:noFill/>
          </a:ln>
        </p:spPr>
        <p:txBody>
          <a:bodyPr anchorCtr="0" anchor="t" bIns="0" lIns="0" spcFirstLastPara="1" rIns="0" wrap="square" tIns="0">
            <a:normAutofit/>
          </a:bodyPr>
          <a:lstStyle/>
          <a:p>
            <a:pPr indent="0" lvl="0" marL="0" rtl="0" algn="l">
              <a:lnSpc>
                <a:spcPct val="70000"/>
              </a:lnSpc>
              <a:spcBef>
                <a:spcPts val="0"/>
              </a:spcBef>
              <a:spcAft>
                <a:spcPts val="0"/>
              </a:spcAft>
              <a:buSzPts val="935"/>
              <a:buNone/>
            </a:pPr>
            <a:r>
              <a:rPr lang="ru-RU" sz="1160">
                <a:solidFill>
                  <a:srgbClr val="0F2C68"/>
                </a:solidFill>
              </a:rPr>
              <a:t>13 December 2025</a:t>
            </a:r>
            <a:endParaRPr sz="1160">
              <a:solidFill>
                <a:srgbClr val="0F2C68"/>
              </a:solidFill>
            </a:endParaRPr>
          </a:p>
          <a:p>
            <a:pPr indent="0" lvl="0" marL="0" rtl="0" algn="l">
              <a:lnSpc>
                <a:spcPct val="70000"/>
              </a:lnSpc>
              <a:spcBef>
                <a:spcPts val="0"/>
              </a:spcBef>
              <a:spcAft>
                <a:spcPts val="0"/>
              </a:spcAft>
              <a:buSzPts val="935"/>
              <a:buNone/>
            </a:pPr>
            <a:r>
              <a:t/>
            </a:r>
            <a:endParaRPr sz="1160">
              <a:solidFill>
                <a:srgbClr val="0F2C68"/>
              </a:solidFill>
            </a:endParaRPr>
          </a:p>
          <a:p>
            <a:pPr indent="0" lvl="0" marL="0" marR="0" rtl="0" algn="l">
              <a:lnSpc>
                <a:spcPct val="70000"/>
              </a:lnSpc>
              <a:spcBef>
                <a:spcPts val="0"/>
              </a:spcBef>
              <a:spcAft>
                <a:spcPts val="0"/>
              </a:spcAft>
              <a:buClr>
                <a:srgbClr val="0E2D69"/>
              </a:buClr>
              <a:buSzPts val="1020"/>
              <a:buFont typeface="Arial"/>
              <a:buNone/>
            </a:pPr>
            <a:r>
              <a:t/>
            </a:r>
            <a:endParaRPr sz="650"/>
          </a:p>
        </p:txBody>
      </p:sp>
      <p:sp>
        <p:nvSpPr>
          <p:cNvPr id="268" name="Google Shape;268;p23"/>
          <p:cNvSpPr txBox="1"/>
          <p:nvPr>
            <p:ph idx="1" type="body"/>
          </p:nvPr>
        </p:nvSpPr>
        <p:spPr>
          <a:xfrm>
            <a:off x="7692350" y="2037625"/>
            <a:ext cx="3899700" cy="2073600"/>
          </a:xfrm>
          <a:prstGeom prst="rect">
            <a:avLst/>
          </a:prstGeom>
        </p:spPr>
        <p:txBody>
          <a:bodyPr anchorCtr="0" anchor="t" bIns="45700" lIns="0" spcFirstLastPara="1" rIns="0" wrap="square" tIns="0">
            <a:noAutofit/>
          </a:bodyPr>
          <a:lstStyle/>
          <a:p>
            <a:pPr indent="0" lvl="0" marL="0" rtl="0" algn="l">
              <a:spcBef>
                <a:spcPts val="1000"/>
              </a:spcBef>
              <a:spcAft>
                <a:spcPts val="0"/>
              </a:spcAft>
              <a:buNone/>
            </a:pPr>
            <a:r>
              <a:rPr lang="ru-RU" sz="2100">
                <a:solidFill>
                  <a:srgbClr val="000000"/>
                </a:solidFill>
              </a:rPr>
              <a:t>In order to examine differences between </a:t>
            </a:r>
            <a:r>
              <a:rPr lang="ru-RU" sz="2100">
                <a:solidFill>
                  <a:srgbClr val="000000"/>
                </a:solidFill>
              </a:rPr>
              <a:t>groups</a:t>
            </a:r>
            <a:r>
              <a:rPr lang="ru-RU" sz="2100">
                <a:solidFill>
                  <a:srgbClr val="000000"/>
                </a:solidFill>
              </a:rPr>
              <a:t> we opted to </a:t>
            </a:r>
            <a:r>
              <a:rPr b="1" lang="ru-RU" sz="2100">
                <a:solidFill>
                  <a:srgbClr val="000000"/>
                </a:solidFill>
              </a:rPr>
              <a:t>ANOVA. </a:t>
            </a:r>
            <a:r>
              <a:rPr lang="ru-RU" sz="2100">
                <a:solidFill>
                  <a:srgbClr val="000000"/>
                </a:solidFill>
              </a:rPr>
              <a:t>As this test is parametric and MS is almost normally distributed</a:t>
            </a:r>
            <a:endParaRPr sz="2100">
              <a:solidFill>
                <a:srgbClr val="000000"/>
              </a:solidFill>
            </a:endParaRPr>
          </a:p>
        </p:txBody>
      </p:sp>
      <p:pic>
        <p:nvPicPr>
          <p:cNvPr id="269" name="Google Shape;269;p23"/>
          <p:cNvPicPr preferRelativeResize="0"/>
          <p:nvPr/>
        </p:nvPicPr>
        <p:blipFill>
          <a:blip r:embed="rId3">
            <a:alphaModFix/>
          </a:blip>
          <a:stretch>
            <a:fillRect/>
          </a:stretch>
        </p:blipFill>
        <p:spPr>
          <a:xfrm>
            <a:off x="7584575" y="4219925"/>
            <a:ext cx="4273600" cy="2122550"/>
          </a:xfrm>
          <a:prstGeom prst="rect">
            <a:avLst/>
          </a:prstGeom>
          <a:noFill/>
          <a:ln>
            <a:noFill/>
          </a:ln>
        </p:spPr>
      </p:pic>
      <p:pic>
        <p:nvPicPr>
          <p:cNvPr id="270" name="Google Shape;270;p23"/>
          <p:cNvPicPr preferRelativeResize="0"/>
          <p:nvPr/>
        </p:nvPicPr>
        <p:blipFill>
          <a:blip r:embed="rId4">
            <a:alphaModFix/>
          </a:blip>
          <a:stretch>
            <a:fillRect/>
          </a:stretch>
        </p:blipFill>
        <p:spPr>
          <a:xfrm>
            <a:off x="293550" y="2477000"/>
            <a:ext cx="7025026" cy="272046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24"/>
          <p:cNvSpPr txBox="1"/>
          <p:nvPr>
            <p:ph type="title"/>
          </p:nvPr>
        </p:nvSpPr>
        <p:spPr>
          <a:xfrm>
            <a:off x="5838825" y="1045077"/>
            <a:ext cx="6057900" cy="1125000"/>
          </a:xfrm>
          <a:prstGeom prst="rect">
            <a:avLst/>
          </a:prstGeom>
          <a:noFill/>
          <a:ln>
            <a:noFill/>
          </a:ln>
        </p:spPr>
        <p:txBody>
          <a:bodyPr anchorCtr="0" anchor="t" bIns="0" lIns="0" spcFirstLastPara="1" rIns="0" wrap="square" tIns="0">
            <a:normAutofit/>
          </a:bodyPr>
          <a:lstStyle/>
          <a:p>
            <a:pPr indent="0" lvl="0" marL="0" rtl="0" algn="l">
              <a:lnSpc>
                <a:spcPct val="100000"/>
              </a:lnSpc>
              <a:spcBef>
                <a:spcPts val="0"/>
              </a:spcBef>
              <a:spcAft>
                <a:spcPts val="0"/>
              </a:spcAft>
              <a:buClr>
                <a:schemeClr val="dk1"/>
              </a:buClr>
              <a:buSzPts val="2400"/>
              <a:buFont typeface="Arial"/>
              <a:buNone/>
            </a:pPr>
            <a:r>
              <a:rPr b="1" lang="ru-RU" sz="2500"/>
              <a:t>Memory score: not much of a “healthy”</a:t>
            </a:r>
            <a:endParaRPr b="1" sz="2500"/>
          </a:p>
        </p:txBody>
      </p:sp>
      <p:sp>
        <p:nvSpPr>
          <p:cNvPr id="276" name="Google Shape;276;p24"/>
          <p:cNvSpPr txBox="1"/>
          <p:nvPr>
            <p:ph idx="3" type="body"/>
          </p:nvPr>
        </p:nvSpPr>
        <p:spPr>
          <a:xfrm>
            <a:off x="1143689" y="540904"/>
            <a:ext cx="1901700" cy="415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ru-RU" sz="1100">
                <a:solidFill>
                  <a:srgbClr val="0F2C68"/>
                </a:solidFill>
              </a:rPr>
              <a:t>National Research University Higher School of Economics</a:t>
            </a:r>
            <a:endParaRPr sz="1100">
              <a:solidFill>
                <a:srgbClr val="0F2C68"/>
              </a:solidFill>
            </a:endParaRPr>
          </a:p>
          <a:p>
            <a:pPr indent="0" lvl="0" marL="0" rtl="0" algn="l">
              <a:spcBef>
                <a:spcPts val="0"/>
              </a:spcBef>
              <a:spcAft>
                <a:spcPts val="0"/>
              </a:spcAft>
              <a:buNone/>
            </a:pPr>
            <a:r>
              <a:t/>
            </a:r>
            <a:endParaRPr sz="1100">
              <a:solidFill>
                <a:srgbClr val="0F2C68"/>
              </a:solidFill>
            </a:endParaRPr>
          </a:p>
          <a:p>
            <a:pPr indent="0" lvl="0" marL="0" rtl="0" algn="l">
              <a:spcBef>
                <a:spcPts val="0"/>
              </a:spcBef>
              <a:spcAft>
                <a:spcPts val="0"/>
              </a:spcAft>
              <a:buClr>
                <a:schemeClr val="dk1"/>
              </a:buClr>
              <a:buSzPts val="1600"/>
              <a:buFont typeface="Arial"/>
              <a:buNone/>
            </a:pPr>
            <a:r>
              <a:t/>
            </a:r>
            <a:endParaRPr sz="1100">
              <a:solidFill>
                <a:srgbClr val="000000"/>
              </a:solidFill>
            </a:endParaRPr>
          </a:p>
          <a:p>
            <a:pPr indent="0" lvl="0" marL="0" marR="0" rtl="0" algn="l">
              <a:lnSpc>
                <a:spcPct val="100000"/>
              </a:lnSpc>
              <a:spcBef>
                <a:spcPts val="0"/>
              </a:spcBef>
              <a:spcAft>
                <a:spcPts val="0"/>
              </a:spcAft>
              <a:buClr>
                <a:schemeClr val="dk1"/>
              </a:buClr>
              <a:buSzPts val="1000"/>
              <a:buFont typeface="Arial"/>
              <a:buNone/>
            </a:pPr>
            <a:r>
              <a:t/>
            </a:r>
            <a:endParaRPr sz="700"/>
          </a:p>
        </p:txBody>
      </p:sp>
      <p:sp>
        <p:nvSpPr>
          <p:cNvPr id="277" name="Google Shape;277;p24"/>
          <p:cNvSpPr txBox="1"/>
          <p:nvPr>
            <p:ph idx="4" type="body"/>
          </p:nvPr>
        </p:nvSpPr>
        <p:spPr>
          <a:xfrm>
            <a:off x="3459163" y="548720"/>
            <a:ext cx="2070000" cy="408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E2D69"/>
              </a:buClr>
              <a:buSzPts val="1200"/>
              <a:buFont typeface="Arial"/>
              <a:buNone/>
            </a:pPr>
            <a:r>
              <a:rPr lang="ru-RU" sz="1100"/>
              <a:t>Data analysis and mining</a:t>
            </a:r>
            <a:endParaRPr sz="1100"/>
          </a:p>
          <a:p>
            <a:pPr indent="0" lvl="0" marL="0" rtl="0" algn="l">
              <a:spcBef>
                <a:spcPts val="0"/>
              </a:spcBef>
              <a:spcAft>
                <a:spcPts val="0"/>
              </a:spcAft>
              <a:buClr>
                <a:srgbClr val="0E2D69"/>
              </a:buClr>
              <a:buSzPts val="1200"/>
              <a:buFont typeface="Arial"/>
              <a:buNone/>
            </a:pPr>
            <a:r>
              <a:t/>
            </a:r>
            <a:endParaRPr sz="1100"/>
          </a:p>
          <a:p>
            <a:pPr indent="0" lvl="0" marL="0" rtl="0" algn="l">
              <a:lnSpc>
                <a:spcPct val="100000"/>
              </a:lnSpc>
              <a:spcBef>
                <a:spcPts val="0"/>
              </a:spcBef>
              <a:spcAft>
                <a:spcPts val="0"/>
              </a:spcAft>
              <a:buClr>
                <a:srgbClr val="0E2D69"/>
              </a:buClr>
              <a:buSzPts val="1000"/>
              <a:buNone/>
            </a:pPr>
            <a:r>
              <a:t/>
            </a:r>
            <a:endParaRPr sz="1100"/>
          </a:p>
        </p:txBody>
      </p:sp>
      <p:sp>
        <p:nvSpPr>
          <p:cNvPr id="278" name="Google Shape;278;p24"/>
          <p:cNvSpPr txBox="1"/>
          <p:nvPr>
            <p:ph idx="4" type="body"/>
          </p:nvPr>
        </p:nvSpPr>
        <p:spPr>
          <a:xfrm>
            <a:off x="6174850" y="612901"/>
            <a:ext cx="2217600" cy="367500"/>
          </a:xfrm>
          <a:prstGeom prst="rect">
            <a:avLst/>
          </a:prstGeom>
          <a:noFill/>
          <a:ln>
            <a:noFill/>
          </a:ln>
        </p:spPr>
        <p:txBody>
          <a:bodyPr anchorCtr="0" anchor="t" bIns="0" lIns="0" spcFirstLastPara="1" rIns="0" wrap="square" tIns="0">
            <a:normAutofit/>
          </a:bodyPr>
          <a:lstStyle/>
          <a:p>
            <a:pPr indent="0" lvl="0" marL="0" rtl="0" algn="l">
              <a:lnSpc>
                <a:spcPct val="70000"/>
              </a:lnSpc>
              <a:spcBef>
                <a:spcPts val="0"/>
              </a:spcBef>
              <a:spcAft>
                <a:spcPts val="0"/>
              </a:spcAft>
              <a:buSzPts val="935"/>
              <a:buNone/>
            </a:pPr>
            <a:r>
              <a:rPr lang="ru-RU" sz="1160">
                <a:solidFill>
                  <a:srgbClr val="0F2C68"/>
                </a:solidFill>
              </a:rPr>
              <a:t>13 December 2025</a:t>
            </a:r>
            <a:endParaRPr sz="1160">
              <a:solidFill>
                <a:srgbClr val="0F2C68"/>
              </a:solidFill>
            </a:endParaRPr>
          </a:p>
          <a:p>
            <a:pPr indent="0" lvl="0" marL="0" rtl="0" algn="l">
              <a:lnSpc>
                <a:spcPct val="70000"/>
              </a:lnSpc>
              <a:spcBef>
                <a:spcPts val="0"/>
              </a:spcBef>
              <a:spcAft>
                <a:spcPts val="0"/>
              </a:spcAft>
              <a:buSzPts val="935"/>
              <a:buNone/>
            </a:pPr>
            <a:r>
              <a:t/>
            </a:r>
            <a:endParaRPr sz="1160">
              <a:solidFill>
                <a:srgbClr val="0F2C68"/>
              </a:solidFill>
            </a:endParaRPr>
          </a:p>
          <a:p>
            <a:pPr indent="0" lvl="0" marL="0" marR="0" rtl="0" algn="l">
              <a:lnSpc>
                <a:spcPct val="70000"/>
              </a:lnSpc>
              <a:spcBef>
                <a:spcPts val="0"/>
              </a:spcBef>
              <a:spcAft>
                <a:spcPts val="0"/>
              </a:spcAft>
              <a:buClr>
                <a:srgbClr val="0E2D69"/>
              </a:buClr>
              <a:buSzPts val="1020"/>
              <a:buFont typeface="Arial"/>
              <a:buNone/>
            </a:pPr>
            <a:r>
              <a:t/>
            </a:r>
            <a:endParaRPr sz="650"/>
          </a:p>
        </p:txBody>
      </p:sp>
      <p:pic>
        <p:nvPicPr>
          <p:cNvPr id="279" name="Google Shape;279;p24"/>
          <p:cNvPicPr preferRelativeResize="0"/>
          <p:nvPr/>
        </p:nvPicPr>
        <p:blipFill>
          <a:blip r:embed="rId3">
            <a:alphaModFix/>
          </a:blip>
          <a:stretch>
            <a:fillRect/>
          </a:stretch>
        </p:blipFill>
        <p:spPr>
          <a:xfrm>
            <a:off x="635125" y="978300"/>
            <a:ext cx="4608251" cy="1820775"/>
          </a:xfrm>
          <a:prstGeom prst="rect">
            <a:avLst/>
          </a:prstGeom>
          <a:noFill/>
          <a:ln>
            <a:noFill/>
          </a:ln>
        </p:spPr>
      </p:pic>
      <p:pic>
        <p:nvPicPr>
          <p:cNvPr id="280" name="Google Shape;280;p24"/>
          <p:cNvPicPr preferRelativeResize="0"/>
          <p:nvPr/>
        </p:nvPicPr>
        <p:blipFill>
          <a:blip r:embed="rId4">
            <a:alphaModFix/>
          </a:blip>
          <a:stretch>
            <a:fillRect/>
          </a:stretch>
        </p:blipFill>
        <p:spPr>
          <a:xfrm>
            <a:off x="396763" y="2820638"/>
            <a:ext cx="4846624" cy="1947346"/>
          </a:xfrm>
          <a:prstGeom prst="rect">
            <a:avLst/>
          </a:prstGeom>
          <a:noFill/>
          <a:ln>
            <a:noFill/>
          </a:ln>
        </p:spPr>
      </p:pic>
      <p:pic>
        <p:nvPicPr>
          <p:cNvPr id="281" name="Google Shape;281;p24"/>
          <p:cNvPicPr preferRelativeResize="0"/>
          <p:nvPr/>
        </p:nvPicPr>
        <p:blipFill>
          <a:blip r:embed="rId5">
            <a:alphaModFix/>
          </a:blip>
          <a:stretch>
            <a:fillRect/>
          </a:stretch>
        </p:blipFill>
        <p:spPr>
          <a:xfrm>
            <a:off x="396778" y="4767981"/>
            <a:ext cx="4846600" cy="1885047"/>
          </a:xfrm>
          <a:prstGeom prst="rect">
            <a:avLst/>
          </a:prstGeom>
          <a:noFill/>
          <a:ln>
            <a:noFill/>
          </a:ln>
        </p:spPr>
      </p:pic>
      <p:sp>
        <p:nvSpPr>
          <p:cNvPr id="282" name="Google Shape;282;p24"/>
          <p:cNvSpPr txBox="1"/>
          <p:nvPr>
            <p:ph idx="1" type="body"/>
          </p:nvPr>
        </p:nvSpPr>
        <p:spPr>
          <a:xfrm>
            <a:off x="5838825" y="1536000"/>
            <a:ext cx="5748000" cy="1884900"/>
          </a:xfrm>
          <a:prstGeom prst="rect">
            <a:avLst/>
          </a:prstGeom>
        </p:spPr>
        <p:txBody>
          <a:bodyPr anchorCtr="0" anchor="t" bIns="45700" lIns="0" spcFirstLastPara="1" rIns="0" wrap="square" tIns="0">
            <a:noAutofit/>
          </a:bodyPr>
          <a:lstStyle/>
          <a:p>
            <a:pPr indent="0" lvl="0" marL="0" rtl="0" algn="l">
              <a:spcBef>
                <a:spcPts val="1000"/>
              </a:spcBef>
              <a:spcAft>
                <a:spcPts val="0"/>
              </a:spcAft>
              <a:buNone/>
            </a:pPr>
            <a:r>
              <a:rPr lang="ru-RU" sz="1700">
                <a:solidFill>
                  <a:srgbClr val="000000"/>
                </a:solidFill>
              </a:rPr>
              <a:t>Let’s examine distributions of ‘</a:t>
            </a:r>
            <a:r>
              <a:rPr b="1" lang="ru-RU" sz="1700">
                <a:solidFill>
                  <a:srgbClr val="000000"/>
                </a:solidFill>
              </a:rPr>
              <a:t>Healthy</a:t>
            </a:r>
            <a:r>
              <a:rPr lang="ru-RU" sz="1700">
                <a:solidFill>
                  <a:srgbClr val="000000"/>
                </a:solidFill>
              </a:rPr>
              <a:t>’, ‘</a:t>
            </a:r>
            <a:r>
              <a:rPr b="1" lang="ru-RU" sz="1700">
                <a:solidFill>
                  <a:srgbClr val="000000"/>
                </a:solidFill>
              </a:rPr>
              <a:t>At-Rist</a:t>
            </a:r>
            <a:r>
              <a:rPr lang="ru-RU" sz="1700">
                <a:solidFill>
                  <a:srgbClr val="000000"/>
                </a:solidFill>
              </a:rPr>
              <a:t>’, ‘</a:t>
            </a:r>
            <a:r>
              <a:rPr b="1" lang="ru-RU" sz="1700">
                <a:solidFill>
                  <a:srgbClr val="000000"/>
                </a:solidFill>
              </a:rPr>
              <a:t>Frail</a:t>
            </a:r>
            <a:r>
              <a:rPr lang="ru-RU" sz="1700">
                <a:solidFill>
                  <a:srgbClr val="000000"/>
                </a:solidFill>
              </a:rPr>
              <a:t>’. As we can see there’s a severity in distributions. </a:t>
            </a:r>
            <a:r>
              <a:rPr lang="ru-RU" sz="1700">
                <a:solidFill>
                  <a:srgbClr val="000000"/>
                </a:solidFill>
              </a:rPr>
              <a:t>Especially</a:t>
            </a:r>
            <a:r>
              <a:rPr lang="ru-RU" sz="1700">
                <a:solidFill>
                  <a:srgbClr val="000000"/>
                </a:solidFill>
              </a:rPr>
              <a:t> in </a:t>
            </a:r>
            <a:r>
              <a:rPr lang="ru-RU" sz="1700">
                <a:solidFill>
                  <a:srgbClr val="000000"/>
                </a:solidFill>
              </a:rPr>
              <a:t>‘</a:t>
            </a:r>
            <a:r>
              <a:rPr b="1" lang="ru-RU" sz="1700">
                <a:solidFill>
                  <a:srgbClr val="000000"/>
                </a:solidFill>
              </a:rPr>
              <a:t>Healthy</a:t>
            </a:r>
            <a:r>
              <a:rPr lang="ru-RU" sz="1700">
                <a:solidFill>
                  <a:srgbClr val="000000"/>
                </a:solidFill>
              </a:rPr>
              <a:t>’ </a:t>
            </a:r>
            <a:r>
              <a:rPr lang="ru-RU" sz="1700">
                <a:solidFill>
                  <a:srgbClr val="000000"/>
                </a:solidFill>
              </a:rPr>
              <a:t>group. </a:t>
            </a:r>
            <a:r>
              <a:rPr lang="ru-RU" sz="1700">
                <a:solidFill>
                  <a:srgbClr val="000000"/>
                </a:solidFill>
              </a:rPr>
              <a:t>However</a:t>
            </a:r>
            <a:r>
              <a:rPr lang="ru-RU" sz="1700">
                <a:solidFill>
                  <a:srgbClr val="000000"/>
                </a:solidFill>
              </a:rPr>
              <a:t> we continued with ANOVA because there’s other evidence of high differences in MS for groups. Also we assumed that was </a:t>
            </a:r>
            <a:r>
              <a:rPr lang="ru-RU" sz="1700">
                <a:solidFill>
                  <a:srgbClr val="000000"/>
                </a:solidFill>
              </a:rPr>
              <a:t>‘</a:t>
            </a:r>
            <a:r>
              <a:rPr b="1" lang="ru-RU" sz="1700">
                <a:solidFill>
                  <a:srgbClr val="000000"/>
                </a:solidFill>
              </a:rPr>
              <a:t>Healthy</a:t>
            </a:r>
            <a:r>
              <a:rPr lang="ru-RU" sz="1700">
                <a:solidFill>
                  <a:srgbClr val="000000"/>
                </a:solidFill>
              </a:rPr>
              <a:t>’ </a:t>
            </a:r>
            <a:r>
              <a:rPr lang="ru-RU" sz="1700">
                <a:solidFill>
                  <a:srgbClr val="000000"/>
                </a:solidFill>
              </a:rPr>
              <a:t>downsampled with regards to its </a:t>
            </a:r>
            <a:r>
              <a:rPr lang="ru-RU" sz="1700">
                <a:solidFill>
                  <a:srgbClr val="000000"/>
                </a:solidFill>
              </a:rPr>
              <a:t>distribution</a:t>
            </a:r>
            <a:r>
              <a:rPr lang="ru-RU" sz="1700">
                <a:solidFill>
                  <a:srgbClr val="000000"/>
                </a:solidFill>
              </a:rPr>
              <a:t> and its normality</a:t>
            </a:r>
            <a:endParaRPr sz="1700">
              <a:solidFill>
                <a:srgbClr val="000000"/>
              </a:solidFill>
            </a:endParaRPr>
          </a:p>
        </p:txBody>
      </p:sp>
      <p:pic>
        <p:nvPicPr>
          <p:cNvPr id="283" name="Google Shape;283;p24"/>
          <p:cNvPicPr preferRelativeResize="0"/>
          <p:nvPr/>
        </p:nvPicPr>
        <p:blipFill>
          <a:blip r:embed="rId6">
            <a:alphaModFix/>
          </a:blip>
          <a:stretch>
            <a:fillRect/>
          </a:stretch>
        </p:blipFill>
        <p:spPr>
          <a:xfrm>
            <a:off x="5769600" y="3243075"/>
            <a:ext cx="5886450" cy="34099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25"/>
          <p:cNvSpPr txBox="1"/>
          <p:nvPr>
            <p:ph type="title"/>
          </p:nvPr>
        </p:nvSpPr>
        <p:spPr>
          <a:xfrm>
            <a:off x="390775" y="1270000"/>
            <a:ext cx="7602900" cy="917400"/>
          </a:xfrm>
          <a:prstGeom prst="rect">
            <a:avLst/>
          </a:prstGeom>
          <a:noFill/>
          <a:ln>
            <a:noFill/>
          </a:ln>
        </p:spPr>
        <p:txBody>
          <a:bodyPr anchorCtr="0" anchor="t" bIns="0" lIns="0" spcFirstLastPara="1" rIns="0" wrap="square" tIns="0">
            <a:normAutofit/>
          </a:bodyPr>
          <a:lstStyle/>
          <a:p>
            <a:pPr indent="0" lvl="0" marL="0" rtl="0" algn="l">
              <a:lnSpc>
                <a:spcPct val="100000"/>
              </a:lnSpc>
              <a:spcBef>
                <a:spcPts val="0"/>
              </a:spcBef>
              <a:spcAft>
                <a:spcPts val="0"/>
              </a:spcAft>
              <a:buClr>
                <a:schemeClr val="dk1"/>
              </a:buClr>
              <a:buSzPts val="2400"/>
              <a:buFont typeface="Arial"/>
              <a:buNone/>
            </a:pPr>
            <a:r>
              <a:rPr b="1" lang="ru-RU" sz="2900"/>
              <a:t>Memory score: differences in distributions</a:t>
            </a:r>
            <a:endParaRPr b="1" sz="2900"/>
          </a:p>
        </p:txBody>
      </p:sp>
      <p:sp>
        <p:nvSpPr>
          <p:cNvPr id="289" name="Google Shape;289;p25"/>
          <p:cNvSpPr txBox="1"/>
          <p:nvPr>
            <p:ph idx="3" type="body"/>
          </p:nvPr>
        </p:nvSpPr>
        <p:spPr>
          <a:xfrm>
            <a:off x="1143689" y="540904"/>
            <a:ext cx="1901700" cy="415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ru-RU" sz="1100">
                <a:solidFill>
                  <a:srgbClr val="0F2C68"/>
                </a:solidFill>
              </a:rPr>
              <a:t>National Research University Higher School of Economics</a:t>
            </a:r>
            <a:endParaRPr sz="1100">
              <a:solidFill>
                <a:srgbClr val="0F2C68"/>
              </a:solidFill>
            </a:endParaRPr>
          </a:p>
          <a:p>
            <a:pPr indent="0" lvl="0" marL="0" rtl="0" algn="l">
              <a:spcBef>
                <a:spcPts val="0"/>
              </a:spcBef>
              <a:spcAft>
                <a:spcPts val="0"/>
              </a:spcAft>
              <a:buNone/>
            </a:pPr>
            <a:r>
              <a:t/>
            </a:r>
            <a:endParaRPr sz="1100">
              <a:solidFill>
                <a:srgbClr val="0F2C68"/>
              </a:solidFill>
            </a:endParaRPr>
          </a:p>
          <a:p>
            <a:pPr indent="0" lvl="0" marL="0" rtl="0" algn="l">
              <a:spcBef>
                <a:spcPts val="0"/>
              </a:spcBef>
              <a:spcAft>
                <a:spcPts val="0"/>
              </a:spcAft>
              <a:buClr>
                <a:schemeClr val="dk1"/>
              </a:buClr>
              <a:buSzPts val="1600"/>
              <a:buFont typeface="Arial"/>
              <a:buNone/>
            </a:pPr>
            <a:r>
              <a:t/>
            </a:r>
            <a:endParaRPr sz="1100">
              <a:solidFill>
                <a:srgbClr val="000000"/>
              </a:solidFill>
            </a:endParaRPr>
          </a:p>
          <a:p>
            <a:pPr indent="0" lvl="0" marL="0" marR="0" rtl="0" algn="l">
              <a:lnSpc>
                <a:spcPct val="100000"/>
              </a:lnSpc>
              <a:spcBef>
                <a:spcPts val="0"/>
              </a:spcBef>
              <a:spcAft>
                <a:spcPts val="0"/>
              </a:spcAft>
              <a:buClr>
                <a:schemeClr val="dk1"/>
              </a:buClr>
              <a:buSzPts val="1000"/>
              <a:buFont typeface="Arial"/>
              <a:buNone/>
            </a:pPr>
            <a:r>
              <a:t/>
            </a:r>
            <a:endParaRPr sz="700"/>
          </a:p>
        </p:txBody>
      </p:sp>
      <p:sp>
        <p:nvSpPr>
          <p:cNvPr id="290" name="Google Shape;290;p25"/>
          <p:cNvSpPr txBox="1"/>
          <p:nvPr>
            <p:ph idx="4" type="body"/>
          </p:nvPr>
        </p:nvSpPr>
        <p:spPr>
          <a:xfrm>
            <a:off x="3459163" y="548720"/>
            <a:ext cx="2070000" cy="408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E2D69"/>
              </a:buClr>
              <a:buSzPts val="1200"/>
              <a:buFont typeface="Arial"/>
              <a:buNone/>
            </a:pPr>
            <a:r>
              <a:rPr lang="ru-RU" sz="1100"/>
              <a:t>Data analysis and mining</a:t>
            </a:r>
            <a:endParaRPr sz="1100"/>
          </a:p>
          <a:p>
            <a:pPr indent="0" lvl="0" marL="0" rtl="0" algn="l">
              <a:spcBef>
                <a:spcPts val="0"/>
              </a:spcBef>
              <a:spcAft>
                <a:spcPts val="0"/>
              </a:spcAft>
              <a:buClr>
                <a:srgbClr val="0E2D69"/>
              </a:buClr>
              <a:buSzPts val="1200"/>
              <a:buFont typeface="Arial"/>
              <a:buNone/>
            </a:pPr>
            <a:r>
              <a:t/>
            </a:r>
            <a:endParaRPr sz="1100"/>
          </a:p>
          <a:p>
            <a:pPr indent="0" lvl="0" marL="0" rtl="0" algn="l">
              <a:lnSpc>
                <a:spcPct val="100000"/>
              </a:lnSpc>
              <a:spcBef>
                <a:spcPts val="0"/>
              </a:spcBef>
              <a:spcAft>
                <a:spcPts val="0"/>
              </a:spcAft>
              <a:buClr>
                <a:srgbClr val="0E2D69"/>
              </a:buClr>
              <a:buSzPts val="1000"/>
              <a:buNone/>
            </a:pPr>
            <a:r>
              <a:t/>
            </a:r>
            <a:endParaRPr sz="1100"/>
          </a:p>
        </p:txBody>
      </p:sp>
      <p:sp>
        <p:nvSpPr>
          <p:cNvPr id="291" name="Google Shape;291;p25"/>
          <p:cNvSpPr txBox="1"/>
          <p:nvPr>
            <p:ph idx="4" type="body"/>
          </p:nvPr>
        </p:nvSpPr>
        <p:spPr>
          <a:xfrm>
            <a:off x="6174850" y="612901"/>
            <a:ext cx="2217600" cy="367500"/>
          </a:xfrm>
          <a:prstGeom prst="rect">
            <a:avLst/>
          </a:prstGeom>
          <a:noFill/>
          <a:ln>
            <a:noFill/>
          </a:ln>
        </p:spPr>
        <p:txBody>
          <a:bodyPr anchorCtr="0" anchor="t" bIns="0" lIns="0" spcFirstLastPara="1" rIns="0" wrap="square" tIns="0">
            <a:normAutofit/>
          </a:bodyPr>
          <a:lstStyle/>
          <a:p>
            <a:pPr indent="0" lvl="0" marL="0" rtl="0" algn="l">
              <a:lnSpc>
                <a:spcPct val="70000"/>
              </a:lnSpc>
              <a:spcBef>
                <a:spcPts val="0"/>
              </a:spcBef>
              <a:spcAft>
                <a:spcPts val="0"/>
              </a:spcAft>
              <a:buSzPts val="935"/>
              <a:buNone/>
            </a:pPr>
            <a:r>
              <a:rPr lang="ru-RU" sz="1160">
                <a:solidFill>
                  <a:srgbClr val="0F2C68"/>
                </a:solidFill>
              </a:rPr>
              <a:t>13 December 2025</a:t>
            </a:r>
            <a:endParaRPr sz="1160">
              <a:solidFill>
                <a:srgbClr val="0F2C68"/>
              </a:solidFill>
            </a:endParaRPr>
          </a:p>
          <a:p>
            <a:pPr indent="0" lvl="0" marL="0" rtl="0" algn="l">
              <a:lnSpc>
                <a:spcPct val="70000"/>
              </a:lnSpc>
              <a:spcBef>
                <a:spcPts val="0"/>
              </a:spcBef>
              <a:spcAft>
                <a:spcPts val="0"/>
              </a:spcAft>
              <a:buSzPts val="935"/>
              <a:buNone/>
            </a:pPr>
            <a:r>
              <a:t/>
            </a:r>
            <a:endParaRPr sz="1160">
              <a:solidFill>
                <a:srgbClr val="0F2C68"/>
              </a:solidFill>
            </a:endParaRPr>
          </a:p>
          <a:p>
            <a:pPr indent="0" lvl="0" marL="0" marR="0" rtl="0" algn="l">
              <a:lnSpc>
                <a:spcPct val="70000"/>
              </a:lnSpc>
              <a:spcBef>
                <a:spcPts val="0"/>
              </a:spcBef>
              <a:spcAft>
                <a:spcPts val="0"/>
              </a:spcAft>
              <a:buClr>
                <a:srgbClr val="0E2D69"/>
              </a:buClr>
              <a:buSzPts val="1020"/>
              <a:buFont typeface="Arial"/>
              <a:buNone/>
            </a:pPr>
            <a:r>
              <a:t/>
            </a:r>
            <a:endParaRPr sz="650"/>
          </a:p>
        </p:txBody>
      </p:sp>
      <p:pic>
        <p:nvPicPr>
          <p:cNvPr id="292" name="Google Shape;292;p25"/>
          <p:cNvPicPr preferRelativeResize="0"/>
          <p:nvPr/>
        </p:nvPicPr>
        <p:blipFill>
          <a:blip r:embed="rId3">
            <a:alphaModFix/>
          </a:blip>
          <a:stretch>
            <a:fillRect/>
          </a:stretch>
        </p:blipFill>
        <p:spPr>
          <a:xfrm>
            <a:off x="184650" y="1784425"/>
            <a:ext cx="8341026" cy="4838825"/>
          </a:xfrm>
          <a:prstGeom prst="rect">
            <a:avLst/>
          </a:prstGeom>
          <a:noFill/>
          <a:ln>
            <a:noFill/>
          </a:ln>
        </p:spPr>
      </p:pic>
      <p:pic>
        <p:nvPicPr>
          <p:cNvPr id="293" name="Google Shape;293;p25"/>
          <p:cNvPicPr preferRelativeResize="0"/>
          <p:nvPr/>
        </p:nvPicPr>
        <p:blipFill>
          <a:blip r:embed="rId4">
            <a:alphaModFix/>
          </a:blip>
          <a:stretch>
            <a:fillRect/>
          </a:stretch>
        </p:blipFill>
        <p:spPr>
          <a:xfrm>
            <a:off x="8463975" y="1449400"/>
            <a:ext cx="3104825" cy="2533375"/>
          </a:xfrm>
          <a:prstGeom prst="rect">
            <a:avLst/>
          </a:prstGeom>
          <a:noFill/>
          <a:ln>
            <a:noFill/>
          </a:ln>
        </p:spPr>
      </p:pic>
      <p:pic>
        <p:nvPicPr>
          <p:cNvPr id="294" name="Google Shape;294;p25"/>
          <p:cNvPicPr preferRelativeResize="0"/>
          <p:nvPr/>
        </p:nvPicPr>
        <p:blipFill>
          <a:blip r:embed="rId5">
            <a:alphaModFix/>
          </a:blip>
          <a:stretch>
            <a:fillRect/>
          </a:stretch>
        </p:blipFill>
        <p:spPr>
          <a:xfrm>
            <a:off x="8463976" y="4053275"/>
            <a:ext cx="3231769" cy="249992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26"/>
          <p:cNvSpPr txBox="1"/>
          <p:nvPr>
            <p:ph type="title"/>
          </p:nvPr>
        </p:nvSpPr>
        <p:spPr>
          <a:xfrm>
            <a:off x="390775" y="1270002"/>
            <a:ext cx="6325500" cy="917400"/>
          </a:xfrm>
          <a:prstGeom prst="rect">
            <a:avLst/>
          </a:prstGeom>
          <a:noFill/>
          <a:ln>
            <a:noFill/>
          </a:ln>
        </p:spPr>
        <p:txBody>
          <a:bodyPr anchorCtr="0" anchor="t" bIns="0" lIns="0" spcFirstLastPara="1" rIns="0" wrap="square" tIns="0">
            <a:normAutofit/>
          </a:bodyPr>
          <a:lstStyle/>
          <a:p>
            <a:pPr indent="0" lvl="0" marL="0" rtl="0" algn="l">
              <a:lnSpc>
                <a:spcPct val="100000"/>
              </a:lnSpc>
              <a:spcBef>
                <a:spcPts val="0"/>
              </a:spcBef>
              <a:spcAft>
                <a:spcPts val="0"/>
              </a:spcAft>
              <a:buClr>
                <a:schemeClr val="dk1"/>
              </a:buClr>
              <a:buSzPts val="2400"/>
              <a:buFont typeface="Arial"/>
              <a:buNone/>
            </a:pPr>
            <a:r>
              <a:rPr b="1" lang="ru-RU" sz="2900"/>
              <a:t>Sources of risk: education in years</a:t>
            </a:r>
            <a:endParaRPr b="1" sz="2900"/>
          </a:p>
        </p:txBody>
      </p:sp>
      <p:sp>
        <p:nvSpPr>
          <p:cNvPr id="300" name="Google Shape;300;p26"/>
          <p:cNvSpPr txBox="1"/>
          <p:nvPr>
            <p:ph idx="3" type="body"/>
          </p:nvPr>
        </p:nvSpPr>
        <p:spPr>
          <a:xfrm>
            <a:off x="1143689" y="540904"/>
            <a:ext cx="1901700" cy="415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ru-RU" sz="1100">
                <a:solidFill>
                  <a:srgbClr val="0F2C68"/>
                </a:solidFill>
              </a:rPr>
              <a:t>National Research University Higher School of Economics</a:t>
            </a:r>
            <a:endParaRPr sz="1100">
              <a:solidFill>
                <a:srgbClr val="0F2C68"/>
              </a:solidFill>
            </a:endParaRPr>
          </a:p>
          <a:p>
            <a:pPr indent="0" lvl="0" marL="0" rtl="0" algn="l">
              <a:spcBef>
                <a:spcPts val="0"/>
              </a:spcBef>
              <a:spcAft>
                <a:spcPts val="0"/>
              </a:spcAft>
              <a:buNone/>
            </a:pPr>
            <a:r>
              <a:t/>
            </a:r>
            <a:endParaRPr sz="1100">
              <a:solidFill>
                <a:srgbClr val="0F2C68"/>
              </a:solidFill>
            </a:endParaRPr>
          </a:p>
          <a:p>
            <a:pPr indent="0" lvl="0" marL="0" rtl="0" algn="l">
              <a:spcBef>
                <a:spcPts val="0"/>
              </a:spcBef>
              <a:spcAft>
                <a:spcPts val="0"/>
              </a:spcAft>
              <a:buClr>
                <a:schemeClr val="dk1"/>
              </a:buClr>
              <a:buSzPts val="1600"/>
              <a:buFont typeface="Arial"/>
              <a:buNone/>
            </a:pPr>
            <a:r>
              <a:t/>
            </a:r>
            <a:endParaRPr sz="1100">
              <a:solidFill>
                <a:srgbClr val="000000"/>
              </a:solidFill>
            </a:endParaRPr>
          </a:p>
          <a:p>
            <a:pPr indent="0" lvl="0" marL="0" marR="0" rtl="0" algn="l">
              <a:lnSpc>
                <a:spcPct val="100000"/>
              </a:lnSpc>
              <a:spcBef>
                <a:spcPts val="0"/>
              </a:spcBef>
              <a:spcAft>
                <a:spcPts val="0"/>
              </a:spcAft>
              <a:buClr>
                <a:schemeClr val="dk1"/>
              </a:buClr>
              <a:buSzPts val="1000"/>
              <a:buFont typeface="Arial"/>
              <a:buNone/>
            </a:pPr>
            <a:r>
              <a:t/>
            </a:r>
            <a:endParaRPr sz="700"/>
          </a:p>
        </p:txBody>
      </p:sp>
      <p:sp>
        <p:nvSpPr>
          <p:cNvPr id="301" name="Google Shape;301;p26"/>
          <p:cNvSpPr txBox="1"/>
          <p:nvPr>
            <p:ph idx="4" type="body"/>
          </p:nvPr>
        </p:nvSpPr>
        <p:spPr>
          <a:xfrm>
            <a:off x="3459163" y="548720"/>
            <a:ext cx="2070000" cy="408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E2D69"/>
              </a:buClr>
              <a:buSzPts val="1200"/>
              <a:buFont typeface="Arial"/>
              <a:buNone/>
            </a:pPr>
            <a:r>
              <a:rPr lang="ru-RU" sz="1100"/>
              <a:t>Data analysis and mining</a:t>
            </a:r>
            <a:endParaRPr sz="1100"/>
          </a:p>
          <a:p>
            <a:pPr indent="0" lvl="0" marL="0" rtl="0" algn="l">
              <a:spcBef>
                <a:spcPts val="0"/>
              </a:spcBef>
              <a:spcAft>
                <a:spcPts val="0"/>
              </a:spcAft>
              <a:buClr>
                <a:srgbClr val="0E2D69"/>
              </a:buClr>
              <a:buSzPts val="1200"/>
              <a:buFont typeface="Arial"/>
              <a:buNone/>
            </a:pPr>
            <a:r>
              <a:t/>
            </a:r>
            <a:endParaRPr sz="1100"/>
          </a:p>
          <a:p>
            <a:pPr indent="0" lvl="0" marL="0" rtl="0" algn="l">
              <a:lnSpc>
                <a:spcPct val="100000"/>
              </a:lnSpc>
              <a:spcBef>
                <a:spcPts val="0"/>
              </a:spcBef>
              <a:spcAft>
                <a:spcPts val="0"/>
              </a:spcAft>
              <a:buClr>
                <a:srgbClr val="0E2D69"/>
              </a:buClr>
              <a:buSzPts val="1000"/>
              <a:buNone/>
            </a:pPr>
            <a:r>
              <a:t/>
            </a:r>
            <a:endParaRPr sz="1100"/>
          </a:p>
        </p:txBody>
      </p:sp>
      <p:sp>
        <p:nvSpPr>
          <p:cNvPr id="302" name="Google Shape;302;p26"/>
          <p:cNvSpPr txBox="1"/>
          <p:nvPr>
            <p:ph idx="4" type="body"/>
          </p:nvPr>
        </p:nvSpPr>
        <p:spPr>
          <a:xfrm>
            <a:off x="6174850" y="612901"/>
            <a:ext cx="2217600" cy="367500"/>
          </a:xfrm>
          <a:prstGeom prst="rect">
            <a:avLst/>
          </a:prstGeom>
          <a:noFill/>
          <a:ln>
            <a:noFill/>
          </a:ln>
        </p:spPr>
        <p:txBody>
          <a:bodyPr anchorCtr="0" anchor="t" bIns="0" lIns="0" spcFirstLastPara="1" rIns="0" wrap="square" tIns="0">
            <a:normAutofit/>
          </a:bodyPr>
          <a:lstStyle/>
          <a:p>
            <a:pPr indent="0" lvl="0" marL="0" rtl="0" algn="l">
              <a:lnSpc>
                <a:spcPct val="70000"/>
              </a:lnSpc>
              <a:spcBef>
                <a:spcPts val="0"/>
              </a:spcBef>
              <a:spcAft>
                <a:spcPts val="0"/>
              </a:spcAft>
              <a:buSzPts val="935"/>
              <a:buNone/>
            </a:pPr>
            <a:r>
              <a:rPr lang="ru-RU" sz="1160">
                <a:solidFill>
                  <a:srgbClr val="0F2C68"/>
                </a:solidFill>
              </a:rPr>
              <a:t>13 December 2025</a:t>
            </a:r>
            <a:endParaRPr sz="1160">
              <a:solidFill>
                <a:srgbClr val="0F2C68"/>
              </a:solidFill>
            </a:endParaRPr>
          </a:p>
          <a:p>
            <a:pPr indent="0" lvl="0" marL="0" rtl="0" algn="l">
              <a:lnSpc>
                <a:spcPct val="70000"/>
              </a:lnSpc>
              <a:spcBef>
                <a:spcPts val="0"/>
              </a:spcBef>
              <a:spcAft>
                <a:spcPts val="0"/>
              </a:spcAft>
              <a:buSzPts val="935"/>
              <a:buNone/>
            </a:pPr>
            <a:r>
              <a:t/>
            </a:r>
            <a:endParaRPr sz="1160">
              <a:solidFill>
                <a:srgbClr val="0F2C68"/>
              </a:solidFill>
            </a:endParaRPr>
          </a:p>
          <a:p>
            <a:pPr indent="0" lvl="0" marL="0" marR="0" rtl="0" algn="l">
              <a:lnSpc>
                <a:spcPct val="70000"/>
              </a:lnSpc>
              <a:spcBef>
                <a:spcPts val="0"/>
              </a:spcBef>
              <a:spcAft>
                <a:spcPts val="0"/>
              </a:spcAft>
              <a:buClr>
                <a:srgbClr val="0E2D69"/>
              </a:buClr>
              <a:buSzPts val="1020"/>
              <a:buFont typeface="Arial"/>
              <a:buNone/>
            </a:pPr>
            <a:r>
              <a:t/>
            </a:r>
            <a:endParaRPr sz="650"/>
          </a:p>
        </p:txBody>
      </p:sp>
      <p:sp>
        <p:nvSpPr>
          <p:cNvPr id="303" name="Google Shape;303;p26"/>
          <p:cNvSpPr txBox="1"/>
          <p:nvPr>
            <p:ph idx="1" type="body"/>
          </p:nvPr>
        </p:nvSpPr>
        <p:spPr>
          <a:xfrm>
            <a:off x="585900" y="1856775"/>
            <a:ext cx="4851900" cy="4359000"/>
          </a:xfrm>
          <a:prstGeom prst="rect">
            <a:avLst/>
          </a:prstGeom>
        </p:spPr>
        <p:txBody>
          <a:bodyPr anchorCtr="0" anchor="t" bIns="45700" lIns="0" spcFirstLastPara="1" rIns="0" wrap="square" tIns="0">
            <a:noAutofit/>
          </a:bodyPr>
          <a:lstStyle/>
          <a:p>
            <a:pPr indent="0" lvl="0" marL="0" rtl="0" algn="l">
              <a:spcBef>
                <a:spcPts val="1000"/>
              </a:spcBef>
              <a:spcAft>
                <a:spcPts val="0"/>
              </a:spcAft>
              <a:buNone/>
            </a:pPr>
            <a:r>
              <a:rPr lang="ru-RU" sz="2500">
                <a:solidFill>
                  <a:srgbClr val="000000"/>
                </a:solidFill>
              </a:rPr>
              <a:t>Parametric test Kruskal-Wallis:</a:t>
            </a:r>
            <a:endParaRPr sz="2500">
              <a:solidFill>
                <a:srgbClr val="000000"/>
              </a:solidFill>
            </a:endParaRPr>
          </a:p>
          <a:p>
            <a:pPr indent="0" lvl="0" marL="0" rtl="0" algn="l">
              <a:spcBef>
                <a:spcPts val="1000"/>
              </a:spcBef>
              <a:spcAft>
                <a:spcPts val="0"/>
              </a:spcAft>
              <a:buNone/>
            </a:pPr>
            <a:r>
              <a:t/>
            </a:r>
            <a:endParaRPr sz="2500">
              <a:solidFill>
                <a:srgbClr val="000000"/>
              </a:solidFill>
            </a:endParaRPr>
          </a:p>
        </p:txBody>
      </p:sp>
      <p:pic>
        <p:nvPicPr>
          <p:cNvPr id="304" name="Google Shape;304;p26"/>
          <p:cNvPicPr preferRelativeResize="0"/>
          <p:nvPr/>
        </p:nvPicPr>
        <p:blipFill>
          <a:blip r:embed="rId3">
            <a:alphaModFix/>
          </a:blip>
          <a:stretch>
            <a:fillRect/>
          </a:stretch>
        </p:blipFill>
        <p:spPr>
          <a:xfrm>
            <a:off x="619153" y="2314400"/>
            <a:ext cx="3214975" cy="2002000"/>
          </a:xfrm>
          <a:prstGeom prst="rect">
            <a:avLst/>
          </a:prstGeom>
          <a:noFill/>
          <a:ln>
            <a:noFill/>
          </a:ln>
        </p:spPr>
      </p:pic>
      <p:pic>
        <p:nvPicPr>
          <p:cNvPr id="305" name="Google Shape;305;p26"/>
          <p:cNvPicPr preferRelativeResize="0"/>
          <p:nvPr/>
        </p:nvPicPr>
        <p:blipFill>
          <a:blip r:embed="rId4">
            <a:alphaModFix/>
          </a:blip>
          <a:stretch>
            <a:fillRect/>
          </a:stretch>
        </p:blipFill>
        <p:spPr>
          <a:xfrm>
            <a:off x="619150" y="4316400"/>
            <a:ext cx="3400222" cy="2002000"/>
          </a:xfrm>
          <a:prstGeom prst="rect">
            <a:avLst/>
          </a:prstGeom>
          <a:noFill/>
          <a:ln>
            <a:noFill/>
          </a:ln>
        </p:spPr>
      </p:pic>
      <p:pic>
        <p:nvPicPr>
          <p:cNvPr id="306" name="Google Shape;306;p26"/>
          <p:cNvPicPr preferRelativeResize="0"/>
          <p:nvPr/>
        </p:nvPicPr>
        <p:blipFill>
          <a:blip r:embed="rId5">
            <a:alphaModFix/>
          </a:blip>
          <a:stretch>
            <a:fillRect/>
          </a:stretch>
        </p:blipFill>
        <p:spPr>
          <a:xfrm>
            <a:off x="4926325" y="2187076"/>
            <a:ext cx="7025388" cy="402870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0" name="Shape 310"/>
        <p:cNvGrpSpPr/>
        <p:nvPr/>
      </p:nvGrpSpPr>
      <p:grpSpPr>
        <a:xfrm>
          <a:off x="0" y="0"/>
          <a:ext cx="0" cy="0"/>
          <a:chOff x="0" y="0"/>
          <a:chExt cx="0" cy="0"/>
        </a:xfrm>
      </p:grpSpPr>
      <p:sp>
        <p:nvSpPr>
          <p:cNvPr id="311" name="Google Shape;311;p27"/>
          <p:cNvSpPr txBox="1"/>
          <p:nvPr>
            <p:ph type="title"/>
          </p:nvPr>
        </p:nvSpPr>
        <p:spPr>
          <a:xfrm>
            <a:off x="390775" y="1270000"/>
            <a:ext cx="9315000" cy="917400"/>
          </a:xfrm>
          <a:prstGeom prst="rect">
            <a:avLst/>
          </a:prstGeom>
          <a:noFill/>
          <a:ln>
            <a:noFill/>
          </a:ln>
        </p:spPr>
        <p:txBody>
          <a:bodyPr anchorCtr="0" anchor="t" bIns="0" lIns="0" spcFirstLastPara="1" rIns="0" wrap="square" tIns="0">
            <a:normAutofit/>
          </a:bodyPr>
          <a:lstStyle/>
          <a:p>
            <a:pPr indent="0" lvl="0" marL="0" rtl="0" algn="l">
              <a:lnSpc>
                <a:spcPct val="100000"/>
              </a:lnSpc>
              <a:spcBef>
                <a:spcPts val="0"/>
              </a:spcBef>
              <a:spcAft>
                <a:spcPts val="0"/>
              </a:spcAft>
              <a:buClr>
                <a:schemeClr val="dk1"/>
              </a:buClr>
              <a:buSzPts val="2400"/>
              <a:buFont typeface="Arial"/>
              <a:buNone/>
            </a:pPr>
            <a:r>
              <a:rPr b="1" lang="ru-RU" sz="2900"/>
              <a:t>Sources of risk: number of chronic conditions</a:t>
            </a:r>
            <a:endParaRPr b="1" sz="2900"/>
          </a:p>
        </p:txBody>
      </p:sp>
      <p:sp>
        <p:nvSpPr>
          <p:cNvPr id="312" name="Google Shape;312;p27"/>
          <p:cNvSpPr txBox="1"/>
          <p:nvPr>
            <p:ph idx="3" type="body"/>
          </p:nvPr>
        </p:nvSpPr>
        <p:spPr>
          <a:xfrm>
            <a:off x="1143689" y="540904"/>
            <a:ext cx="1901700" cy="415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ru-RU" sz="1100">
                <a:solidFill>
                  <a:srgbClr val="0F2C68"/>
                </a:solidFill>
              </a:rPr>
              <a:t>National Research University Higher School of Economics</a:t>
            </a:r>
            <a:endParaRPr sz="1100">
              <a:solidFill>
                <a:srgbClr val="0F2C68"/>
              </a:solidFill>
            </a:endParaRPr>
          </a:p>
          <a:p>
            <a:pPr indent="0" lvl="0" marL="0" rtl="0" algn="l">
              <a:spcBef>
                <a:spcPts val="0"/>
              </a:spcBef>
              <a:spcAft>
                <a:spcPts val="0"/>
              </a:spcAft>
              <a:buNone/>
            </a:pPr>
            <a:r>
              <a:t/>
            </a:r>
            <a:endParaRPr sz="1100">
              <a:solidFill>
                <a:srgbClr val="0F2C68"/>
              </a:solidFill>
            </a:endParaRPr>
          </a:p>
          <a:p>
            <a:pPr indent="0" lvl="0" marL="0" rtl="0" algn="l">
              <a:spcBef>
                <a:spcPts val="0"/>
              </a:spcBef>
              <a:spcAft>
                <a:spcPts val="0"/>
              </a:spcAft>
              <a:buClr>
                <a:schemeClr val="dk1"/>
              </a:buClr>
              <a:buSzPts val="1600"/>
              <a:buFont typeface="Arial"/>
              <a:buNone/>
            </a:pPr>
            <a:r>
              <a:t/>
            </a:r>
            <a:endParaRPr sz="1100">
              <a:solidFill>
                <a:srgbClr val="000000"/>
              </a:solidFill>
            </a:endParaRPr>
          </a:p>
          <a:p>
            <a:pPr indent="0" lvl="0" marL="0" marR="0" rtl="0" algn="l">
              <a:lnSpc>
                <a:spcPct val="100000"/>
              </a:lnSpc>
              <a:spcBef>
                <a:spcPts val="0"/>
              </a:spcBef>
              <a:spcAft>
                <a:spcPts val="0"/>
              </a:spcAft>
              <a:buClr>
                <a:schemeClr val="dk1"/>
              </a:buClr>
              <a:buSzPts val="1000"/>
              <a:buFont typeface="Arial"/>
              <a:buNone/>
            </a:pPr>
            <a:r>
              <a:t/>
            </a:r>
            <a:endParaRPr sz="700"/>
          </a:p>
        </p:txBody>
      </p:sp>
      <p:sp>
        <p:nvSpPr>
          <p:cNvPr id="313" name="Google Shape;313;p27"/>
          <p:cNvSpPr txBox="1"/>
          <p:nvPr>
            <p:ph idx="4" type="body"/>
          </p:nvPr>
        </p:nvSpPr>
        <p:spPr>
          <a:xfrm>
            <a:off x="3459163" y="548720"/>
            <a:ext cx="2070000" cy="408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E2D69"/>
              </a:buClr>
              <a:buSzPts val="1200"/>
              <a:buFont typeface="Arial"/>
              <a:buNone/>
            </a:pPr>
            <a:r>
              <a:rPr lang="ru-RU" sz="1100"/>
              <a:t>Data analysis and mining</a:t>
            </a:r>
            <a:endParaRPr sz="1100"/>
          </a:p>
          <a:p>
            <a:pPr indent="0" lvl="0" marL="0" rtl="0" algn="l">
              <a:spcBef>
                <a:spcPts val="0"/>
              </a:spcBef>
              <a:spcAft>
                <a:spcPts val="0"/>
              </a:spcAft>
              <a:buClr>
                <a:srgbClr val="0E2D69"/>
              </a:buClr>
              <a:buSzPts val="1200"/>
              <a:buFont typeface="Arial"/>
              <a:buNone/>
            </a:pPr>
            <a:r>
              <a:t/>
            </a:r>
            <a:endParaRPr sz="1100"/>
          </a:p>
          <a:p>
            <a:pPr indent="0" lvl="0" marL="0" rtl="0" algn="l">
              <a:lnSpc>
                <a:spcPct val="100000"/>
              </a:lnSpc>
              <a:spcBef>
                <a:spcPts val="0"/>
              </a:spcBef>
              <a:spcAft>
                <a:spcPts val="0"/>
              </a:spcAft>
              <a:buClr>
                <a:srgbClr val="0E2D69"/>
              </a:buClr>
              <a:buSzPts val="1000"/>
              <a:buNone/>
            </a:pPr>
            <a:r>
              <a:t/>
            </a:r>
            <a:endParaRPr sz="1100"/>
          </a:p>
        </p:txBody>
      </p:sp>
      <p:sp>
        <p:nvSpPr>
          <p:cNvPr id="314" name="Google Shape;314;p27"/>
          <p:cNvSpPr txBox="1"/>
          <p:nvPr>
            <p:ph idx="4" type="body"/>
          </p:nvPr>
        </p:nvSpPr>
        <p:spPr>
          <a:xfrm>
            <a:off x="6174850" y="612901"/>
            <a:ext cx="2217600" cy="367500"/>
          </a:xfrm>
          <a:prstGeom prst="rect">
            <a:avLst/>
          </a:prstGeom>
          <a:noFill/>
          <a:ln>
            <a:noFill/>
          </a:ln>
        </p:spPr>
        <p:txBody>
          <a:bodyPr anchorCtr="0" anchor="t" bIns="0" lIns="0" spcFirstLastPara="1" rIns="0" wrap="square" tIns="0">
            <a:normAutofit/>
          </a:bodyPr>
          <a:lstStyle/>
          <a:p>
            <a:pPr indent="0" lvl="0" marL="0" rtl="0" algn="l">
              <a:lnSpc>
                <a:spcPct val="70000"/>
              </a:lnSpc>
              <a:spcBef>
                <a:spcPts val="0"/>
              </a:spcBef>
              <a:spcAft>
                <a:spcPts val="0"/>
              </a:spcAft>
              <a:buSzPts val="935"/>
              <a:buNone/>
            </a:pPr>
            <a:r>
              <a:rPr lang="ru-RU" sz="1160">
                <a:solidFill>
                  <a:srgbClr val="0F2C68"/>
                </a:solidFill>
              </a:rPr>
              <a:t>13 December 2025</a:t>
            </a:r>
            <a:endParaRPr sz="1160">
              <a:solidFill>
                <a:srgbClr val="0F2C68"/>
              </a:solidFill>
            </a:endParaRPr>
          </a:p>
          <a:p>
            <a:pPr indent="0" lvl="0" marL="0" rtl="0" algn="l">
              <a:lnSpc>
                <a:spcPct val="70000"/>
              </a:lnSpc>
              <a:spcBef>
                <a:spcPts val="0"/>
              </a:spcBef>
              <a:spcAft>
                <a:spcPts val="0"/>
              </a:spcAft>
              <a:buSzPts val="935"/>
              <a:buNone/>
            </a:pPr>
            <a:r>
              <a:t/>
            </a:r>
            <a:endParaRPr sz="1160">
              <a:solidFill>
                <a:srgbClr val="0F2C68"/>
              </a:solidFill>
            </a:endParaRPr>
          </a:p>
          <a:p>
            <a:pPr indent="0" lvl="0" marL="0" marR="0" rtl="0" algn="l">
              <a:lnSpc>
                <a:spcPct val="70000"/>
              </a:lnSpc>
              <a:spcBef>
                <a:spcPts val="0"/>
              </a:spcBef>
              <a:spcAft>
                <a:spcPts val="0"/>
              </a:spcAft>
              <a:buClr>
                <a:srgbClr val="0E2D69"/>
              </a:buClr>
              <a:buSzPts val="1020"/>
              <a:buFont typeface="Arial"/>
              <a:buNone/>
            </a:pPr>
            <a:r>
              <a:t/>
            </a:r>
            <a:endParaRPr sz="650"/>
          </a:p>
        </p:txBody>
      </p:sp>
      <p:sp>
        <p:nvSpPr>
          <p:cNvPr id="315" name="Google Shape;315;p27"/>
          <p:cNvSpPr txBox="1"/>
          <p:nvPr>
            <p:ph idx="1" type="body"/>
          </p:nvPr>
        </p:nvSpPr>
        <p:spPr>
          <a:xfrm>
            <a:off x="585900" y="1856775"/>
            <a:ext cx="4851900" cy="4359000"/>
          </a:xfrm>
          <a:prstGeom prst="rect">
            <a:avLst/>
          </a:prstGeom>
        </p:spPr>
        <p:txBody>
          <a:bodyPr anchorCtr="0" anchor="t" bIns="45700" lIns="0" spcFirstLastPara="1" rIns="0" wrap="square" tIns="0">
            <a:noAutofit/>
          </a:bodyPr>
          <a:lstStyle/>
          <a:p>
            <a:pPr indent="0" lvl="0" marL="0" rtl="0" algn="l">
              <a:spcBef>
                <a:spcPts val="1000"/>
              </a:spcBef>
              <a:spcAft>
                <a:spcPts val="0"/>
              </a:spcAft>
              <a:buNone/>
            </a:pPr>
            <a:r>
              <a:rPr lang="ru-RU" sz="2500">
                <a:solidFill>
                  <a:srgbClr val="000000"/>
                </a:solidFill>
              </a:rPr>
              <a:t>Parametric test Kruskal-Wallis:</a:t>
            </a:r>
            <a:endParaRPr sz="2500">
              <a:solidFill>
                <a:srgbClr val="000000"/>
              </a:solidFill>
            </a:endParaRPr>
          </a:p>
          <a:p>
            <a:pPr indent="0" lvl="0" marL="0" rtl="0" algn="l">
              <a:spcBef>
                <a:spcPts val="1000"/>
              </a:spcBef>
              <a:spcAft>
                <a:spcPts val="0"/>
              </a:spcAft>
              <a:buNone/>
            </a:pPr>
            <a:r>
              <a:t/>
            </a:r>
            <a:endParaRPr sz="2500">
              <a:solidFill>
                <a:srgbClr val="000000"/>
              </a:solidFill>
            </a:endParaRPr>
          </a:p>
        </p:txBody>
      </p:sp>
      <p:pic>
        <p:nvPicPr>
          <p:cNvPr id="316" name="Google Shape;316;p27"/>
          <p:cNvPicPr preferRelativeResize="0"/>
          <p:nvPr/>
        </p:nvPicPr>
        <p:blipFill>
          <a:blip r:embed="rId3">
            <a:alphaModFix/>
          </a:blip>
          <a:stretch>
            <a:fillRect/>
          </a:stretch>
        </p:blipFill>
        <p:spPr>
          <a:xfrm>
            <a:off x="4858975" y="2187400"/>
            <a:ext cx="7168576" cy="4162200"/>
          </a:xfrm>
          <a:prstGeom prst="rect">
            <a:avLst/>
          </a:prstGeom>
          <a:noFill/>
          <a:ln>
            <a:noFill/>
          </a:ln>
        </p:spPr>
      </p:pic>
      <p:pic>
        <p:nvPicPr>
          <p:cNvPr id="317" name="Google Shape;317;p27"/>
          <p:cNvPicPr preferRelativeResize="0"/>
          <p:nvPr/>
        </p:nvPicPr>
        <p:blipFill>
          <a:blip r:embed="rId4">
            <a:alphaModFix/>
          </a:blip>
          <a:stretch>
            <a:fillRect/>
          </a:stretch>
        </p:blipFill>
        <p:spPr>
          <a:xfrm>
            <a:off x="696925" y="2366752"/>
            <a:ext cx="3013213" cy="1805712"/>
          </a:xfrm>
          <a:prstGeom prst="rect">
            <a:avLst/>
          </a:prstGeom>
          <a:noFill/>
          <a:ln>
            <a:noFill/>
          </a:ln>
        </p:spPr>
      </p:pic>
      <p:pic>
        <p:nvPicPr>
          <p:cNvPr id="318" name="Google Shape;318;p27"/>
          <p:cNvPicPr preferRelativeResize="0"/>
          <p:nvPr/>
        </p:nvPicPr>
        <p:blipFill>
          <a:blip r:embed="rId5">
            <a:alphaModFix/>
          </a:blip>
          <a:stretch>
            <a:fillRect/>
          </a:stretch>
        </p:blipFill>
        <p:spPr>
          <a:xfrm>
            <a:off x="585902" y="4172477"/>
            <a:ext cx="3533441" cy="20433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3" name="Shape 323"/>
        <p:cNvGrpSpPr/>
        <p:nvPr/>
      </p:nvGrpSpPr>
      <p:grpSpPr>
        <a:xfrm>
          <a:off x="0" y="0"/>
          <a:ext cx="0" cy="0"/>
          <a:chOff x="0" y="0"/>
          <a:chExt cx="0" cy="0"/>
        </a:xfrm>
      </p:grpSpPr>
      <p:sp>
        <p:nvSpPr>
          <p:cNvPr id="324" name="Google Shape;324;p28"/>
          <p:cNvSpPr txBox="1"/>
          <p:nvPr>
            <p:ph type="title"/>
          </p:nvPr>
        </p:nvSpPr>
        <p:spPr>
          <a:xfrm>
            <a:off x="585898" y="1447790"/>
            <a:ext cx="5245500" cy="777000"/>
          </a:xfrm>
          <a:prstGeom prst="rect">
            <a:avLst/>
          </a:prstGeom>
        </p:spPr>
        <p:txBody>
          <a:bodyPr anchorCtr="0" anchor="t" bIns="0" lIns="0" spcFirstLastPara="1" rIns="0" wrap="square" tIns="0">
            <a:normAutofit/>
          </a:bodyPr>
          <a:lstStyle/>
          <a:p>
            <a:pPr indent="0" lvl="0" marL="0" rtl="0" algn="l">
              <a:spcBef>
                <a:spcPts val="0"/>
              </a:spcBef>
              <a:spcAft>
                <a:spcPts val="0"/>
              </a:spcAft>
              <a:buNone/>
            </a:pPr>
            <a:r>
              <a:rPr lang="ru-RU"/>
              <a:t>Limitations</a:t>
            </a:r>
            <a:endParaRPr/>
          </a:p>
        </p:txBody>
      </p:sp>
      <p:sp>
        <p:nvSpPr>
          <p:cNvPr id="325" name="Google Shape;325;p28"/>
          <p:cNvSpPr txBox="1"/>
          <p:nvPr>
            <p:ph idx="1" type="body"/>
          </p:nvPr>
        </p:nvSpPr>
        <p:spPr>
          <a:xfrm>
            <a:off x="585900" y="2062450"/>
            <a:ext cx="10549500" cy="4211400"/>
          </a:xfrm>
          <a:prstGeom prst="rect">
            <a:avLst/>
          </a:prstGeom>
        </p:spPr>
        <p:txBody>
          <a:bodyPr anchorCtr="0" anchor="t" bIns="45700" lIns="0" spcFirstLastPara="1" rIns="0" wrap="square" tIns="0">
            <a:normAutofit/>
          </a:bodyPr>
          <a:lstStyle/>
          <a:p>
            <a:pPr indent="0" lvl="0" marL="0" rtl="0" algn="l">
              <a:spcBef>
                <a:spcPts val="1000"/>
              </a:spcBef>
              <a:spcAft>
                <a:spcPts val="0"/>
              </a:spcAft>
              <a:buNone/>
            </a:pPr>
            <a:r>
              <a:t/>
            </a:r>
            <a:endParaRPr/>
          </a:p>
          <a:p>
            <a:pPr indent="-317500" lvl="0" marL="457200" rtl="0" algn="l">
              <a:spcBef>
                <a:spcPts val="1000"/>
              </a:spcBef>
              <a:spcAft>
                <a:spcPts val="0"/>
              </a:spcAft>
              <a:buSzPts val="1400"/>
              <a:buChar char="●"/>
            </a:pPr>
            <a:r>
              <a:rPr lang="ru-RU" sz="1400"/>
              <a:t>Undersampling the Healthy class: Artificially pruning the records compressed the distributions (short boxes, waves in memory score), causing bias in ANOVA/Kruskal-Wallis—the Healthy class appears unrepresentatively homogeneous.</a:t>
            </a:r>
            <a:endParaRPr sz="1400"/>
          </a:p>
          <a:p>
            <a:pPr indent="-317500" lvl="0" marL="457200" rtl="0" algn="l">
              <a:spcBef>
                <a:spcPts val="0"/>
              </a:spcBef>
              <a:spcAft>
                <a:spcPts val="0"/>
              </a:spcAft>
              <a:buSzPts val="1400"/>
              <a:buChar char="●"/>
            </a:pPr>
            <a:r>
              <a:rPr lang="ru-RU" sz="1400"/>
              <a:t>Model overfitting: CatBoost explains almost all the variance in the training data, but does not transfer well without data augmentation</a:t>
            </a:r>
            <a:endParaRPr sz="1400"/>
          </a:p>
          <a:p>
            <a:pPr indent="-317500" lvl="0" marL="457200" rtl="0" algn="l">
              <a:spcBef>
                <a:spcPts val="0"/>
              </a:spcBef>
              <a:spcAft>
                <a:spcPts val="0"/>
              </a:spcAft>
              <a:buSzPts val="1400"/>
              <a:buChar char="●"/>
            </a:pPr>
            <a:r>
              <a:rPr lang="ru-RU" sz="1400"/>
              <a:t>Synthetic data: External validity is low—the model runs on "fake" records that do not reflect real populations (no external validation)</a:t>
            </a:r>
            <a:endParaRPr sz="1400"/>
          </a:p>
          <a:p>
            <a:pPr indent="0" lvl="0" marL="0" rtl="0" algn="l">
              <a:spcBef>
                <a:spcPts val="1000"/>
              </a:spcBef>
              <a:spcAft>
                <a:spcPts val="0"/>
              </a:spcAft>
              <a:buNone/>
            </a:pPr>
            <a:r>
              <a:t/>
            </a:r>
            <a:endParaRPr sz="1700"/>
          </a:p>
          <a:p>
            <a:pPr indent="0" lvl="0" marL="0" rtl="0" algn="l">
              <a:spcBef>
                <a:spcPts val="1000"/>
              </a:spcBef>
              <a:spcAft>
                <a:spcPts val="0"/>
              </a:spcAft>
              <a:buNone/>
            </a:pPr>
            <a:r>
              <a:rPr lang="ru-RU" sz="1700"/>
              <a:t>What to do in the future?</a:t>
            </a:r>
            <a:endParaRPr sz="1700"/>
          </a:p>
          <a:p>
            <a:pPr indent="0" lvl="0" marL="0" rtl="0" algn="l">
              <a:spcBef>
                <a:spcPts val="1000"/>
              </a:spcBef>
              <a:spcAft>
                <a:spcPts val="0"/>
              </a:spcAft>
              <a:buNone/>
            </a:pPr>
            <a:r>
              <a:rPr lang="ru-RU"/>
              <a:t>Data balancing: SMOTE/oversampling for Healthy to restore normal distributions and variance.</a:t>
            </a:r>
            <a:endParaRPr/>
          </a:p>
          <a:p>
            <a:pPr indent="0" lvl="0" marL="0" rtl="0" algn="l">
              <a:spcBef>
                <a:spcPts val="1000"/>
              </a:spcBef>
              <a:spcAft>
                <a:spcPts val="0"/>
              </a:spcAft>
              <a:buNone/>
            </a:pPr>
            <a:r>
              <a:rPr lang="ru-RU"/>
              <a:t>Anti-overfitting: K-fold CV, early stopping in CatBoost, dropout; Add real data (NHANES).</a:t>
            </a:r>
            <a:endParaRPr/>
          </a:p>
          <a:p>
            <a:pPr indent="0" lvl="0" marL="0" rtl="0" algn="l">
              <a:spcBef>
                <a:spcPts val="1000"/>
              </a:spcBef>
              <a:spcAft>
                <a:spcPts val="0"/>
              </a:spcAft>
              <a:buNone/>
            </a:pPr>
            <a:r>
              <a:rPr lang="ru-RU"/>
              <a:t>Validation: External test set from real sources; SHAP for causal insights.</a:t>
            </a:r>
            <a:endParaRPr/>
          </a:p>
        </p:txBody>
      </p:sp>
      <p:sp>
        <p:nvSpPr>
          <p:cNvPr id="326" name="Google Shape;326;p28"/>
          <p:cNvSpPr txBox="1"/>
          <p:nvPr>
            <p:ph idx="5" type="body"/>
          </p:nvPr>
        </p:nvSpPr>
        <p:spPr>
          <a:xfrm>
            <a:off x="6259892" y="548720"/>
            <a:ext cx="2070000" cy="4080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ru-RU"/>
              <a:t>13 </a:t>
            </a:r>
            <a:r>
              <a:rPr lang="ru-RU"/>
              <a:t>December 2025</a:t>
            </a:r>
            <a:endParaRPr/>
          </a:p>
        </p:txBody>
      </p:sp>
      <p:sp>
        <p:nvSpPr>
          <p:cNvPr id="327" name="Google Shape;327;p28"/>
          <p:cNvSpPr txBox="1"/>
          <p:nvPr>
            <p:ph idx="3" type="body"/>
          </p:nvPr>
        </p:nvSpPr>
        <p:spPr>
          <a:xfrm>
            <a:off x="1169364" y="544829"/>
            <a:ext cx="1901700" cy="415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ru-RU" sz="1100">
                <a:solidFill>
                  <a:srgbClr val="0F2C68"/>
                </a:solidFill>
              </a:rPr>
              <a:t>National Research University Higher School of Economics</a:t>
            </a:r>
            <a:endParaRPr sz="1100">
              <a:solidFill>
                <a:srgbClr val="0F2C68"/>
              </a:solidFill>
            </a:endParaRPr>
          </a:p>
          <a:p>
            <a:pPr indent="0" lvl="0" marL="0" rtl="0" algn="l">
              <a:spcBef>
                <a:spcPts val="0"/>
              </a:spcBef>
              <a:spcAft>
                <a:spcPts val="0"/>
              </a:spcAft>
              <a:buNone/>
            </a:pPr>
            <a:r>
              <a:t/>
            </a:r>
            <a:endParaRPr sz="1100">
              <a:solidFill>
                <a:srgbClr val="0F2C68"/>
              </a:solidFill>
            </a:endParaRPr>
          </a:p>
          <a:p>
            <a:pPr indent="0" lvl="0" marL="0" rtl="0" algn="l">
              <a:spcBef>
                <a:spcPts val="0"/>
              </a:spcBef>
              <a:spcAft>
                <a:spcPts val="0"/>
              </a:spcAft>
              <a:buClr>
                <a:schemeClr val="dk1"/>
              </a:buClr>
              <a:buSzPts val="1600"/>
              <a:buFont typeface="Arial"/>
              <a:buNone/>
            </a:pPr>
            <a:r>
              <a:t/>
            </a:r>
            <a:endParaRPr sz="1100">
              <a:solidFill>
                <a:srgbClr val="000000"/>
              </a:solidFill>
            </a:endParaRPr>
          </a:p>
          <a:p>
            <a:pPr indent="0" lvl="0" marL="0" marR="0" rtl="0" algn="l">
              <a:lnSpc>
                <a:spcPct val="100000"/>
              </a:lnSpc>
              <a:spcBef>
                <a:spcPts val="0"/>
              </a:spcBef>
              <a:spcAft>
                <a:spcPts val="0"/>
              </a:spcAft>
              <a:buClr>
                <a:schemeClr val="dk1"/>
              </a:buClr>
              <a:buSzPts val="1000"/>
              <a:buFont typeface="Arial"/>
              <a:buNone/>
            </a:pPr>
            <a:r>
              <a:t/>
            </a:r>
            <a:endParaRPr sz="700"/>
          </a:p>
        </p:txBody>
      </p:sp>
      <p:sp>
        <p:nvSpPr>
          <p:cNvPr id="328" name="Google Shape;328;p28"/>
          <p:cNvSpPr txBox="1"/>
          <p:nvPr/>
        </p:nvSpPr>
        <p:spPr>
          <a:xfrm>
            <a:off x="3287737" y="573775"/>
            <a:ext cx="2286900" cy="357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ru-RU" sz="1100">
                <a:solidFill>
                  <a:srgbClr val="0E2D69"/>
                </a:solidFill>
              </a:rPr>
              <a:t>Data analysis and mining</a:t>
            </a:r>
            <a:endParaRPr sz="1100">
              <a:solidFill>
                <a:srgbClr val="0E2D69"/>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sp>
        <p:nvSpPr>
          <p:cNvPr id="333" name="Google Shape;333;p29"/>
          <p:cNvSpPr txBox="1"/>
          <p:nvPr>
            <p:ph idx="1" type="body"/>
          </p:nvPr>
        </p:nvSpPr>
        <p:spPr>
          <a:xfrm>
            <a:off x="585787" y="1447065"/>
            <a:ext cx="11058065" cy="307778"/>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rgbClr val="0E2D69"/>
              </a:buClr>
              <a:buSzPts val="1600"/>
              <a:buNone/>
            </a:pPr>
            <a:r>
              <a:rPr lang="ru-RU" sz="2400"/>
              <a:t>Conclusion                                                           </a:t>
            </a:r>
            <a:endParaRPr sz="2400"/>
          </a:p>
        </p:txBody>
      </p:sp>
      <p:sp>
        <p:nvSpPr>
          <p:cNvPr id="334" name="Google Shape;334;p29"/>
          <p:cNvSpPr txBox="1"/>
          <p:nvPr>
            <p:ph idx="2" type="body"/>
          </p:nvPr>
        </p:nvSpPr>
        <p:spPr>
          <a:xfrm>
            <a:off x="1143689" y="540904"/>
            <a:ext cx="1901700" cy="415800"/>
          </a:xfrm>
          <a:prstGeom prst="rect">
            <a:avLst/>
          </a:prstGeom>
          <a:noFill/>
          <a:ln>
            <a:noFill/>
          </a:ln>
        </p:spPr>
        <p:txBody>
          <a:bodyPr anchorCtr="0" anchor="t" bIns="0" lIns="0" spcFirstLastPara="1" rIns="0" wrap="square" tIns="0">
            <a:noAutofit/>
          </a:bodyPr>
          <a:lstStyle/>
          <a:p>
            <a:pPr indent="0" lvl="0" marL="0" rtl="0" algn="l">
              <a:spcBef>
                <a:spcPts val="600"/>
              </a:spcBef>
              <a:spcAft>
                <a:spcPts val="0"/>
              </a:spcAft>
              <a:buNone/>
            </a:pPr>
            <a:r>
              <a:rPr lang="ru-RU" sz="1100">
                <a:solidFill>
                  <a:srgbClr val="0F2C68"/>
                </a:solidFill>
              </a:rPr>
              <a:t>National Research University Higher School of Economics</a:t>
            </a:r>
            <a:endParaRPr sz="1100">
              <a:solidFill>
                <a:srgbClr val="0F2C68"/>
              </a:solidFill>
            </a:endParaRPr>
          </a:p>
          <a:p>
            <a:pPr indent="0" lvl="0" marL="0" rtl="0" algn="l">
              <a:spcBef>
                <a:spcPts val="600"/>
              </a:spcBef>
              <a:spcAft>
                <a:spcPts val="0"/>
              </a:spcAft>
              <a:buNone/>
            </a:pPr>
            <a:r>
              <a:t/>
            </a:r>
            <a:endParaRPr sz="1100">
              <a:solidFill>
                <a:srgbClr val="0F2C68"/>
              </a:solidFill>
            </a:endParaRPr>
          </a:p>
          <a:p>
            <a:pPr indent="0" lvl="0" marL="0" rtl="0" algn="l">
              <a:spcBef>
                <a:spcPts val="600"/>
              </a:spcBef>
              <a:spcAft>
                <a:spcPts val="0"/>
              </a:spcAft>
              <a:buClr>
                <a:schemeClr val="dk1"/>
              </a:buClr>
              <a:buSzPts val="1600"/>
              <a:buFont typeface="Arial"/>
              <a:buNone/>
            </a:pPr>
            <a:r>
              <a:t/>
            </a:r>
            <a:endParaRPr sz="1100">
              <a:solidFill>
                <a:srgbClr val="000000"/>
              </a:solidFill>
            </a:endParaRPr>
          </a:p>
          <a:p>
            <a:pPr indent="0" lvl="0" marL="0" marR="0" rtl="0" algn="l">
              <a:lnSpc>
                <a:spcPct val="100000"/>
              </a:lnSpc>
              <a:spcBef>
                <a:spcPts val="0"/>
              </a:spcBef>
              <a:spcAft>
                <a:spcPts val="0"/>
              </a:spcAft>
              <a:buClr>
                <a:schemeClr val="dk1"/>
              </a:buClr>
              <a:buSzPts val="1000"/>
              <a:buFont typeface="Arial"/>
              <a:buNone/>
            </a:pPr>
            <a:r>
              <a:t/>
            </a:r>
            <a:endParaRPr sz="700"/>
          </a:p>
        </p:txBody>
      </p:sp>
      <p:sp>
        <p:nvSpPr>
          <p:cNvPr id="335" name="Google Shape;335;p29"/>
          <p:cNvSpPr txBox="1"/>
          <p:nvPr>
            <p:ph idx="4" type="body"/>
          </p:nvPr>
        </p:nvSpPr>
        <p:spPr>
          <a:xfrm>
            <a:off x="3459163" y="548720"/>
            <a:ext cx="2070000" cy="408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E2D69"/>
              </a:buClr>
              <a:buSzPts val="1200"/>
              <a:buFont typeface="Arial"/>
              <a:buNone/>
            </a:pPr>
            <a:r>
              <a:rPr lang="ru-RU" sz="1100"/>
              <a:t>Data analysis and mining</a:t>
            </a:r>
            <a:endParaRPr sz="1100"/>
          </a:p>
          <a:p>
            <a:pPr indent="0" lvl="0" marL="0" rtl="0" algn="l">
              <a:spcBef>
                <a:spcPts val="0"/>
              </a:spcBef>
              <a:spcAft>
                <a:spcPts val="0"/>
              </a:spcAft>
              <a:buClr>
                <a:srgbClr val="0E2D69"/>
              </a:buClr>
              <a:buSzPts val="1200"/>
              <a:buFont typeface="Arial"/>
              <a:buNone/>
            </a:pPr>
            <a:r>
              <a:t/>
            </a:r>
            <a:endParaRPr sz="1100"/>
          </a:p>
          <a:p>
            <a:pPr indent="0" lvl="0" marL="0" rtl="0" algn="l">
              <a:lnSpc>
                <a:spcPct val="100000"/>
              </a:lnSpc>
              <a:spcBef>
                <a:spcPts val="0"/>
              </a:spcBef>
              <a:spcAft>
                <a:spcPts val="0"/>
              </a:spcAft>
              <a:buClr>
                <a:srgbClr val="0E2D69"/>
              </a:buClr>
              <a:buSzPts val="1000"/>
              <a:buNone/>
            </a:pPr>
            <a:r>
              <a:t/>
            </a:r>
            <a:endParaRPr sz="1100"/>
          </a:p>
        </p:txBody>
      </p:sp>
      <p:sp>
        <p:nvSpPr>
          <p:cNvPr id="336" name="Google Shape;336;p29"/>
          <p:cNvSpPr txBox="1"/>
          <p:nvPr>
            <p:ph idx="4" type="body"/>
          </p:nvPr>
        </p:nvSpPr>
        <p:spPr>
          <a:xfrm>
            <a:off x="6174850" y="612901"/>
            <a:ext cx="2217600" cy="367500"/>
          </a:xfrm>
          <a:prstGeom prst="rect">
            <a:avLst/>
          </a:prstGeom>
          <a:noFill/>
          <a:ln>
            <a:noFill/>
          </a:ln>
        </p:spPr>
        <p:txBody>
          <a:bodyPr anchorCtr="0" anchor="t" bIns="0" lIns="0" spcFirstLastPara="1" rIns="0" wrap="square" tIns="0">
            <a:normAutofit/>
          </a:bodyPr>
          <a:lstStyle/>
          <a:p>
            <a:pPr indent="0" lvl="0" marL="0" rtl="0" algn="l">
              <a:lnSpc>
                <a:spcPct val="70000"/>
              </a:lnSpc>
              <a:spcBef>
                <a:spcPts val="0"/>
              </a:spcBef>
              <a:spcAft>
                <a:spcPts val="0"/>
              </a:spcAft>
              <a:buSzPts val="935"/>
              <a:buNone/>
            </a:pPr>
            <a:r>
              <a:rPr lang="ru-RU" sz="1160">
                <a:solidFill>
                  <a:srgbClr val="0F2C68"/>
                </a:solidFill>
              </a:rPr>
              <a:t>13 December 2025</a:t>
            </a:r>
            <a:endParaRPr sz="1160">
              <a:solidFill>
                <a:srgbClr val="0F2C68"/>
              </a:solidFill>
            </a:endParaRPr>
          </a:p>
          <a:p>
            <a:pPr indent="0" lvl="0" marL="0" rtl="0" algn="l">
              <a:lnSpc>
                <a:spcPct val="70000"/>
              </a:lnSpc>
              <a:spcBef>
                <a:spcPts val="0"/>
              </a:spcBef>
              <a:spcAft>
                <a:spcPts val="0"/>
              </a:spcAft>
              <a:buSzPts val="935"/>
              <a:buNone/>
            </a:pPr>
            <a:r>
              <a:t/>
            </a:r>
            <a:endParaRPr sz="1160">
              <a:solidFill>
                <a:srgbClr val="0F2C68"/>
              </a:solidFill>
            </a:endParaRPr>
          </a:p>
          <a:p>
            <a:pPr indent="0" lvl="0" marL="0" marR="0" rtl="0" algn="l">
              <a:lnSpc>
                <a:spcPct val="70000"/>
              </a:lnSpc>
              <a:spcBef>
                <a:spcPts val="0"/>
              </a:spcBef>
              <a:spcAft>
                <a:spcPts val="0"/>
              </a:spcAft>
              <a:buClr>
                <a:srgbClr val="0E2D69"/>
              </a:buClr>
              <a:buSzPts val="1020"/>
              <a:buFont typeface="Arial"/>
              <a:buNone/>
            </a:pPr>
            <a:r>
              <a:t/>
            </a:r>
            <a:endParaRPr sz="650"/>
          </a:p>
        </p:txBody>
      </p:sp>
      <p:sp>
        <p:nvSpPr>
          <p:cNvPr id="337" name="Google Shape;337;p29"/>
          <p:cNvSpPr txBox="1"/>
          <p:nvPr>
            <p:ph idx="1" type="body"/>
          </p:nvPr>
        </p:nvSpPr>
        <p:spPr>
          <a:xfrm>
            <a:off x="585775" y="2006225"/>
            <a:ext cx="10976700" cy="4267500"/>
          </a:xfrm>
          <a:prstGeom prst="rect">
            <a:avLst/>
          </a:prstGeom>
        </p:spPr>
        <p:txBody>
          <a:bodyPr anchorCtr="0" anchor="t" bIns="0" lIns="0" spcFirstLastPara="1" rIns="0" wrap="square" tIns="0">
            <a:noAutofit/>
          </a:bodyPr>
          <a:lstStyle/>
          <a:p>
            <a:pPr indent="0" lvl="0" marL="0" rtl="0" algn="l">
              <a:spcBef>
                <a:spcPts val="1000"/>
              </a:spcBef>
              <a:spcAft>
                <a:spcPts val="0"/>
              </a:spcAft>
              <a:buNone/>
            </a:pPr>
            <a:r>
              <a:rPr b="1" lang="ru-RU" sz="2000">
                <a:solidFill>
                  <a:srgbClr val="000000"/>
                </a:solidFill>
              </a:rPr>
              <a:t>CatBoostClassifier </a:t>
            </a:r>
            <a:r>
              <a:rPr lang="ru-RU" sz="2000">
                <a:solidFill>
                  <a:srgbClr val="000000"/>
                </a:solidFill>
              </a:rPr>
              <a:t>identified </a:t>
            </a:r>
            <a:r>
              <a:rPr b="1" lang="ru-RU" sz="2000">
                <a:solidFill>
                  <a:srgbClr val="000000"/>
                </a:solidFill>
              </a:rPr>
              <a:t>memory_score</a:t>
            </a:r>
            <a:r>
              <a:rPr lang="ru-RU" sz="2000">
                <a:solidFill>
                  <a:srgbClr val="000000"/>
                </a:solidFill>
              </a:rPr>
              <a:t>, </a:t>
            </a:r>
            <a:r>
              <a:rPr b="1" lang="ru-RU" sz="2000">
                <a:solidFill>
                  <a:srgbClr val="000000"/>
                </a:solidFill>
              </a:rPr>
              <a:t>education_years</a:t>
            </a:r>
            <a:r>
              <a:rPr lang="ru-RU" sz="2000">
                <a:solidFill>
                  <a:srgbClr val="000000"/>
                </a:solidFill>
              </a:rPr>
              <a:t>, </a:t>
            </a:r>
            <a:r>
              <a:rPr b="1" lang="ru-RU" sz="2000">
                <a:solidFill>
                  <a:srgbClr val="000000"/>
                </a:solidFill>
              </a:rPr>
              <a:t>chronic_conditions</a:t>
            </a:r>
            <a:r>
              <a:rPr lang="ru-RU" sz="2000">
                <a:solidFill>
                  <a:srgbClr val="000000"/>
                </a:solidFill>
              </a:rPr>
              <a:t>, and </a:t>
            </a:r>
            <a:r>
              <a:rPr b="1" lang="ru-RU" sz="2000">
                <a:solidFill>
                  <a:srgbClr val="000000"/>
                </a:solidFill>
              </a:rPr>
              <a:t>physical_activity </a:t>
            </a:r>
            <a:r>
              <a:rPr lang="ru-RU" sz="2000">
                <a:solidFill>
                  <a:srgbClr val="000000"/>
                </a:solidFill>
              </a:rPr>
              <a:t>as the most important predictive factors for aging outcomes, while gender and </a:t>
            </a:r>
            <a:r>
              <a:rPr b="1" lang="ru-RU" sz="2000">
                <a:solidFill>
                  <a:srgbClr val="000000"/>
                </a:solidFill>
              </a:rPr>
              <a:t>income_level </a:t>
            </a:r>
            <a:r>
              <a:rPr lang="ru-RU" sz="2000">
                <a:solidFill>
                  <a:srgbClr val="000000"/>
                </a:solidFill>
              </a:rPr>
              <a:t>were among the least important. It is important to note a significant caveat: the analysis revealed a likely serious undersampling of data from the </a:t>
            </a:r>
            <a:r>
              <a:rPr b="1" lang="ru-RU" sz="2000">
                <a:solidFill>
                  <a:srgbClr val="000000"/>
                </a:solidFill>
              </a:rPr>
              <a:t>Healthy  group</a:t>
            </a:r>
            <a:r>
              <a:rPr lang="ru-RU" sz="2000">
                <a:solidFill>
                  <a:srgbClr val="000000"/>
                </a:solidFill>
              </a:rPr>
              <a:t>, which has resulted in a damaged distribution for the key memory_score variable. This data loss introduces potential bias into the model and suggests that ANOVA results for the Healthy group should be interpreted with caution.</a:t>
            </a:r>
            <a:endParaRPr sz="2000">
              <a:solidFill>
                <a:srgbClr val="000000"/>
              </a:solidFill>
            </a:endParaRPr>
          </a:p>
          <a:p>
            <a:pPr indent="0" lvl="0" marL="0" rtl="0" algn="l">
              <a:spcBef>
                <a:spcPts val="1000"/>
              </a:spcBef>
              <a:spcAft>
                <a:spcPts val="0"/>
              </a:spcAft>
              <a:buNone/>
            </a:pPr>
            <a:r>
              <a:rPr lang="ru-RU" sz="2000">
                <a:solidFill>
                  <a:srgbClr val="000000"/>
                </a:solidFill>
              </a:rPr>
              <a:t>Despite this limitation, the statistical comparisons revealed strong, graded relationships between aging outcomes and the key factors. Analysis of variance showed that memory_scor significantly declined across groups, with the Healthy group performing best, followed by the At-risk and then Frail groups, with all pairwise differences being statistically significant. Similarly, a clear downward trend in education_years was observed from the Healthy to the Frail group. Conversely, the number of chronic_conditions showed a significant upward trend, with the Frail group reporting the highest burden.</a:t>
            </a:r>
            <a:endParaRPr sz="2000">
              <a:solidFill>
                <a:srgbClr val="000000"/>
              </a:solidFill>
            </a:endParaRPr>
          </a:p>
          <a:p>
            <a:pPr indent="0" lvl="0" marL="0" rtl="0" algn="l">
              <a:spcBef>
                <a:spcPts val="1000"/>
              </a:spcBef>
              <a:spcAft>
                <a:spcPts val="0"/>
              </a:spcAft>
              <a:buNone/>
            </a:pPr>
            <a:r>
              <a:t/>
            </a:r>
            <a:endParaRPr sz="2000">
              <a:solidFill>
                <a:srgbClr val="00000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1" name="Shape 341"/>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Пользовательские 1">
      <a:dk1>
        <a:srgbClr val="0F2C68"/>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
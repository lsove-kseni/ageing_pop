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25">
          <p15:clr>
            <a:srgbClr val="A4A3A4"/>
          </p15:clr>
        </p15:guide>
        <p15:guide id="2" pos="1209">
          <p15:clr>
            <a:srgbClr val="A4A3A4"/>
          </p15:clr>
        </p15:guide>
        <p15:guide id="3" pos="2955">
          <p15:clr>
            <a:srgbClr val="A4A3A4"/>
          </p15:clr>
        </p15:guide>
        <p15:guide id="4" pos="2071">
          <p15:clr>
            <a:srgbClr val="A4A3A4"/>
          </p15:clr>
        </p15:guide>
        <p15:guide id="5" pos="3840">
          <p15:clr>
            <a:srgbClr val="A4A3A4"/>
          </p15:clr>
        </p15:guide>
        <p15:guide id="6" pos="4702">
          <p15:clr>
            <a:srgbClr val="A4A3A4"/>
          </p15:clr>
        </p15:guide>
        <p15:guide id="7" pos="5586">
          <p15:clr>
            <a:srgbClr val="A4A3A4"/>
          </p15:clr>
        </p15:guide>
        <p15:guide id="8" pos="7333">
          <p15:clr>
            <a:srgbClr val="A4A3A4"/>
          </p15:clr>
        </p15:guide>
        <p15:guide id="9" orient="horz" pos="3952">
          <p15:clr>
            <a:srgbClr val="A4A3A4"/>
          </p15:clr>
        </p15:guide>
        <p15:guide id="10" pos="6471">
          <p15:clr>
            <a:srgbClr val="A4A3A4"/>
          </p15:clr>
        </p15:guide>
        <p15:guide id="11" orient="horz" pos="91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guide pos="325"/>
        <p:guide pos="1209"/>
        <p:guide pos="2955"/>
        <p:guide pos="2071"/>
        <p:guide pos="3840"/>
        <p:guide pos="4702"/>
        <p:guide pos="5586"/>
        <p:guide pos="7333"/>
        <p:guide orient="horz" pos="3952"/>
        <p:guide pos="6471"/>
        <p:guide orient="horz" pos="913"/>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91af79cabc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391af79cab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91af79cabc_0_17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g391af79cabc_0_1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91af79cabc_0_3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g391af79cabc_0_3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91af79cabc_0_3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g391af79cabc_0_3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91af79cabc_0_5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g391af79cabc_0_5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91af79cabc_0_7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g391af79cabc_0_7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91af79cabc_0_7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g391af79cabc_0_7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91af79cabc_0_7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g391af79cabc_0_7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91af79cabc_0_75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g391af79cabc_0_7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91af79cabc_0_77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g391af79cabc_0_7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91af79cabc_0_7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g391af79cabc_0_7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91af79cabc_0_80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g391af79cabc_0_8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b014f34c98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b014f34c98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g3b014f34c98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ru-RU"/>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Обложка">
  <p:cSld name="Обложка">
    <p:bg>
      <p:bgPr>
        <a:blipFill>
          <a:blip r:embed="rId2">
            <a:alphaModFix/>
          </a:blip>
          <a:stretch>
            <a:fillRect/>
          </a:stretch>
        </a:blipFill>
        <a:effectLst/>
      </p:bgPr>
    </p:bg>
    <p:spTree>
      <p:nvGrpSpPr>
        <p:cNvPr id="1" name="Shape 10"/>
        <p:cNvGrpSpPr/>
        <p:nvPr/>
      </p:nvGrpSpPr>
      <p:grpSpPr>
        <a:xfrm>
          <a:off x="0" y="0"/>
          <a:ext cx="0" cy="0"/>
          <a:chOff x="0" y="0"/>
          <a:chExt cx="0" cy="0"/>
        </a:xfrm>
      </p:grpSpPr>
      <p:pic>
        <p:nvPicPr>
          <p:cNvPr id="11" name="Google Shape;11;p2"/>
          <p:cNvPicPr preferRelativeResize="0"/>
          <p:nvPr/>
        </p:nvPicPr>
        <p:blipFill rotWithShape="1">
          <a:blip r:embed="rId3">
            <a:alphaModFix/>
          </a:blip>
          <a:srcRect/>
          <a:stretch/>
        </p:blipFill>
        <p:spPr>
          <a:xfrm>
            <a:off x="1013859" y="962173"/>
            <a:ext cx="886499" cy="886499"/>
          </a:xfrm>
          <a:prstGeom prst="rect">
            <a:avLst/>
          </a:prstGeom>
          <a:noFill/>
          <a:ln>
            <a:noFill/>
          </a:ln>
        </p:spPr>
      </p:pic>
      <p:cxnSp>
        <p:nvCxnSpPr>
          <p:cNvPr id="12" name="Google Shape;12;p2"/>
          <p:cNvCxnSpPr/>
          <p:nvPr/>
        </p:nvCxnSpPr>
        <p:spPr>
          <a:xfrm>
            <a:off x="6090212" y="985336"/>
            <a:ext cx="0" cy="840173"/>
          </a:xfrm>
          <a:prstGeom prst="straightConnector1">
            <a:avLst/>
          </a:prstGeom>
          <a:noFill/>
          <a:ln w="12700" cap="flat" cmpd="sng">
            <a:solidFill>
              <a:srgbClr val="102D69"/>
            </a:solidFill>
            <a:prstDash val="solid"/>
            <a:miter lim="800000"/>
            <a:headEnd type="none" w="sm" len="sm"/>
            <a:tailEnd type="none" w="sm" len="sm"/>
          </a:ln>
        </p:spPr>
      </p:cxnSp>
      <p:cxnSp>
        <p:nvCxnSpPr>
          <p:cNvPr id="13" name="Google Shape;13;p2"/>
          <p:cNvCxnSpPr/>
          <p:nvPr/>
        </p:nvCxnSpPr>
        <p:spPr>
          <a:xfrm>
            <a:off x="8642581" y="985336"/>
            <a:ext cx="0" cy="840173"/>
          </a:xfrm>
          <a:prstGeom prst="straightConnector1">
            <a:avLst/>
          </a:prstGeom>
          <a:noFill/>
          <a:ln w="12700" cap="flat" cmpd="sng">
            <a:solidFill>
              <a:srgbClr val="102D69"/>
            </a:solidFill>
            <a:prstDash val="solid"/>
            <a:miter lim="800000"/>
            <a:headEnd type="none" w="sm" len="sm"/>
            <a:tailEnd type="none" w="sm" len="sm"/>
          </a:ln>
        </p:spPr>
      </p:cxnSp>
      <p:cxnSp>
        <p:nvCxnSpPr>
          <p:cNvPr id="14" name="Google Shape;14;p2"/>
          <p:cNvCxnSpPr/>
          <p:nvPr/>
        </p:nvCxnSpPr>
        <p:spPr>
          <a:xfrm>
            <a:off x="11179047" y="985336"/>
            <a:ext cx="0" cy="840173"/>
          </a:xfrm>
          <a:prstGeom prst="straightConnector1">
            <a:avLst/>
          </a:prstGeom>
          <a:noFill/>
          <a:ln w="12700" cap="flat" cmpd="sng">
            <a:solidFill>
              <a:srgbClr val="102D69"/>
            </a:solidFill>
            <a:prstDash val="solid"/>
            <a:miter lim="800000"/>
            <a:headEnd type="none" w="sm" len="sm"/>
            <a:tailEnd type="none" w="sm" len="sm"/>
          </a:ln>
        </p:spPr>
      </p:cxnSp>
      <p:sp>
        <p:nvSpPr>
          <p:cNvPr id="15" name="Google Shape;15;p2"/>
          <p:cNvSpPr txBox="1">
            <a:spLocks noGrp="1"/>
          </p:cNvSpPr>
          <p:nvPr>
            <p:ph type="title"/>
          </p:nvPr>
        </p:nvSpPr>
        <p:spPr>
          <a:xfrm>
            <a:off x="1027967" y="2404670"/>
            <a:ext cx="7634059" cy="1978323"/>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rgbClr val="0E2D69"/>
              </a:buClr>
              <a:buSzPts val="4300"/>
              <a:buFont typeface="Arial"/>
              <a:buNone/>
              <a:defRPr sz="4300" b="0" i="0" u="none" strike="noStrike" cap="none">
                <a:solidFill>
                  <a:srgbClr val="0E2D6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2"/>
          <p:cNvSpPr txBox="1">
            <a:spLocks noGrp="1"/>
          </p:cNvSpPr>
          <p:nvPr>
            <p:ph type="body" idx="1"/>
          </p:nvPr>
        </p:nvSpPr>
        <p:spPr>
          <a:xfrm>
            <a:off x="2074947" y="1187841"/>
            <a:ext cx="3848717" cy="435163"/>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2"/>
          <p:cNvSpPr txBox="1">
            <a:spLocks noGrp="1"/>
          </p:cNvSpPr>
          <p:nvPr>
            <p:ph type="body" idx="2"/>
          </p:nvPr>
        </p:nvSpPr>
        <p:spPr>
          <a:xfrm>
            <a:off x="6259420" y="1173829"/>
            <a:ext cx="2278063" cy="463186"/>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E2D69"/>
              </a:buClr>
              <a:buSzPts val="1200"/>
              <a:buFont typeface="Arial"/>
              <a:buNone/>
              <a:defRPr sz="1200" b="0" i="0" u="none" strike="noStrike" cap="none">
                <a:solidFill>
                  <a:srgbClr val="0E2D69"/>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body" idx="3"/>
          </p:nvPr>
        </p:nvSpPr>
        <p:spPr>
          <a:xfrm>
            <a:off x="8786720" y="1173829"/>
            <a:ext cx="2217738" cy="463186"/>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E2D69"/>
              </a:buClr>
              <a:buSzPts val="1200"/>
              <a:buFont typeface="Arial"/>
              <a:buNone/>
              <a:defRPr sz="1200" b="0" i="0" u="none" strike="noStrike" cap="none">
                <a:solidFill>
                  <a:srgbClr val="0E2D69"/>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body" idx="4"/>
          </p:nvPr>
        </p:nvSpPr>
        <p:spPr>
          <a:xfrm>
            <a:off x="1027967" y="4824914"/>
            <a:ext cx="7625267" cy="65286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E2D69"/>
              </a:buClr>
              <a:buSzPts val="1600"/>
              <a:buFont typeface="Arial"/>
              <a:buNone/>
              <a:defRPr sz="1600" b="0" i="0" u="none" strike="noStrike" cap="none">
                <a:solidFill>
                  <a:srgbClr val="0E2D69"/>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Текст_1">
  <p:cSld name="Текст_1">
    <p:bg>
      <p:bgPr>
        <a:blipFill>
          <a:blip r:embed="rId2">
            <a:alphaModFix/>
          </a:blip>
          <a:stretch>
            <a:fillRect/>
          </a:stretch>
        </a:blipFill>
        <a:effectLst/>
      </p:bgPr>
    </p:bg>
    <p:spTree>
      <p:nvGrpSpPr>
        <p:cNvPr id="1" name="Shape 20"/>
        <p:cNvGrpSpPr/>
        <p:nvPr/>
      </p:nvGrpSpPr>
      <p:grpSpPr>
        <a:xfrm>
          <a:off x="0" y="0"/>
          <a:ext cx="0" cy="0"/>
          <a:chOff x="0" y="0"/>
          <a:chExt cx="0" cy="0"/>
        </a:xfrm>
      </p:grpSpPr>
      <p:pic>
        <p:nvPicPr>
          <p:cNvPr id="21" name="Google Shape;21;p3" descr="Icon&#10;&#10;Description automatically generated"/>
          <p:cNvPicPr preferRelativeResize="0"/>
          <p:nvPr/>
        </p:nvPicPr>
        <p:blipFill rotWithShape="1">
          <a:blip r:embed="rId3">
            <a:alphaModFix/>
          </a:blip>
          <a:srcRect/>
          <a:stretch/>
        </p:blipFill>
        <p:spPr>
          <a:xfrm>
            <a:off x="517199" y="464363"/>
            <a:ext cx="448276" cy="448276"/>
          </a:xfrm>
          <a:prstGeom prst="rect">
            <a:avLst/>
          </a:prstGeom>
          <a:noFill/>
          <a:ln>
            <a:noFill/>
          </a:ln>
        </p:spPr>
      </p:pic>
      <p:cxnSp>
        <p:nvCxnSpPr>
          <p:cNvPr id="22" name="Google Shape;22;p3"/>
          <p:cNvCxnSpPr/>
          <p:nvPr/>
        </p:nvCxnSpPr>
        <p:spPr>
          <a:xfrm>
            <a:off x="329868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23" name="Google Shape;23;p3"/>
          <p:cNvCxnSpPr/>
          <p:nvPr/>
        </p:nvCxnSpPr>
        <p:spPr>
          <a:xfrm>
            <a:off x="609941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24" name="Google Shape;24;p3"/>
          <p:cNvCxnSpPr/>
          <p:nvPr/>
        </p:nvCxnSpPr>
        <p:spPr>
          <a:xfrm>
            <a:off x="10277081"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25" name="Google Shape;25;p3"/>
          <p:cNvSpPr txBox="1"/>
          <p:nvPr/>
        </p:nvSpPr>
        <p:spPr>
          <a:xfrm>
            <a:off x="10410201" y="532278"/>
            <a:ext cx="67197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fld id="{00000000-1234-1234-1234-123412341234}" type="slidenum">
              <a:rPr lang="ru-RU" sz="2000" b="0" i="0" u="none" strike="noStrike" cap="none">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26" name="Google Shape;26;p3"/>
          <p:cNvCxnSpPr/>
          <p:nvPr/>
        </p:nvCxnSpPr>
        <p:spPr>
          <a:xfrm>
            <a:off x="11643868"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27" name="Google Shape;27;p3"/>
          <p:cNvSpPr>
            <a:spLocks noGrp="1"/>
          </p:cNvSpPr>
          <p:nvPr>
            <p:ph type="pic" idx="2"/>
          </p:nvPr>
        </p:nvSpPr>
        <p:spPr>
          <a:xfrm>
            <a:off x="6684653" y="1447790"/>
            <a:ext cx="4325167" cy="4325107"/>
          </a:xfrm>
          <a:prstGeom prst="rect">
            <a:avLst/>
          </a:prstGeom>
          <a:solidFill>
            <a:srgbClr val="D9D9D9"/>
          </a:solidFill>
          <a:ln>
            <a:noFill/>
          </a:ln>
        </p:spPr>
        <p:txBody>
          <a:bodyPr/>
          <a:lstStyle/>
          <a:p>
            <a:endParaRPr lang="ru-RU"/>
          </a:p>
        </p:txBody>
      </p:sp>
      <p:sp>
        <p:nvSpPr>
          <p:cNvPr id="28" name="Google Shape;28;p3"/>
          <p:cNvSpPr txBox="1">
            <a:spLocks noGrp="1"/>
          </p:cNvSpPr>
          <p:nvPr>
            <p:ph type="title"/>
          </p:nvPr>
        </p:nvSpPr>
        <p:spPr>
          <a:xfrm>
            <a:off x="585898" y="1447790"/>
            <a:ext cx="5245560" cy="777025"/>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3"/>
          <p:cNvSpPr txBox="1">
            <a:spLocks noGrp="1"/>
          </p:cNvSpPr>
          <p:nvPr>
            <p:ph type="body" idx="1"/>
          </p:nvPr>
        </p:nvSpPr>
        <p:spPr>
          <a:xfrm>
            <a:off x="585897" y="2379663"/>
            <a:ext cx="5245561" cy="3393234"/>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3"/>
          <p:cNvSpPr txBox="1">
            <a:spLocks noGrp="1"/>
          </p:cNvSpPr>
          <p:nvPr>
            <p:ph type="body" idx="3"/>
          </p:nvPr>
        </p:nvSpPr>
        <p:spPr>
          <a:xfrm>
            <a:off x="1143689" y="540904"/>
            <a:ext cx="1901825" cy="415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 name="Google Shape;31;p3"/>
          <p:cNvSpPr txBox="1">
            <a:spLocks noGrp="1"/>
          </p:cNvSpPr>
          <p:nvPr>
            <p:ph type="body" idx="4"/>
          </p:nvPr>
        </p:nvSpPr>
        <p:spPr>
          <a:xfrm>
            <a:off x="3459163"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3"/>
          <p:cNvSpPr txBox="1">
            <a:spLocks noGrp="1"/>
          </p:cNvSpPr>
          <p:nvPr>
            <p:ph type="body" idx="5"/>
          </p:nvPr>
        </p:nvSpPr>
        <p:spPr>
          <a:xfrm>
            <a:off x="6259892"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График_1">
  <p:cSld name="График_1">
    <p:bg>
      <p:bgPr>
        <a:blipFill>
          <a:blip r:embed="rId2">
            <a:alphaModFix/>
          </a:blip>
          <a:stretch>
            <a:fillRect/>
          </a:stretch>
        </a:blipFill>
        <a:effectLst/>
      </p:bgPr>
    </p:bg>
    <p:spTree>
      <p:nvGrpSpPr>
        <p:cNvPr id="1" name="Shape 33"/>
        <p:cNvGrpSpPr/>
        <p:nvPr/>
      </p:nvGrpSpPr>
      <p:grpSpPr>
        <a:xfrm>
          <a:off x="0" y="0"/>
          <a:ext cx="0" cy="0"/>
          <a:chOff x="0" y="0"/>
          <a:chExt cx="0" cy="0"/>
        </a:xfrm>
      </p:grpSpPr>
      <p:pic>
        <p:nvPicPr>
          <p:cNvPr id="34" name="Google Shape;34;p4" descr="Icon&#10;&#10;Description automatically generated"/>
          <p:cNvPicPr preferRelativeResize="0"/>
          <p:nvPr/>
        </p:nvPicPr>
        <p:blipFill rotWithShape="1">
          <a:blip r:embed="rId3">
            <a:alphaModFix/>
          </a:blip>
          <a:srcRect/>
          <a:stretch/>
        </p:blipFill>
        <p:spPr>
          <a:xfrm>
            <a:off x="517199" y="464363"/>
            <a:ext cx="448276" cy="448276"/>
          </a:xfrm>
          <a:prstGeom prst="rect">
            <a:avLst/>
          </a:prstGeom>
          <a:noFill/>
          <a:ln>
            <a:noFill/>
          </a:ln>
        </p:spPr>
      </p:pic>
      <p:cxnSp>
        <p:nvCxnSpPr>
          <p:cNvPr id="35" name="Google Shape;35;p4"/>
          <p:cNvCxnSpPr/>
          <p:nvPr/>
        </p:nvCxnSpPr>
        <p:spPr>
          <a:xfrm>
            <a:off x="329868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36" name="Google Shape;36;p4"/>
          <p:cNvCxnSpPr/>
          <p:nvPr/>
        </p:nvCxnSpPr>
        <p:spPr>
          <a:xfrm>
            <a:off x="609941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37" name="Google Shape;37;p4"/>
          <p:cNvCxnSpPr/>
          <p:nvPr/>
        </p:nvCxnSpPr>
        <p:spPr>
          <a:xfrm>
            <a:off x="10277081"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38" name="Google Shape;38;p4"/>
          <p:cNvSpPr txBox="1"/>
          <p:nvPr/>
        </p:nvSpPr>
        <p:spPr>
          <a:xfrm>
            <a:off x="10410201" y="532278"/>
            <a:ext cx="67197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39" name="Google Shape;39;p4"/>
          <p:cNvCxnSpPr/>
          <p:nvPr/>
        </p:nvCxnSpPr>
        <p:spPr>
          <a:xfrm>
            <a:off x="11643868"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40" name="Google Shape;40;p4"/>
          <p:cNvSpPr txBox="1">
            <a:spLocks noGrp="1"/>
          </p:cNvSpPr>
          <p:nvPr>
            <p:ph type="title"/>
          </p:nvPr>
        </p:nvSpPr>
        <p:spPr>
          <a:xfrm>
            <a:off x="585899" y="1447790"/>
            <a:ext cx="4322530" cy="777025"/>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4"/>
          <p:cNvSpPr txBox="1">
            <a:spLocks noGrp="1"/>
          </p:cNvSpPr>
          <p:nvPr>
            <p:ph type="body" idx="1"/>
          </p:nvPr>
        </p:nvSpPr>
        <p:spPr>
          <a:xfrm>
            <a:off x="585898" y="2379663"/>
            <a:ext cx="4322531" cy="2399371"/>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4"/>
          <p:cNvSpPr txBox="1">
            <a:spLocks noGrp="1"/>
          </p:cNvSpPr>
          <p:nvPr>
            <p:ph type="body" idx="2"/>
          </p:nvPr>
        </p:nvSpPr>
        <p:spPr>
          <a:xfrm>
            <a:off x="585897" y="5183249"/>
            <a:ext cx="3934345" cy="553998"/>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4"/>
          <p:cNvSpPr>
            <a:spLocks noGrp="1"/>
          </p:cNvSpPr>
          <p:nvPr>
            <p:ph type="chart" idx="3"/>
          </p:nvPr>
        </p:nvSpPr>
        <p:spPr>
          <a:xfrm>
            <a:off x="5272097" y="1447790"/>
            <a:ext cx="6371768" cy="428945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4"/>
          <p:cNvSpPr txBox="1">
            <a:spLocks noGrp="1"/>
          </p:cNvSpPr>
          <p:nvPr>
            <p:ph type="body" idx="4"/>
          </p:nvPr>
        </p:nvSpPr>
        <p:spPr>
          <a:xfrm>
            <a:off x="1143689" y="540904"/>
            <a:ext cx="1901825" cy="415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4"/>
          <p:cNvSpPr txBox="1">
            <a:spLocks noGrp="1"/>
          </p:cNvSpPr>
          <p:nvPr>
            <p:ph type="body" idx="5"/>
          </p:nvPr>
        </p:nvSpPr>
        <p:spPr>
          <a:xfrm>
            <a:off x="3459163"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4"/>
          <p:cNvSpPr txBox="1">
            <a:spLocks noGrp="1"/>
          </p:cNvSpPr>
          <p:nvPr>
            <p:ph type="body" idx="6"/>
          </p:nvPr>
        </p:nvSpPr>
        <p:spPr>
          <a:xfrm>
            <a:off x="6259892"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График_2">
  <p:cSld name="График_2">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5" descr="Icon&#10;&#10;Description automatically generated"/>
          <p:cNvPicPr preferRelativeResize="0"/>
          <p:nvPr/>
        </p:nvPicPr>
        <p:blipFill rotWithShape="1">
          <a:blip r:embed="rId3">
            <a:alphaModFix/>
          </a:blip>
          <a:srcRect/>
          <a:stretch/>
        </p:blipFill>
        <p:spPr>
          <a:xfrm>
            <a:off x="517199" y="464363"/>
            <a:ext cx="448276" cy="448276"/>
          </a:xfrm>
          <a:prstGeom prst="rect">
            <a:avLst/>
          </a:prstGeom>
          <a:noFill/>
          <a:ln>
            <a:noFill/>
          </a:ln>
        </p:spPr>
      </p:pic>
      <p:cxnSp>
        <p:nvCxnSpPr>
          <p:cNvPr id="49" name="Google Shape;49;p5"/>
          <p:cNvCxnSpPr/>
          <p:nvPr/>
        </p:nvCxnSpPr>
        <p:spPr>
          <a:xfrm>
            <a:off x="329868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50" name="Google Shape;50;p5"/>
          <p:cNvCxnSpPr/>
          <p:nvPr/>
        </p:nvCxnSpPr>
        <p:spPr>
          <a:xfrm>
            <a:off x="609941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51" name="Google Shape;51;p5"/>
          <p:cNvCxnSpPr/>
          <p:nvPr/>
        </p:nvCxnSpPr>
        <p:spPr>
          <a:xfrm>
            <a:off x="10277081"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52" name="Google Shape;52;p5"/>
          <p:cNvSpPr txBox="1"/>
          <p:nvPr/>
        </p:nvSpPr>
        <p:spPr>
          <a:xfrm>
            <a:off x="10410201" y="532278"/>
            <a:ext cx="67197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53" name="Google Shape;53;p5"/>
          <p:cNvCxnSpPr/>
          <p:nvPr/>
        </p:nvCxnSpPr>
        <p:spPr>
          <a:xfrm>
            <a:off x="11643868"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54" name="Google Shape;54;p5"/>
          <p:cNvSpPr txBox="1">
            <a:spLocks noGrp="1"/>
          </p:cNvSpPr>
          <p:nvPr>
            <p:ph type="body" idx="1"/>
          </p:nvPr>
        </p:nvSpPr>
        <p:spPr>
          <a:xfrm>
            <a:off x="585897" y="5183249"/>
            <a:ext cx="3934345" cy="553998"/>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5" name="Google Shape;55;p5"/>
          <p:cNvSpPr>
            <a:spLocks noGrp="1"/>
          </p:cNvSpPr>
          <p:nvPr>
            <p:ph type="chart" idx="2"/>
          </p:nvPr>
        </p:nvSpPr>
        <p:spPr>
          <a:xfrm>
            <a:off x="5272097" y="1447790"/>
            <a:ext cx="6371768" cy="428945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6" name="Google Shape;56;p5"/>
          <p:cNvSpPr txBox="1">
            <a:spLocks noGrp="1"/>
          </p:cNvSpPr>
          <p:nvPr>
            <p:ph type="body" idx="3"/>
          </p:nvPr>
        </p:nvSpPr>
        <p:spPr>
          <a:xfrm>
            <a:off x="585788" y="1447064"/>
            <a:ext cx="4322762" cy="70320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E2D69"/>
              </a:buClr>
              <a:buSzPts val="1600"/>
              <a:buFont typeface="Arial"/>
              <a:buNone/>
              <a:defRPr sz="1600" b="0" i="0" u="none" strike="noStrike" cap="none">
                <a:solidFill>
                  <a:srgbClr val="0E2D69"/>
                </a:solidFill>
                <a:latin typeface="Arial"/>
                <a:ea typeface="Arial"/>
                <a:cs typeface="Arial"/>
                <a:sym typeface="Arial"/>
              </a:defRPr>
            </a:lvl1pPr>
            <a:lvl2pPr marL="914400" marR="0" lvl="1"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2pPr>
            <a:lvl3pPr marL="1371600" marR="0" lvl="2"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3pPr>
            <a:lvl4pPr marL="1828800" marR="0" lvl="3"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4pPr>
            <a:lvl5pPr marL="2286000" marR="0" lvl="4"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7" name="Google Shape;57;p5"/>
          <p:cNvSpPr txBox="1">
            <a:spLocks noGrp="1"/>
          </p:cNvSpPr>
          <p:nvPr>
            <p:ph type="body" idx="4"/>
          </p:nvPr>
        </p:nvSpPr>
        <p:spPr>
          <a:xfrm>
            <a:off x="585898" y="2379663"/>
            <a:ext cx="4322531" cy="2399371"/>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5"/>
          <p:cNvSpPr txBox="1">
            <a:spLocks noGrp="1"/>
          </p:cNvSpPr>
          <p:nvPr>
            <p:ph type="body" idx="5"/>
          </p:nvPr>
        </p:nvSpPr>
        <p:spPr>
          <a:xfrm>
            <a:off x="1143689" y="540904"/>
            <a:ext cx="1901825" cy="415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9" name="Google Shape;59;p5"/>
          <p:cNvSpPr txBox="1">
            <a:spLocks noGrp="1"/>
          </p:cNvSpPr>
          <p:nvPr>
            <p:ph type="body" idx="6"/>
          </p:nvPr>
        </p:nvSpPr>
        <p:spPr>
          <a:xfrm>
            <a:off x="3459163"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0" name="Google Shape;60;p5"/>
          <p:cNvSpPr txBox="1">
            <a:spLocks noGrp="1"/>
          </p:cNvSpPr>
          <p:nvPr>
            <p:ph type="body" idx="7"/>
          </p:nvPr>
        </p:nvSpPr>
        <p:spPr>
          <a:xfrm>
            <a:off x="6259892"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Таблица_1">
  <p:cSld name="Таблица_1">
    <p:bg>
      <p:bgPr>
        <a:blipFill>
          <a:blip r:embed="rId2">
            <a:alphaModFix/>
          </a:blip>
          <a:stretch>
            <a:fillRect/>
          </a:stretch>
        </a:blipFill>
        <a:effectLst/>
      </p:bgPr>
    </p:bg>
    <p:spTree>
      <p:nvGrpSpPr>
        <p:cNvPr id="1" name="Shape 61"/>
        <p:cNvGrpSpPr/>
        <p:nvPr/>
      </p:nvGrpSpPr>
      <p:grpSpPr>
        <a:xfrm>
          <a:off x="0" y="0"/>
          <a:ext cx="0" cy="0"/>
          <a:chOff x="0" y="0"/>
          <a:chExt cx="0" cy="0"/>
        </a:xfrm>
      </p:grpSpPr>
      <p:pic>
        <p:nvPicPr>
          <p:cNvPr id="62" name="Google Shape;62;p6" descr="Icon&#10;&#10;Description automatically generated"/>
          <p:cNvPicPr preferRelativeResize="0"/>
          <p:nvPr/>
        </p:nvPicPr>
        <p:blipFill rotWithShape="1">
          <a:blip r:embed="rId3">
            <a:alphaModFix/>
          </a:blip>
          <a:srcRect/>
          <a:stretch/>
        </p:blipFill>
        <p:spPr>
          <a:xfrm>
            <a:off x="517199" y="464363"/>
            <a:ext cx="448276" cy="448276"/>
          </a:xfrm>
          <a:prstGeom prst="rect">
            <a:avLst/>
          </a:prstGeom>
          <a:noFill/>
          <a:ln>
            <a:noFill/>
          </a:ln>
        </p:spPr>
      </p:pic>
      <p:cxnSp>
        <p:nvCxnSpPr>
          <p:cNvPr id="63" name="Google Shape;63;p6"/>
          <p:cNvCxnSpPr/>
          <p:nvPr/>
        </p:nvCxnSpPr>
        <p:spPr>
          <a:xfrm>
            <a:off x="329868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64" name="Google Shape;64;p6"/>
          <p:cNvCxnSpPr/>
          <p:nvPr/>
        </p:nvCxnSpPr>
        <p:spPr>
          <a:xfrm>
            <a:off x="609941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65" name="Google Shape;65;p6"/>
          <p:cNvCxnSpPr/>
          <p:nvPr/>
        </p:nvCxnSpPr>
        <p:spPr>
          <a:xfrm>
            <a:off x="10277081"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66" name="Google Shape;66;p6"/>
          <p:cNvSpPr txBox="1"/>
          <p:nvPr/>
        </p:nvSpPr>
        <p:spPr>
          <a:xfrm>
            <a:off x="10410201" y="532278"/>
            <a:ext cx="67197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67" name="Google Shape;67;p6"/>
          <p:cNvCxnSpPr/>
          <p:nvPr/>
        </p:nvCxnSpPr>
        <p:spPr>
          <a:xfrm>
            <a:off x="11643868"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68" name="Google Shape;68;p6"/>
          <p:cNvSpPr txBox="1">
            <a:spLocks noGrp="1"/>
          </p:cNvSpPr>
          <p:nvPr>
            <p:ph type="body" idx="1"/>
          </p:nvPr>
        </p:nvSpPr>
        <p:spPr>
          <a:xfrm>
            <a:off x="585787" y="1447065"/>
            <a:ext cx="11058065" cy="307778"/>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rgbClr val="0E2D69"/>
              </a:buClr>
              <a:buSzPts val="1600"/>
              <a:buFont typeface="Arial"/>
              <a:buNone/>
              <a:defRPr sz="1600" b="0" i="0" u="none" strike="noStrike" cap="none">
                <a:solidFill>
                  <a:srgbClr val="0E2D69"/>
                </a:solidFill>
                <a:latin typeface="Arial"/>
                <a:ea typeface="Arial"/>
                <a:cs typeface="Arial"/>
                <a:sym typeface="Arial"/>
              </a:defRPr>
            </a:lvl1pPr>
            <a:lvl2pPr marL="914400" marR="0" lvl="1"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2pPr>
            <a:lvl3pPr marL="1371600" marR="0" lvl="2"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3pPr>
            <a:lvl4pPr marL="1828800" marR="0" lvl="3"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4pPr>
            <a:lvl5pPr marL="2286000" marR="0" lvl="4"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9" name="Google Shape;69;p6"/>
          <p:cNvSpPr txBox="1">
            <a:spLocks noGrp="1"/>
          </p:cNvSpPr>
          <p:nvPr>
            <p:ph type="body" idx="2"/>
          </p:nvPr>
        </p:nvSpPr>
        <p:spPr>
          <a:xfrm>
            <a:off x="585788" y="5739189"/>
            <a:ext cx="6824303" cy="703205"/>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6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311150" algn="l" rtl="0">
              <a:lnSpc>
                <a:spcPct val="90000"/>
              </a:lnSpc>
              <a:spcBef>
                <a:spcPts val="500"/>
              </a:spcBef>
              <a:spcAft>
                <a:spcPts val="0"/>
              </a:spcAft>
              <a:buClr>
                <a:srgbClr val="0E2D69"/>
              </a:buClr>
              <a:buSzPts val="1300"/>
              <a:buFont typeface="Arial"/>
              <a:buChar char="•"/>
              <a:defRPr sz="1300" b="0" i="0" u="none" strike="noStrike" cap="none">
                <a:solidFill>
                  <a:srgbClr val="0E2D69"/>
                </a:solidFill>
                <a:latin typeface="Arial"/>
                <a:ea typeface="Arial"/>
                <a:cs typeface="Arial"/>
                <a:sym typeface="Arial"/>
              </a:defRPr>
            </a:lvl2pPr>
            <a:lvl3pPr marL="1371600" marR="0" lvl="2" indent="-311150" algn="l" rtl="0">
              <a:lnSpc>
                <a:spcPct val="90000"/>
              </a:lnSpc>
              <a:spcBef>
                <a:spcPts val="500"/>
              </a:spcBef>
              <a:spcAft>
                <a:spcPts val="0"/>
              </a:spcAft>
              <a:buClr>
                <a:srgbClr val="0E2D69"/>
              </a:buClr>
              <a:buSzPts val="1300"/>
              <a:buFont typeface="Arial"/>
              <a:buChar char="•"/>
              <a:defRPr sz="1300" b="0" i="0" u="none" strike="noStrike" cap="none">
                <a:solidFill>
                  <a:srgbClr val="0E2D69"/>
                </a:solidFill>
                <a:latin typeface="Arial"/>
                <a:ea typeface="Arial"/>
                <a:cs typeface="Arial"/>
                <a:sym typeface="Arial"/>
              </a:defRPr>
            </a:lvl3pPr>
            <a:lvl4pPr marL="1828800" marR="0" lvl="3" indent="-311150" algn="l" rtl="0">
              <a:lnSpc>
                <a:spcPct val="90000"/>
              </a:lnSpc>
              <a:spcBef>
                <a:spcPts val="500"/>
              </a:spcBef>
              <a:spcAft>
                <a:spcPts val="0"/>
              </a:spcAft>
              <a:buClr>
                <a:srgbClr val="0E2D69"/>
              </a:buClr>
              <a:buSzPts val="1300"/>
              <a:buFont typeface="Arial"/>
              <a:buChar char="•"/>
              <a:defRPr sz="1300" b="0" i="0" u="none" strike="noStrike" cap="none">
                <a:solidFill>
                  <a:srgbClr val="0E2D69"/>
                </a:solidFill>
                <a:latin typeface="Arial"/>
                <a:ea typeface="Arial"/>
                <a:cs typeface="Arial"/>
                <a:sym typeface="Arial"/>
              </a:defRPr>
            </a:lvl4pPr>
            <a:lvl5pPr marL="2286000" marR="0" lvl="4" indent="-311150" algn="l" rtl="0">
              <a:lnSpc>
                <a:spcPct val="90000"/>
              </a:lnSpc>
              <a:spcBef>
                <a:spcPts val="500"/>
              </a:spcBef>
              <a:spcAft>
                <a:spcPts val="0"/>
              </a:spcAft>
              <a:buClr>
                <a:srgbClr val="0E2D69"/>
              </a:buClr>
              <a:buSzPts val="1300"/>
              <a:buFont typeface="Arial"/>
              <a:buChar char="•"/>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0" name="Google Shape;70;p6"/>
          <p:cNvSpPr>
            <a:spLocks noGrp="1"/>
          </p:cNvSpPr>
          <p:nvPr>
            <p:ph type="tbl" idx="3"/>
          </p:nvPr>
        </p:nvSpPr>
        <p:spPr>
          <a:xfrm>
            <a:off x="585787" y="1984076"/>
            <a:ext cx="11058527" cy="351957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6"/>
          <p:cNvSpPr txBox="1">
            <a:spLocks noGrp="1"/>
          </p:cNvSpPr>
          <p:nvPr>
            <p:ph type="body" idx="4"/>
          </p:nvPr>
        </p:nvSpPr>
        <p:spPr>
          <a:xfrm>
            <a:off x="1143689" y="540904"/>
            <a:ext cx="1901825" cy="415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2" name="Google Shape;72;p6"/>
          <p:cNvSpPr txBox="1">
            <a:spLocks noGrp="1"/>
          </p:cNvSpPr>
          <p:nvPr>
            <p:ph type="body" idx="5"/>
          </p:nvPr>
        </p:nvSpPr>
        <p:spPr>
          <a:xfrm>
            <a:off x="3459163"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3" name="Google Shape;73;p6"/>
          <p:cNvSpPr txBox="1">
            <a:spLocks noGrp="1"/>
          </p:cNvSpPr>
          <p:nvPr>
            <p:ph type="body" idx="6"/>
          </p:nvPr>
        </p:nvSpPr>
        <p:spPr>
          <a:xfrm>
            <a:off x="6259892"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Таблица_2">
  <p:cSld name="Таблица_2">
    <p:bg>
      <p:bgPr>
        <a:blipFill>
          <a:blip r:embed="rId2">
            <a:alphaModFix/>
          </a:blip>
          <a:stretch>
            <a:fillRect/>
          </a:stretch>
        </a:blipFill>
        <a:effectLst/>
      </p:bgPr>
    </p:bg>
    <p:spTree>
      <p:nvGrpSpPr>
        <p:cNvPr id="1" name="Shape 74"/>
        <p:cNvGrpSpPr/>
        <p:nvPr/>
      </p:nvGrpSpPr>
      <p:grpSpPr>
        <a:xfrm>
          <a:off x="0" y="0"/>
          <a:ext cx="0" cy="0"/>
          <a:chOff x="0" y="0"/>
          <a:chExt cx="0" cy="0"/>
        </a:xfrm>
      </p:grpSpPr>
      <p:pic>
        <p:nvPicPr>
          <p:cNvPr id="75" name="Google Shape;75;p7" descr="Icon&#10;&#10;Description automatically generated"/>
          <p:cNvPicPr preferRelativeResize="0"/>
          <p:nvPr/>
        </p:nvPicPr>
        <p:blipFill rotWithShape="1">
          <a:blip r:embed="rId3">
            <a:alphaModFix/>
          </a:blip>
          <a:srcRect/>
          <a:stretch/>
        </p:blipFill>
        <p:spPr>
          <a:xfrm>
            <a:off x="517199" y="464363"/>
            <a:ext cx="448276" cy="448276"/>
          </a:xfrm>
          <a:prstGeom prst="rect">
            <a:avLst/>
          </a:prstGeom>
          <a:noFill/>
          <a:ln>
            <a:noFill/>
          </a:ln>
        </p:spPr>
      </p:pic>
      <p:cxnSp>
        <p:nvCxnSpPr>
          <p:cNvPr id="76" name="Google Shape;76;p7"/>
          <p:cNvCxnSpPr/>
          <p:nvPr/>
        </p:nvCxnSpPr>
        <p:spPr>
          <a:xfrm>
            <a:off x="329868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77" name="Google Shape;77;p7"/>
          <p:cNvCxnSpPr/>
          <p:nvPr/>
        </p:nvCxnSpPr>
        <p:spPr>
          <a:xfrm>
            <a:off x="609941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78" name="Google Shape;78;p7"/>
          <p:cNvCxnSpPr/>
          <p:nvPr/>
        </p:nvCxnSpPr>
        <p:spPr>
          <a:xfrm>
            <a:off x="10277081"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79" name="Google Shape;79;p7"/>
          <p:cNvSpPr txBox="1"/>
          <p:nvPr/>
        </p:nvSpPr>
        <p:spPr>
          <a:xfrm>
            <a:off x="10410201" y="532278"/>
            <a:ext cx="67197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80" name="Google Shape;80;p7"/>
          <p:cNvCxnSpPr/>
          <p:nvPr/>
        </p:nvCxnSpPr>
        <p:spPr>
          <a:xfrm>
            <a:off x="11643868"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81" name="Google Shape;81;p7"/>
          <p:cNvSpPr txBox="1">
            <a:spLocks noGrp="1"/>
          </p:cNvSpPr>
          <p:nvPr>
            <p:ph type="body" idx="1"/>
          </p:nvPr>
        </p:nvSpPr>
        <p:spPr>
          <a:xfrm>
            <a:off x="585787" y="1447064"/>
            <a:ext cx="7617877" cy="537011"/>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rgbClr val="0E2D69"/>
              </a:buClr>
              <a:buSzPts val="1600"/>
              <a:buFont typeface="Arial"/>
              <a:buNone/>
              <a:defRPr sz="1600" b="0" i="0" u="none" strike="noStrike" cap="none">
                <a:solidFill>
                  <a:srgbClr val="0E2D69"/>
                </a:solidFill>
                <a:latin typeface="Arial"/>
                <a:ea typeface="Arial"/>
                <a:cs typeface="Arial"/>
                <a:sym typeface="Arial"/>
              </a:defRPr>
            </a:lvl1pPr>
            <a:lvl2pPr marL="914400" marR="0" lvl="1"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2pPr>
            <a:lvl3pPr marL="1371600" marR="0" lvl="2"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3pPr>
            <a:lvl4pPr marL="1828800" marR="0" lvl="3"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4pPr>
            <a:lvl5pPr marL="2286000" marR="0" lvl="4" indent="-330200" algn="l" rtl="0">
              <a:lnSpc>
                <a:spcPct val="90000"/>
              </a:lnSpc>
              <a:spcBef>
                <a:spcPts val="500"/>
              </a:spcBef>
              <a:spcAft>
                <a:spcPts val="0"/>
              </a:spcAft>
              <a:buClr>
                <a:srgbClr val="0E2D69"/>
              </a:buClr>
              <a:buSzPts val="1600"/>
              <a:buFont typeface="Arial"/>
              <a:buChar char="•"/>
              <a:defRPr sz="16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2" name="Google Shape;82;p7"/>
          <p:cNvSpPr txBox="1">
            <a:spLocks noGrp="1"/>
          </p:cNvSpPr>
          <p:nvPr>
            <p:ph type="body" idx="2"/>
          </p:nvPr>
        </p:nvSpPr>
        <p:spPr>
          <a:xfrm>
            <a:off x="585788" y="5739189"/>
            <a:ext cx="6824303" cy="703205"/>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6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311150" algn="l" rtl="0">
              <a:lnSpc>
                <a:spcPct val="90000"/>
              </a:lnSpc>
              <a:spcBef>
                <a:spcPts val="500"/>
              </a:spcBef>
              <a:spcAft>
                <a:spcPts val="0"/>
              </a:spcAft>
              <a:buClr>
                <a:srgbClr val="0E2D69"/>
              </a:buClr>
              <a:buSzPts val="1300"/>
              <a:buFont typeface="Arial"/>
              <a:buChar char="•"/>
              <a:defRPr sz="1300" b="0" i="0" u="none" strike="noStrike" cap="none">
                <a:solidFill>
                  <a:srgbClr val="0E2D69"/>
                </a:solidFill>
                <a:latin typeface="Arial"/>
                <a:ea typeface="Arial"/>
                <a:cs typeface="Arial"/>
                <a:sym typeface="Arial"/>
              </a:defRPr>
            </a:lvl2pPr>
            <a:lvl3pPr marL="1371600" marR="0" lvl="2" indent="-311150" algn="l" rtl="0">
              <a:lnSpc>
                <a:spcPct val="90000"/>
              </a:lnSpc>
              <a:spcBef>
                <a:spcPts val="500"/>
              </a:spcBef>
              <a:spcAft>
                <a:spcPts val="0"/>
              </a:spcAft>
              <a:buClr>
                <a:srgbClr val="0E2D69"/>
              </a:buClr>
              <a:buSzPts val="1300"/>
              <a:buFont typeface="Arial"/>
              <a:buChar char="•"/>
              <a:defRPr sz="1300" b="0" i="0" u="none" strike="noStrike" cap="none">
                <a:solidFill>
                  <a:srgbClr val="0E2D69"/>
                </a:solidFill>
                <a:latin typeface="Arial"/>
                <a:ea typeface="Arial"/>
                <a:cs typeface="Arial"/>
                <a:sym typeface="Arial"/>
              </a:defRPr>
            </a:lvl3pPr>
            <a:lvl4pPr marL="1828800" marR="0" lvl="3" indent="-311150" algn="l" rtl="0">
              <a:lnSpc>
                <a:spcPct val="90000"/>
              </a:lnSpc>
              <a:spcBef>
                <a:spcPts val="500"/>
              </a:spcBef>
              <a:spcAft>
                <a:spcPts val="0"/>
              </a:spcAft>
              <a:buClr>
                <a:srgbClr val="0E2D69"/>
              </a:buClr>
              <a:buSzPts val="1300"/>
              <a:buFont typeface="Arial"/>
              <a:buChar char="•"/>
              <a:defRPr sz="1300" b="0" i="0" u="none" strike="noStrike" cap="none">
                <a:solidFill>
                  <a:srgbClr val="0E2D69"/>
                </a:solidFill>
                <a:latin typeface="Arial"/>
                <a:ea typeface="Arial"/>
                <a:cs typeface="Arial"/>
                <a:sym typeface="Arial"/>
              </a:defRPr>
            </a:lvl4pPr>
            <a:lvl5pPr marL="2286000" marR="0" lvl="4" indent="-311150" algn="l" rtl="0">
              <a:lnSpc>
                <a:spcPct val="90000"/>
              </a:lnSpc>
              <a:spcBef>
                <a:spcPts val="500"/>
              </a:spcBef>
              <a:spcAft>
                <a:spcPts val="0"/>
              </a:spcAft>
              <a:buClr>
                <a:srgbClr val="0E2D69"/>
              </a:buClr>
              <a:buSzPts val="1300"/>
              <a:buFont typeface="Arial"/>
              <a:buChar char="•"/>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p7"/>
          <p:cNvSpPr>
            <a:spLocks noGrp="1"/>
          </p:cNvSpPr>
          <p:nvPr>
            <p:ph type="tbl" idx="3"/>
          </p:nvPr>
        </p:nvSpPr>
        <p:spPr>
          <a:xfrm>
            <a:off x="585787" y="2208362"/>
            <a:ext cx="7617895" cy="329529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p7"/>
          <p:cNvSpPr txBox="1">
            <a:spLocks noGrp="1"/>
          </p:cNvSpPr>
          <p:nvPr>
            <p:ph type="body" idx="4"/>
          </p:nvPr>
        </p:nvSpPr>
        <p:spPr>
          <a:xfrm>
            <a:off x="8686807" y="2208363"/>
            <a:ext cx="2930666" cy="2570672"/>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7"/>
          <p:cNvSpPr txBox="1">
            <a:spLocks noGrp="1"/>
          </p:cNvSpPr>
          <p:nvPr>
            <p:ph type="body" idx="5"/>
          </p:nvPr>
        </p:nvSpPr>
        <p:spPr>
          <a:xfrm>
            <a:off x="1143689" y="540904"/>
            <a:ext cx="1901825" cy="415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6" name="Google Shape;86;p7"/>
          <p:cNvSpPr txBox="1">
            <a:spLocks noGrp="1"/>
          </p:cNvSpPr>
          <p:nvPr>
            <p:ph type="body" idx="6"/>
          </p:nvPr>
        </p:nvSpPr>
        <p:spPr>
          <a:xfrm>
            <a:off x="3459163"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7"/>
          <p:cNvSpPr txBox="1">
            <a:spLocks noGrp="1"/>
          </p:cNvSpPr>
          <p:nvPr>
            <p:ph type="body" idx="7"/>
          </p:nvPr>
        </p:nvSpPr>
        <p:spPr>
          <a:xfrm>
            <a:off x="6259892"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цвет">
  <p:cSld name="цвет">
    <p:bg>
      <p:bgPr>
        <a:blipFill>
          <a:blip r:embed="rId2">
            <a:alphaModFix/>
          </a:blip>
          <a:stretch>
            <a:fillRect/>
          </a:stretch>
        </a:blipFill>
        <a:effectLst/>
      </p:bgPr>
    </p:bg>
    <p:spTree>
      <p:nvGrpSpPr>
        <p:cNvPr id="1" name="Shape 88"/>
        <p:cNvGrpSpPr/>
        <p:nvPr/>
      </p:nvGrpSpPr>
      <p:grpSpPr>
        <a:xfrm>
          <a:off x="0" y="0"/>
          <a:ext cx="0" cy="0"/>
          <a:chOff x="0" y="0"/>
          <a:chExt cx="0" cy="0"/>
        </a:xfrm>
      </p:grpSpPr>
      <p:pic>
        <p:nvPicPr>
          <p:cNvPr id="89" name="Google Shape;89;p8" descr="Icon&#10;&#10;Description automatically generated"/>
          <p:cNvPicPr preferRelativeResize="0"/>
          <p:nvPr/>
        </p:nvPicPr>
        <p:blipFill rotWithShape="1">
          <a:blip r:embed="rId3">
            <a:alphaModFix/>
          </a:blip>
          <a:srcRect/>
          <a:stretch/>
        </p:blipFill>
        <p:spPr>
          <a:xfrm>
            <a:off x="517199" y="464363"/>
            <a:ext cx="448276" cy="448276"/>
          </a:xfrm>
          <a:prstGeom prst="rect">
            <a:avLst/>
          </a:prstGeom>
          <a:noFill/>
          <a:ln>
            <a:noFill/>
          </a:ln>
        </p:spPr>
      </p:pic>
      <p:cxnSp>
        <p:nvCxnSpPr>
          <p:cNvPr id="90" name="Google Shape;90;p8"/>
          <p:cNvCxnSpPr/>
          <p:nvPr/>
        </p:nvCxnSpPr>
        <p:spPr>
          <a:xfrm>
            <a:off x="329868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91" name="Google Shape;91;p8"/>
          <p:cNvCxnSpPr/>
          <p:nvPr/>
        </p:nvCxnSpPr>
        <p:spPr>
          <a:xfrm>
            <a:off x="609941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92" name="Google Shape;92;p8"/>
          <p:cNvCxnSpPr/>
          <p:nvPr/>
        </p:nvCxnSpPr>
        <p:spPr>
          <a:xfrm>
            <a:off x="10277081"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93" name="Google Shape;93;p8"/>
          <p:cNvSpPr txBox="1"/>
          <p:nvPr/>
        </p:nvSpPr>
        <p:spPr>
          <a:xfrm>
            <a:off x="10410201" y="532278"/>
            <a:ext cx="67197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94" name="Google Shape;94;p8"/>
          <p:cNvCxnSpPr/>
          <p:nvPr/>
        </p:nvCxnSpPr>
        <p:spPr>
          <a:xfrm>
            <a:off x="11643868"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95" name="Google Shape;95;p8"/>
          <p:cNvSpPr txBox="1">
            <a:spLocks noGrp="1"/>
          </p:cNvSpPr>
          <p:nvPr>
            <p:ph type="title"/>
          </p:nvPr>
        </p:nvSpPr>
        <p:spPr>
          <a:xfrm>
            <a:off x="585899" y="1447790"/>
            <a:ext cx="4322530" cy="777025"/>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6" name="Google Shape;96;p8"/>
          <p:cNvSpPr txBox="1">
            <a:spLocks noGrp="1"/>
          </p:cNvSpPr>
          <p:nvPr>
            <p:ph type="body" idx="1"/>
          </p:nvPr>
        </p:nvSpPr>
        <p:spPr>
          <a:xfrm>
            <a:off x="585898" y="2379663"/>
            <a:ext cx="4322531" cy="2399371"/>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7" name="Google Shape;97;p8"/>
          <p:cNvSpPr/>
          <p:nvPr/>
        </p:nvSpPr>
        <p:spPr>
          <a:xfrm>
            <a:off x="5392982" y="1447790"/>
            <a:ext cx="830997" cy="830997"/>
          </a:xfrm>
          <a:prstGeom prst="ellipse">
            <a:avLst/>
          </a:prstGeom>
          <a:solidFill>
            <a:srgbClr val="0E2D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8"/>
          <p:cNvSpPr/>
          <p:nvPr/>
        </p:nvSpPr>
        <p:spPr>
          <a:xfrm>
            <a:off x="6742925" y="1447790"/>
            <a:ext cx="830997" cy="830997"/>
          </a:xfrm>
          <a:prstGeom prst="ellipse">
            <a:avLst/>
          </a:prstGeom>
          <a:solidFill>
            <a:srgbClr val="234A9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8"/>
          <p:cNvSpPr/>
          <p:nvPr/>
        </p:nvSpPr>
        <p:spPr>
          <a:xfrm>
            <a:off x="8092868" y="1447790"/>
            <a:ext cx="830997" cy="830997"/>
          </a:xfrm>
          <a:prstGeom prst="ellipse">
            <a:avLst/>
          </a:prstGeom>
          <a:solidFill>
            <a:srgbClr val="11A0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8"/>
          <p:cNvSpPr/>
          <p:nvPr/>
        </p:nvSpPr>
        <p:spPr>
          <a:xfrm>
            <a:off x="9442811" y="1447790"/>
            <a:ext cx="830997" cy="830997"/>
          </a:xfrm>
          <a:prstGeom prst="ellipse">
            <a:avLst/>
          </a:prstGeom>
          <a:solidFill>
            <a:srgbClr val="029C6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 name="Google Shape;101;p8"/>
          <p:cNvSpPr/>
          <p:nvPr/>
        </p:nvSpPr>
        <p:spPr>
          <a:xfrm>
            <a:off x="10792754" y="1447790"/>
            <a:ext cx="830997" cy="830997"/>
          </a:xfrm>
          <a:prstGeom prst="ellipse">
            <a:avLst/>
          </a:prstGeom>
          <a:solidFill>
            <a:srgbClr val="EB681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8"/>
          <p:cNvSpPr/>
          <p:nvPr/>
        </p:nvSpPr>
        <p:spPr>
          <a:xfrm>
            <a:off x="5392982" y="2708699"/>
            <a:ext cx="830997" cy="830997"/>
          </a:xfrm>
          <a:prstGeom prst="ellipse">
            <a:avLst/>
          </a:prstGeom>
          <a:solidFill>
            <a:srgbClr val="7D4EB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 name="Google Shape;103;p8"/>
          <p:cNvSpPr/>
          <p:nvPr/>
        </p:nvSpPr>
        <p:spPr>
          <a:xfrm>
            <a:off x="6742925" y="2708699"/>
            <a:ext cx="830997" cy="830997"/>
          </a:xfrm>
          <a:prstGeom prst="ellipse">
            <a:avLst/>
          </a:prstGeom>
          <a:solidFill>
            <a:srgbClr val="E61F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 name="Google Shape;104;p8"/>
          <p:cNvSpPr/>
          <p:nvPr/>
        </p:nvSpPr>
        <p:spPr>
          <a:xfrm>
            <a:off x="8092868" y="2708699"/>
            <a:ext cx="830997" cy="830997"/>
          </a:xfrm>
          <a:prstGeom prst="ellipse">
            <a:avLst/>
          </a:prstGeom>
          <a:solidFill>
            <a:srgbClr val="FBBA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 name="Google Shape;105;p8"/>
          <p:cNvSpPr/>
          <p:nvPr/>
        </p:nvSpPr>
        <p:spPr>
          <a:xfrm>
            <a:off x="9442811" y="2708699"/>
            <a:ext cx="830997" cy="830997"/>
          </a:xfrm>
          <a:prstGeom prst="ellipse">
            <a:avLst/>
          </a:prstGeom>
          <a:solidFill>
            <a:srgbClr val="7DA0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 name="Google Shape;106;p8"/>
          <p:cNvSpPr/>
          <p:nvPr/>
        </p:nvSpPr>
        <p:spPr>
          <a:xfrm>
            <a:off x="10792754" y="2708699"/>
            <a:ext cx="830997" cy="830997"/>
          </a:xfrm>
          <a:prstGeom prst="ellipse">
            <a:avLst/>
          </a:prstGeom>
          <a:solidFill>
            <a:srgbClr val="47A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8"/>
          <p:cNvSpPr/>
          <p:nvPr/>
        </p:nvSpPr>
        <p:spPr>
          <a:xfrm>
            <a:off x="5392982" y="3969609"/>
            <a:ext cx="830997" cy="830997"/>
          </a:xfrm>
          <a:prstGeom prst="ellipse">
            <a:avLst/>
          </a:prstGeom>
          <a:solidFill>
            <a:srgbClr val="EB8C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 name="Google Shape;108;p8"/>
          <p:cNvSpPr/>
          <p:nvPr/>
        </p:nvSpPr>
        <p:spPr>
          <a:xfrm>
            <a:off x="6742925" y="3969609"/>
            <a:ext cx="830997" cy="830997"/>
          </a:xfrm>
          <a:prstGeom prst="ellipse">
            <a:avLst/>
          </a:prstGeom>
          <a:solidFill>
            <a:srgbClr val="96628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8"/>
          <p:cNvSpPr/>
          <p:nvPr/>
        </p:nvSpPr>
        <p:spPr>
          <a:xfrm>
            <a:off x="8092868" y="3969609"/>
            <a:ext cx="830997" cy="830997"/>
          </a:xfrm>
          <a:prstGeom prst="ellipse">
            <a:avLst/>
          </a:prstGeom>
          <a:solidFill>
            <a:srgbClr val="CD5A5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 name="Google Shape;110;p8"/>
          <p:cNvSpPr/>
          <p:nvPr/>
        </p:nvSpPr>
        <p:spPr>
          <a:xfrm>
            <a:off x="9442811" y="3969609"/>
            <a:ext cx="830997" cy="830997"/>
          </a:xfrm>
          <a:prstGeom prst="ellipse">
            <a:avLst/>
          </a:prstGeom>
          <a:solidFill>
            <a:srgbClr val="FFD7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 name="Google Shape;111;p8"/>
          <p:cNvSpPr/>
          <p:nvPr/>
        </p:nvSpPr>
        <p:spPr>
          <a:xfrm>
            <a:off x="10792754" y="3969609"/>
            <a:ext cx="830997" cy="830997"/>
          </a:xfrm>
          <a:prstGeom prst="ellipse">
            <a:avLst/>
          </a:prstGeom>
          <a:solidFill>
            <a:srgbClr val="CDDD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8"/>
          <p:cNvSpPr/>
          <p:nvPr/>
        </p:nvSpPr>
        <p:spPr>
          <a:xfrm>
            <a:off x="5392982" y="5249769"/>
            <a:ext cx="830997" cy="830997"/>
          </a:xfrm>
          <a:prstGeom prst="ellipse">
            <a:avLst/>
          </a:prstGeom>
          <a:solidFill>
            <a:srgbClr val="D7EB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 name="Google Shape;113;p8"/>
          <p:cNvSpPr/>
          <p:nvPr/>
        </p:nvSpPr>
        <p:spPr>
          <a:xfrm>
            <a:off x="6742925" y="5249769"/>
            <a:ext cx="830997" cy="830997"/>
          </a:xfrm>
          <a:prstGeom prst="ellipse">
            <a:avLst/>
          </a:prstGeom>
          <a:solidFill>
            <a:srgbClr val="FFDC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 name="Google Shape;114;p8"/>
          <p:cNvSpPr/>
          <p:nvPr/>
        </p:nvSpPr>
        <p:spPr>
          <a:xfrm>
            <a:off x="8092868" y="5249769"/>
            <a:ext cx="830997" cy="830997"/>
          </a:xfrm>
          <a:prstGeom prst="ellipse">
            <a:avLst/>
          </a:prstGeom>
          <a:solidFill>
            <a:srgbClr val="D7C3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 name="Google Shape;115;p8"/>
          <p:cNvSpPr/>
          <p:nvPr/>
        </p:nvSpPr>
        <p:spPr>
          <a:xfrm>
            <a:off x="9442811" y="5249769"/>
            <a:ext cx="830997" cy="830997"/>
          </a:xfrm>
          <a:prstGeom prst="ellipse">
            <a:avLst/>
          </a:prstGeom>
          <a:solidFill>
            <a:srgbClr val="F6C3C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 name="Google Shape;116;p8"/>
          <p:cNvSpPr/>
          <p:nvPr/>
        </p:nvSpPr>
        <p:spPr>
          <a:xfrm>
            <a:off x="10792754" y="5249769"/>
            <a:ext cx="830997" cy="830997"/>
          </a:xfrm>
          <a:prstGeom prst="ellipse">
            <a:avLst/>
          </a:prstGeom>
          <a:solidFill>
            <a:srgbClr val="FFF0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8"/>
          <p:cNvSpPr txBox="1">
            <a:spLocks noGrp="1"/>
          </p:cNvSpPr>
          <p:nvPr>
            <p:ph type="body" idx="2"/>
          </p:nvPr>
        </p:nvSpPr>
        <p:spPr>
          <a:xfrm>
            <a:off x="1143689" y="540904"/>
            <a:ext cx="1901825" cy="415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8" name="Google Shape;118;p8"/>
          <p:cNvSpPr txBox="1">
            <a:spLocks noGrp="1"/>
          </p:cNvSpPr>
          <p:nvPr>
            <p:ph type="body" idx="3"/>
          </p:nvPr>
        </p:nvSpPr>
        <p:spPr>
          <a:xfrm>
            <a:off x="3459163"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9" name="Google Shape;119;p8"/>
          <p:cNvSpPr txBox="1">
            <a:spLocks noGrp="1"/>
          </p:cNvSpPr>
          <p:nvPr>
            <p:ph type="body" idx="4"/>
          </p:nvPr>
        </p:nvSpPr>
        <p:spPr>
          <a:xfrm>
            <a:off x="6259892"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чистый_2">
  <p:cSld name="чистый_2">
    <p:bg>
      <p:bgPr>
        <a:blipFill>
          <a:blip r:embed="rId2">
            <a:alphaModFix/>
          </a:blip>
          <a:stretch>
            <a:fillRect/>
          </a:stretch>
        </a:blipFill>
        <a:effectLst/>
      </p:bgPr>
    </p:bg>
    <p:spTree>
      <p:nvGrpSpPr>
        <p:cNvPr id="1" name="Shape 120"/>
        <p:cNvGrpSpPr/>
        <p:nvPr/>
      </p:nvGrpSpPr>
      <p:grpSpPr>
        <a:xfrm>
          <a:off x="0" y="0"/>
          <a:ext cx="0" cy="0"/>
          <a:chOff x="0" y="0"/>
          <a:chExt cx="0" cy="0"/>
        </a:xfrm>
      </p:grpSpPr>
      <p:pic>
        <p:nvPicPr>
          <p:cNvPr id="121" name="Google Shape;121;p9" descr="Icon&#10;&#10;Description automatically generated"/>
          <p:cNvPicPr preferRelativeResize="0"/>
          <p:nvPr/>
        </p:nvPicPr>
        <p:blipFill rotWithShape="1">
          <a:blip r:embed="rId3">
            <a:alphaModFix/>
          </a:blip>
          <a:srcRect/>
          <a:stretch/>
        </p:blipFill>
        <p:spPr>
          <a:xfrm>
            <a:off x="517199" y="464363"/>
            <a:ext cx="448276" cy="448276"/>
          </a:xfrm>
          <a:prstGeom prst="rect">
            <a:avLst/>
          </a:prstGeom>
          <a:noFill/>
          <a:ln>
            <a:noFill/>
          </a:ln>
        </p:spPr>
      </p:pic>
      <p:cxnSp>
        <p:nvCxnSpPr>
          <p:cNvPr id="122" name="Google Shape;122;p9"/>
          <p:cNvCxnSpPr/>
          <p:nvPr/>
        </p:nvCxnSpPr>
        <p:spPr>
          <a:xfrm>
            <a:off x="329868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123" name="Google Shape;123;p9"/>
          <p:cNvCxnSpPr/>
          <p:nvPr/>
        </p:nvCxnSpPr>
        <p:spPr>
          <a:xfrm>
            <a:off x="609941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124" name="Google Shape;124;p9"/>
          <p:cNvCxnSpPr/>
          <p:nvPr/>
        </p:nvCxnSpPr>
        <p:spPr>
          <a:xfrm>
            <a:off x="10277081"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125" name="Google Shape;125;p9"/>
          <p:cNvSpPr txBox="1"/>
          <p:nvPr/>
        </p:nvSpPr>
        <p:spPr>
          <a:xfrm>
            <a:off x="10410201" y="532278"/>
            <a:ext cx="67197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126" name="Google Shape;126;p9"/>
          <p:cNvCxnSpPr/>
          <p:nvPr/>
        </p:nvCxnSpPr>
        <p:spPr>
          <a:xfrm>
            <a:off x="11643868"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127" name="Google Shape;127;p9"/>
          <p:cNvSpPr txBox="1">
            <a:spLocks noGrp="1"/>
          </p:cNvSpPr>
          <p:nvPr>
            <p:ph type="body" idx="1"/>
          </p:nvPr>
        </p:nvSpPr>
        <p:spPr>
          <a:xfrm>
            <a:off x="1143689" y="540904"/>
            <a:ext cx="1901825" cy="415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8" name="Google Shape;128;p9"/>
          <p:cNvSpPr txBox="1">
            <a:spLocks noGrp="1"/>
          </p:cNvSpPr>
          <p:nvPr>
            <p:ph type="body" idx="2"/>
          </p:nvPr>
        </p:nvSpPr>
        <p:spPr>
          <a:xfrm>
            <a:off x="3459163"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9" name="Google Shape;129;p9"/>
          <p:cNvSpPr txBox="1">
            <a:spLocks noGrp="1"/>
          </p:cNvSpPr>
          <p:nvPr>
            <p:ph type="body" idx="3"/>
          </p:nvPr>
        </p:nvSpPr>
        <p:spPr>
          <a:xfrm>
            <a:off x="6259892"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чистый">
  <p:cSld name="чистый">
    <p:bg>
      <p:bgPr>
        <a:blipFill>
          <a:blip r:embed="rId2">
            <a:alphaModFix/>
          </a:blip>
          <a:stretch>
            <a:fillRect/>
          </a:stretch>
        </a:blipFill>
        <a:effectLst/>
      </p:bgPr>
    </p:bg>
    <p:spTree>
      <p:nvGrpSpPr>
        <p:cNvPr id="1" name="Shape 130"/>
        <p:cNvGrpSpPr/>
        <p:nvPr/>
      </p:nvGrpSpPr>
      <p:grpSpPr>
        <a:xfrm>
          <a:off x="0" y="0"/>
          <a:ext cx="0" cy="0"/>
          <a:chOff x="0" y="0"/>
          <a:chExt cx="0" cy="0"/>
        </a:xfrm>
      </p:grpSpPr>
      <p:sp>
        <p:nvSpPr>
          <p:cNvPr id="131" name="Google Shape;131;p10"/>
          <p:cNvSpPr/>
          <p:nvPr/>
        </p:nvSpPr>
        <p:spPr>
          <a:xfrm>
            <a:off x="0" y="0"/>
            <a:ext cx="12192000" cy="6858000"/>
          </a:xfrm>
          <a:prstGeom prst="rect">
            <a:avLst/>
          </a:prstGeom>
          <a:solidFill>
            <a:schemeClr val="dk1"/>
          </a:solidFill>
          <a:ln w="12700" cap="flat" cmpd="sng">
            <a:solidFill>
              <a:srgbClr val="0A204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32" name="Google Shape;132;p10" descr="A blue circle with white text&#10;&#10;Description automatically generated with low confidence"/>
          <p:cNvPicPr preferRelativeResize="0"/>
          <p:nvPr/>
        </p:nvPicPr>
        <p:blipFill rotWithShape="1">
          <a:blip r:embed="rId3">
            <a:alphaModFix/>
          </a:blip>
          <a:srcRect/>
          <a:stretch/>
        </p:blipFill>
        <p:spPr>
          <a:xfrm>
            <a:off x="5310809" y="2643809"/>
            <a:ext cx="1570383" cy="1570383"/>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Текст_2">
  <p:cSld name="Текст_2">
    <p:bg>
      <p:bgPr>
        <a:blipFill>
          <a:blip r:embed="rId2">
            <a:alphaModFix/>
          </a:blip>
          <a:stretch>
            <a:fillRect/>
          </a:stretch>
        </a:blipFill>
        <a:effectLst/>
      </p:bgPr>
    </p:bg>
    <p:spTree>
      <p:nvGrpSpPr>
        <p:cNvPr id="1" name="Shape 133"/>
        <p:cNvGrpSpPr/>
        <p:nvPr/>
      </p:nvGrpSpPr>
      <p:grpSpPr>
        <a:xfrm>
          <a:off x="0" y="0"/>
          <a:ext cx="0" cy="0"/>
          <a:chOff x="0" y="0"/>
          <a:chExt cx="0" cy="0"/>
        </a:xfrm>
      </p:grpSpPr>
      <p:pic>
        <p:nvPicPr>
          <p:cNvPr id="134" name="Google Shape;134;p11" descr="Icon&#10;&#10;Description automatically generated"/>
          <p:cNvPicPr preferRelativeResize="0"/>
          <p:nvPr/>
        </p:nvPicPr>
        <p:blipFill rotWithShape="1">
          <a:blip r:embed="rId3">
            <a:alphaModFix/>
          </a:blip>
          <a:srcRect/>
          <a:stretch/>
        </p:blipFill>
        <p:spPr>
          <a:xfrm>
            <a:off x="517199" y="464363"/>
            <a:ext cx="448276" cy="448276"/>
          </a:xfrm>
          <a:prstGeom prst="rect">
            <a:avLst/>
          </a:prstGeom>
          <a:noFill/>
          <a:ln>
            <a:noFill/>
          </a:ln>
        </p:spPr>
      </p:pic>
      <p:cxnSp>
        <p:nvCxnSpPr>
          <p:cNvPr id="135" name="Google Shape;135;p11"/>
          <p:cNvCxnSpPr/>
          <p:nvPr/>
        </p:nvCxnSpPr>
        <p:spPr>
          <a:xfrm>
            <a:off x="329868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136" name="Google Shape;136;p11"/>
          <p:cNvCxnSpPr/>
          <p:nvPr/>
        </p:nvCxnSpPr>
        <p:spPr>
          <a:xfrm>
            <a:off x="609941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137" name="Google Shape;137;p11"/>
          <p:cNvCxnSpPr/>
          <p:nvPr/>
        </p:nvCxnSpPr>
        <p:spPr>
          <a:xfrm>
            <a:off x="10277081"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138" name="Google Shape;138;p11"/>
          <p:cNvSpPr txBox="1"/>
          <p:nvPr/>
        </p:nvSpPr>
        <p:spPr>
          <a:xfrm>
            <a:off x="10410201" y="532278"/>
            <a:ext cx="67197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139" name="Google Shape;139;p11"/>
          <p:cNvCxnSpPr/>
          <p:nvPr/>
        </p:nvCxnSpPr>
        <p:spPr>
          <a:xfrm>
            <a:off x="11643868"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140" name="Google Shape;140;p11"/>
          <p:cNvSpPr txBox="1">
            <a:spLocks noGrp="1"/>
          </p:cNvSpPr>
          <p:nvPr>
            <p:ph type="title"/>
          </p:nvPr>
        </p:nvSpPr>
        <p:spPr>
          <a:xfrm>
            <a:off x="585897" y="1447790"/>
            <a:ext cx="11057955" cy="777025"/>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1" name="Google Shape;141;p11"/>
          <p:cNvSpPr txBox="1">
            <a:spLocks noGrp="1"/>
          </p:cNvSpPr>
          <p:nvPr>
            <p:ph type="body" idx="1"/>
          </p:nvPr>
        </p:nvSpPr>
        <p:spPr>
          <a:xfrm>
            <a:off x="585897" y="2379663"/>
            <a:ext cx="11057971" cy="3745092"/>
          </a:xfrm>
          <a:prstGeom prst="rect">
            <a:avLst/>
          </a:prstGeom>
          <a:noFill/>
          <a:ln>
            <a:noFill/>
          </a:ln>
        </p:spPr>
        <p:txBody>
          <a:bodyPr spcFirstLastPara="1" wrap="square" lIns="0" tIns="0" rIns="0" bIns="45700" anchor="t" anchorCtr="0">
            <a:noAutofit/>
          </a:bodyPr>
          <a:lstStyle>
            <a:lvl1pPr marL="457200" marR="0" lvl="0" indent="-228600" algn="l" rtl="0">
              <a:lnSpc>
                <a:spcPct val="100000"/>
              </a:lnSpc>
              <a:spcBef>
                <a:spcPts val="12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2" name="Google Shape;142;p11"/>
          <p:cNvSpPr txBox="1">
            <a:spLocks noGrp="1"/>
          </p:cNvSpPr>
          <p:nvPr>
            <p:ph type="body" idx="2"/>
          </p:nvPr>
        </p:nvSpPr>
        <p:spPr>
          <a:xfrm>
            <a:off x="1143689" y="540904"/>
            <a:ext cx="1901825" cy="415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3" name="Google Shape;143;p11"/>
          <p:cNvSpPr txBox="1">
            <a:spLocks noGrp="1"/>
          </p:cNvSpPr>
          <p:nvPr>
            <p:ph type="body" idx="3"/>
          </p:nvPr>
        </p:nvSpPr>
        <p:spPr>
          <a:xfrm>
            <a:off x="3459163"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4" name="Google Shape;144;p11"/>
          <p:cNvSpPr txBox="1">
            <a:spLocks noGrp="1"/>
          </p:cNvSpPr>
          <p:nvPr>
            <p:ph type="body" idx="4"/>
          </p:nvPr>
        </p:nvSpPr>
        <p:spPr>
          <a:xfrm>
            <a:off x="6259892"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Текст_3">
  <p:cSld name="Текст_3">
    <p:bg>
      <p:bgPr>
        <a:blipFill>
          <a:blip r:embed="rId2">
            <a:alphaModFix/>
          </a:blip>
          <a:stretch>
            <a:fillRect/>
          </a:stretch>
        </a:blipFill>
        <a:effectLst/>
      </p:bgPr>
    </p:bg>
    <p:spTree>
      <p:nvGrpSpPr>
        <p:cNvPr id="1" name="Shape 145"/>
        <p:cNvGrpSpPr/>
        <p:nvPr/>
      </p:nvGrpSpPr>
      <p:grpSpPr>
        <a:xfrm>
          <a:off x="0" y="0"/>
          <a:ext cx="0" cy="0"/>
          <a:chOff x="0" y="0"/>
          <a:chExt cx="0" cy="0"/>
        </a:xfrm>
      </p:grpSpPr>
      <p:pic>
        <p:nvPicPr>
          <p:cNvPr id="146" name="Google Shape;146;p12" descr="Icon&#10;&#10;Description automatically generated"/>
          <p:cNvPicPr preferRelativeResize="0"/>
          <p:nvPr/>
        </p:nvPicPr>
        <p:blipFill rotWithShape="1">
          <a:blip r:embed="rId3">
            <a:alphaModFix/>
          </a:blip>
          <a:srcRect/>
          <a:stretch/>
        </p:blipFill>
        <p:spPr>
          <a:xfrm>
            <a:off x="517199" y="464363"/>
            <a:ext cx="448276" cy="448276"/>
          </a:xfrm>
          <a:prstGeom prst="rect">
            <a:avLst/>
          </a:prstGeom>
          <a:noFill/>
          <a:ln>
            <a:noFill/>
          </a:ln>
        </p:spPr>
      </p:pic>
      <p:cxnSp>
        <p:nvCxnSpPr>
          <p:cNvPr id="147" name="Google Shape;147;p12"/>
          <p:cNvCxnSpPr/>
          <p:nvPr/>
        </p:nvCxnSpPr>
        <p:spPr>
          <a:xfrm>
            <a:off x="329868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148" name="Google Shape;148;p12"/>
          <p:cNvCxnSpPr/>
          <p:nvPr/>
        </p:nvCxnSpPr>
        <p:spPr>
          <a:xfrm>
            <a:off x="609941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149" name="Google Shape;149;p12"/>
          <p:cNvCxnSpPr/>
          <p:nvPr/>
        </p:nvCxnSpPr>
        <p:spPr>
          <a:xfrm>
            <a:off x="10277081"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150" name="Google Shape;150;p12"/>
          <p:cNvSpPr txBox="1"/>
          <p:nvPr/>
        </p:nvSpPr>
        <p:spPr>
          <a:xfrm>
            <a:off x="10410201" y="532278"/>
            <a:ext cx="67197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151" name="Google Shape;151;p12"/>
          <p:cNvCxnSpPr/>
          <p:nvPr/>
        </p:nvCxnSpPr>
        <p:spPr>
          <a:xfrm>
            <a:off x="11643868"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152" name="Google Shape;152;p12"/>
          <p:cNvSpPr txBox="1">
            <a:spLocks noGrp="1"/>
          </p:cNvSpPr>
          <p:nvPr>
            <p:ph type="body" idx="1"/>
          </p:nvPr>
        </p:nvSpPr>
        <p:spPr>
          <a:xfrm>
            <a:off x="585898" y="2379663"/>
            <a:ext cx="4322531" cy="2399371"/>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3" name="Google Shape;153;p12"/>
          <p:cNvSpPr txBox="1">
            <a:spLocks noGrp="1"/>
          </p:cNvSpPr>
          <p:nvPr>
            <p:ph type="body" idx="2"/>
          </p:nvPr>
        </p:nvSpPr>
        <p:spPr>
          <a:xfrm>
            <a:off x="585897" y="5183249"/>
            <a:ext cx="3934345" cy="553998"/>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4" name="Google Shape;154;p12"/>
          <p:cNvSpPr txBox="1">
            <a:spLocks noGrp="1"/>
          </p:cNvSpPr>
          <p:nvPr>
            <p:ph type="body" idx="3"/>
          </p:nvPr>
        </p:nvSpPr>
        <p:spPr>
          <a:xfrm>
            <a:off x="6259892" y="2379663"/>
            <a:ext cx="5383968" cy="3451794"/>
          </a:xfrm>
          <a:prstGeom prst="rect">
            <a:avLst/>
          </a:prstGeom>
          <a:noFill/>
          <a:ln>
            <a:noFill/>
          </a:ln>
        </p:spPr>
        <p:txBody>
          <a:bodyPr spcFirstLastPara="1" wrap="square" lIns="0" tIns="0" rIns="0" bIns="0" anchor="t" anchorCtr="0">
            <a:normAutofit/>
          </a:bodyPr>
          <a:lstStyle>
            <a:lvl1pPr marL="457200" marR="0" lvl="0" indent="-228600" algn="l" rtl="0">
              <a:lnSpc>
                <a:spcPct val="90000"/>
              </a:lnSpc>
              <a:spcBef>
                <a:spcPts val="1000"/>
              </a:spcBef>
              <a:spcAft>
                <a:spcPts val="0"/>
              </a:spcAft>
              <a:buClr>
                <a:srgbClr val="0E2D69"/>
              </a:buClr>
              <a:buSzPts val="3200"/>
              <a:buFont typeface="Arial"/>
              <a:buNone/>
              <a:defRPr sz="3200" b="0" i="0" u="none" strike="noStrike" cap="none">
                <a:solidFill>
                  <a:srgbClr val="0E2D69"/>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5" name="Google Shape;155;p12"/>
          <p:cNvSpPr txBox="1">
            <a:spLocks noGrp="1"/>
          </p:cNvSpPr>
          <p:nvPr>
            <p:ph type="title"/>
          </p:nvPr>
        </p:nvSpPr>
        <p:spPr>
          <a:xfrm>
            <a:off x="585897" y="1447790"/>
            <a:ext cx="11057955" cy="777025"/>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6" name="Google Shape;156;p12"/>
          <p:cNvSpPr txBox="1">
            <a:spLocks noGrp="1"/>
          </p:cNvSpPr>
          <p:nvPr>
            <p:ph type="body" idx="4"/>
          </p:nvPr>
        </p:nvSpPr>
        <p:spPr>
          <a:xfrm>
            <a:off x="1143689" y="540904"/>
            <a:ext cx="1901825" cy="415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7" name="Google Shape;157;p12"/>
          <p:cNvSpPr txBox="1">
            <a:spLocks noGrp="1"/>
          </p:cNvSpPr>
          <p:nvPr>
            <p:ph type="body" idx="5"/>
          </p:nvPr>
        </p:nvSpPr>
        <p:spPr>
          <a:xfrm>
            <a:off x="3459163"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8" name="Google Shape;158;p12"/>
          <p:cNvSpPr txBox="1">
            <a:spLocks noGrp="1"/>
          </p:cNvSpPr>
          <p:nvPr>
            <p:ph type="body" idx="6"/>
          </p:nvPr>
        </p:nvSpPr>
        <p:spPr>
          <a:xfrm>
            <a:off x="6259892"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Цифры">
  <p:cSld name="Цифры">
    <p:bg>
      <p:bgPr>
        <a:blipFill>
          <a:blip r:embed="rId2">
            <a:alphaModFix/>
          </a:blip>
          <a:stretch>
            <a:fillRect/>
          </a:stretch>
        </a:blipFill>
        <a:effectLst/>
      </p:bgPr>
    </p:bg>
    <p:spTree>
      <p:nvGrpSpPr>
        <p:cNvPr id="1" name="Shape 159"/>
        <p:cNvGrpSpPr/>
        <p:nvPr/>
      </p:nvGrpSpPr>
      <p:grpSpPr>
        <a:xfrm>
          <a:off x="0" y="0"/>
          <a:ext cx="0" cy="0"/>
          <a:chOff x="0" y="0"/>
          <a:chExt cx="0" cy="0"/>
        </a:xfrm>
      </p:grpSpPr>
      <p:pic>
        <p:nvPicPr>
          <p:cNvPr id="160" name="Google Shape;160;p13" descr="Icon&#10;&#10;Description automatically generated"/>
          <p:cNvPicPr preferRelativeResize="0"/>
          <p:nvPr/>
        </p:nvPicPr>
        <p:blipFill rotWithShape="1">
          <a:blip r:embed="rId3">
            <a:alphaModFix/>
          </a:blip>
          <a:srcRect/>
          <a:stretch/>
        </p:blipFill>
        <p:spPr>
          <a:xfrm>
            <a:off x="517199" y="464363"/>
            <a:ext cx="448276" cy="448276"/>
          </a:xfrm>
          <a:prstGeom prst="rect">
            <a:avLst/>
          </a:prstGeom>
          <a:noFill/>
          <a:ln>
            <a:noFill/>
          </a:ln>
        </p:spPr>
      </p:pic>
      <p:cxnSp>
        <p:nvCxnSpPr>
          <p:cNvPr id="161" name="Google Shape;161;p13"/>
          <p:cNvCxnSpPr/>
          <p:nvPr/>
        </p:nvCxnSpPr>
        <p:spPr>
          <a:xfrm>
            <a:off x="329868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162" name="Google Shape;162;p13"/>
          <p:cNvCxnSpPr/>
          <p:nvPr/>
        </p:nvCxnSpPr>
        <p:spPr>
          <a:xfrm>
            <a:off x="6099416" y="464363"/>
            <a:ext cx="0" cy="586260"/>
          </a:xfrm>
          <a:prstGeom prst="straightConnector1">
            <a:avLst/>
          </a:prstGeom>
          <a:noFill/>
          <a:ln w="12700" cap="flat" cmpd="sng">
            <a:solidFill>
              <a:srgbClr val="102D69"/>
            </a:solidFill>
            <a:prstDash val="solid"/>
            <a:miter lim="800000"/>
            <a:headEnd type="none" w="sm" len="sm"/>
            <a:tailEnd type="none" w="sm" len="sm"/>
          </a:ln>
        </p:spPr>
      </p:cxnSp>
      <p:cxnSp>
        <p:nvCxnSpPr>
          <p:cNvPr id="163" name="Google Shape;163;p13"/>
          <p:cNvCxnSpPr/>
          <p:nvPr/>
        </p:nvCxnSpPr>
        <p:spPr>
          <a:xfrm>
            <a:off x="10277081"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164" name="Google Shape;164;p13"/>
          <p:cNvSpPr txBox="1"/>
          <p:nvPr/>
        </p:nvSpPr>
        <p:spPr>
          <a:xfrm>
            <a:off x="10410201" y="532278"/>
            <a:ext cx="67197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165" name="Google Shape;165;p13"/>
          <p:cNvCxnSpPr/>
          <p:nvPr/>
        </p:nvCxnSpPr>
        <p:spPr>
          <a:xfrm>
            <a:off x="11643868" y="464363"/>
            <a:ext cx="0" cy="586260"/>
          </a:xfrm>
          <a:prstGeom prst="straightConnector1">
            <a:avLst/>
          </a:prstGeom>
          <a:noFill/>
          <a:ln w="12700" cap="flat" cmpd="sng">
            <a:solidFill>
              <a:srgbClr val="102D69"/>
            </a:solidFill>
            <a:prstDash val="solid"/>
            <a:miter lim="800000"/>
            <a:headEnd type="none" w="sm" len="sm"/>
            <a:tailEnd type="none" w="sm" len="sm"/>
          </a:ln>
        </p:spPr>
      </p:cxnSp>
      <p:sp>
        <p:nvSpPr>
          <p:cNvPr id="166" name="Google Shape;166;p13"/>
          <p:cNvSpPr txBox="1">
            <a:spLocks noGrp="1"/>
          </p:cNvSpPr>
          <p:nvPr>
            <p:ph type="title"/>
          </p:nvPr>
        </p:nvSpPr>
        <p:spPr>
          <a:xfrm>
            <a:off x="585897" y="1447790"/>
            <a:ext cx="11057955" cy="777025"/>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7" name="Google Shape;167;p13"/>
          <p:cNvSpPr txBox="1">
            <a:spLocks noGrp="1"/>
          </p:cNvSpPr>
          <p:nvPr>
            <p:ph type="body" idx="1"/>
          </p:nvPr>
        </p:nvSpPr>
        <p:spPr>
          <a:xfrm>
            <a:off x="575076" y="4103994"/>
            <a:ext cx="2758143" cy="1569661"/>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8" name="Google Shape;168;p13"/>
          <p:cNvSpPr txBox="1">
            <a:spLocks noGrp="1"/>
          </p:cNvSpPr>
          <p:nvPr>
            <p:ph type="body" idx="2"/>
          </p:nvPr>
        </p:nvSpPr>
        <p:spPr>
          <a:xfrm>
            <a:off x="4047007" y="4103994"/>
            <a:ext cx="2757612" cy="1569661"/>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9" name="Google Shape;169;p13"/>
          <p:cNvSpPr txBox="1">
            <a:spLocks noGrp="1"/>
          </p:cNvSpPr>
          <p:nvPr>
            <p:ph type="body" idx="3"/>
          </p:nvPr>
        </p:nvSpPr>
        <p:spPr>
          <a:xfrm>
            <a:off x="7518938" y="4103994"/>
            <a:ext cx="2757612" cy="1569661"/>
          </a:xfrm>
          <a:prstGeom prst="rect">
            <a:avLst/>
          </a:prstGeom>
          <a:noFill/>
          <a:ln>
            <a:noFill/>
          </a:ln>
        </p:spPr>
        <p:txBody>
          <a:bodyPr spcFirstLastPara="1" wrap="square" lIns="0" tIns="0" rIns="0" bIns="45700" anchor="t" anchorCtr="0">
            <a:normAutofit/>
          </a:bodyPr>
          <a:lstStyle>
            <a:lvl1pPr marL="457200" marR="0" lvl="0"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1pPr>
            <a:lvl2pPr marL="914400" marR="0" lvl="1"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2pPr>
            <a:lvl3pPr marL="1371600" marR="0" lvl="2"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3pPr>
            <a:lvl4pPr marL="1828800" marR="0" lvl="3"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4pPr>
            <a:lvl5pPr marL="2286000" marR="0" lvl="4" indent="-228600" algn="l" rtl="0">
              <a:lnSpc>
                <a:spcPct val="100000"/>
              </a:lnSpc>
              <a:spcBef>
                <a:spcPts val="1000"/>
              </a:spcBef>
              <a:spcAft>
                <a:spcPts val="0"/>
              </a:spcAft>
              <a:buClr>
                <a:srgbClr val="0E2D69"/>
              </a:buClr>
              <a:buSzPts val="1300"/>
              <a:buFont typeface="Arial"/>
              <a:buNone/>
              <a:defRPr sz="13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0" name="Google Shape;170;p13"/>
          <p:cNvSpPr txBox="1">
            <a:spLocks noGrp="1"/>
          </p:cNvSpPr>
          <p:nvPr>
            <p:ph type="body" idx="4"/>
          </p:nvPr>
        </p:nvSpPr>
        <p:spPr>
          <a:xfrm>
            <a:off x="575076" y="2710235"/>
            <a:ext cx="2758143" cy="1164116"/>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9600"/>
              <a:buFont typeface="Arial"/>
              <a:buNone/>
              <a:defRPr sz="9600" b="0" i="0" u="none" strike="noStrike" cap="none">
                <a:solidFill>
                  <a:schemeClr val="dk1"/>
                </a:solidFill>
                <a:latin typeface="Arial"/>
                <a:ea typeface="Arial"/>
                <a:cs typeface="Arial"/>
                <a:sym typeface="Arial"/>
              </a:defRPr>
            </a:lvl1pPr>
            <a:lvl2pPr marL="914400" marR="0" lvl="1"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2pPr>
            <a:lvl3pPr marL="1371600" marR="0" lvl="2"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3pPr>
            <a:lvl4pPr marL="1828800" marR="0" lvl="3"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4pPr>
            <a:lvl5pPr marL="2286000" marR="0" lvl="4"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1" name="Google Shape;171;p13"/>
          <p:cNvSpPr txBox="1">
            <a:spLocks noGrp="1"/>
          </p:cNvSpPr>
          <p:nvPr>
            <p:ph type="body" idx="5"/>
          </p:nvPr>
        </p:nvSpPr>
        <p:spPr>
          <a:xfrm>
            <a:off x="4047007" y="2710235"/>
            <a:ext cx="2758143" cy="1164116"/>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9600"/>
              <a:buFont typeface="Arial"/>
              <a:buNone/>
              <a:defRPr sz="9600" b="0" i="0" u="none" strike="noStrike" cap="none">
                <a:solidFill>
                  <a:schemeClr val="dk1"/>
                </a:solidFill>
                <a:latin typeface="Arial"/>
                <a:ea typeface="Arial"/>
                <a:cs typeface="Arial"/>
                <a:sym typeface="Arial"/>
              </a:defRPr>
            </a:lvl1pPr>
            <a:lvl2pPr marL="914400" marR="0" lvl="1"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2pPr>
            <a:lvl3pPr marL="1371600" marR="0" lvl="2"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3pPr>
            <a:lvl4pPr marL="1828800" marR="0" lvl="3"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4pPr>
            <a:lvl5pPr marL="2286000" marR="0" lvl="4"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2" name="Google Shape;172;p13"/>
          <p:cNvSpPr txBox="1">
            <a:spLocks noGrp="1"/>
          </p:cNvSpPr>
          <p:nvPr>
            <p:ph type="body" idx="6"/>
          </p:nvPr>
        </p:nvSpPr>
        <p:spPr>
          <a:xfrm>
            <a:off x="7518938" y="2710235"/>
            <a:ext cx="2758143" cy="1164116"/>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9600"/>
              <a:buFont typeface="Arial"/>
              <a:buNone/>
              <a:defRPr sz="9600" b="0" i="0" u="none" strike="noStrike" cap="none">
                <a:solidFill>
                  <a:schemeClr val="dk1"/>
                </a:solidFill>
                <a:latin typeface="Arial"/>
                <a:ea typeface="Arial"/>
                <a:cs typeface="Arial"/>
                <a:sym typeface="Arial"/>
              </a:defRPr>
            </a:lvl1pPr>
            <a:lvl2pPr marL="914400" marR="0" lvl="1"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2pPr>
            <a:lvl3pPr marL="1371600" marR="0" lvl="2"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3pPr>
            <a:lvl4pPr marL="1828800" marR="0" lvl="3"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4pPr>
            <a:lvl5pPr marL="2286000" marR="0" lvl="4" indent="-838200" algn="l" rtl="0">
              <a:lnSpc>
                <a:spcPct val="90000"/>
              </a:lnSpc>
              <a:spcBef>
                <a:spcPts val="50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3" name="Google Shape;173;p13"/>
          <p:cNvSpPr txBox="1">
            <a:spLocks noGrp="1"/>
          </p:cNvSpPr>
          <p:nvPr>
            <p:ph type="body" idx="7"/>
          </p:nvPr>
        </p:nvSpPr>
        <p:spPr>
          <a:xfrm>
            <a:off x="1143689" y="540904"/>
            <a:ext cx="1901825" cy="415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lnSpc>
                <a:spcPct val="10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4" name="Google Shape;174;p13"/>
          <p:cNvSpPr txBox="1">
            <a:spLocks noGrp="1"/>
          </p:cNvSpPr>
          <p:nvPr>
            <p:ph type="body" idx="8"/>
          </p:nvPr>
        </p:nvSpPr>
        <p:spPr>
          <a:xfrm>
            <a:off x="3459163"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5" name="Google Shape;175;p13"/>
          <p:cNvSpPr txBox="1">
            <a:spLocks noGrp="1"/>
          </p:cNvSpPr>
          <p:nvPr>
            <p:ph type="body" idx="9"/>
          </p:nvPr>
        </p:nvSpPr>
        <p:spPr>
          <a:xfrm>
            <a:off x="6259892" y="548720"/>
            <a:ext cx="2070100" cy="40810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1pPr>
            <a:lvl2pPr marL="914400" marR="0" lvl="1"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2pPr>
            <a:lvl3pPr marL="1371600" marR="0" lvl="2"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3pPr>
            <a:lvl4pPr marL="1828800" marR="0" lvl="3"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4pPr>
            <a:lvl5pPr marL="2286000" marR="0" lvl="4" indent="-228600" algn="l" rtl="0">
              <a:lnSpc>
                <a:spcPct val="90000"/>
              </a:lnSpc>
              <a:spcBef>
                <a:spcPts val="500"/>
              </a:spcBef>
              <a:spcAft>
                <a:spcPts val="0"/>
              </a:spcAft>
              <a:buClr>
                <a:srgbClr val="0E2D69"/>
              </a:buClr>
              <a:buSzPts val="1000"/>
              <a:buFont typeface="Arial"/>
              <a:buNone/>
              <a:defRPr sz="1000" b="0" i="0" u="none" strike="noStrike" cap="none">
                <a:solidFill>
                  <a:srgbClr val="0E2D6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datasets/zoya77/aging-risk-assessment-datase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4"/>
          <p:cNvSpPr txBox="1">
            <a:spLocks noGrp="1"/>
          </p:cNvSpPr>
          <p:nvPr>
            <p:ph type="title"/>
          </p:nvPr>
        </p:nvSpPr>
        <p:spPr>
          <a:xfrm>
            <a:off x="1027975" y="2404675"/>
            <a:ext cx="9976500" cy="19782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rgbClr val="0E2D69"/>
              </a:buClr>
              <a:buSzPts val="4300"/>
              <a:buFont typeface="Arial"/>
              <a:buNone/>
            </a:pPr>
            <a:r>
              <a:rPr lang="ru-RU" sz="4200"/>
              <a:t>Safe aging challenge. Predicting healthy longevity from lifestyle and health data</a:t>
            </a:r>
            <a:endParaRPr sz="4200"/>
          </a:p>
        </p:txBody>
      </p:sp>
      <p:sp>
        <p:nvSpPr>
          <p:cNvPr id="181" name="Google Shape;181;p14"/>
          <p:cNvSpPr txBox="1">
            <a:spLocks noGrp="1"/>
          </p:cNvSpPr>
          <p:nvPr>
            <p:ph type="body" idx="1"/>
          </p:nvPr>
        </p:nvSpPr>
        <p:spPr>
          <a:xfrm>
            <a:off x="2074947" y="1187841"/>
            <a:ext cx="3848717" cy="435163"/>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a:solidFill>
                  <a:srgbClr val="0F2C68"/>
                </a:solidFill>
              </a:rPr>
              <a:t>National Research University Higher School of Economics</a:t>
            </a:r>
            <a:endParaRPr>
              <a:solidFill>
                <a:srgbClr val="0F2C68"/>
              </a:solidFill>
            </a:endParaRPr>
          </a:p>
          <a:p>
            <a:pPr marL="0" lvl="0" indent="0" algn="l" rtl="0">
              <a:spcBef>
                <a:spcPts val="0"/>
              </a:spcBef>
              <a:spcAft>
                <a:spcPts val="0"/>
              </a:spcAft>
              <a:buNone/>
            </a:pPr>
            <a:endParaRPr>
              <a:solidFill>
                <a:srgbClr val="0F2C68"/>
              </a:solidFill>
            </a:endParaRPr>
          </a:p>
          <a:p>
            <a:pPr marL="0" lvl="0" indent="0" algn="l" rtl="0">
              <a:lnSpc>
                <a:spcPct val="100000"/>
              </a:lnSpc>
              <a:spcBef>
                <a:spcPts val="0"/>
              </a:spcBef>
              <a:spcAft>
                <a:spcPts val="0"/>
              </a:spcAft>
              <a:buClr>
                <a:schemeClr val="dk1"/>
              </a:buClr>
              <a:buSzPts val="1600"/>
              <a:buNone/>
            </a:pPr>
            <a:endParaRPr/>
          </a:p>
        </p:txBody>
      </p:sp>
      <p:sp>
        <p:nvSpPr>
          <p:cNvPr id="182" name="Google Shape;182;p14"/>
          <p:cNvSpPr txBox="1">
            <a:spLocks noGrp="1"/>
          </p:cNvSpPr>
          <p:nvPr>
            <p:ph type="body" idx="2"/>
          </p:nvPr>
        </p:nvSpPr>
        <p:spPr>
          <a:xfrm>
            <a:off x="6259420" y="1173829"/>
            <a:ext cx="2278063" cy="463186"/>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rgbClr val="0E2D69"/>
              </a:buClr>
              <a:buSzPts val="1200"/>
              <a:buFont typeface="Arial"/>
              <a:buNone/>
            </a:pPr>
            <a:r>
              <a:rPr lang="ru-RU"/>
              <a:t>Data analysis and mining</a:t>
            </a:r>
            <a:endParaRPr/>
          </a:p>
        </p:txBody>
      </p:sp>
      <p:sp>
        <p:nvSpPr>
          <p:cNvPr id="183" name="Google Shape;183;p14"/>
          <p:cNvSpPr txBox="1">
            <a:spLocks noGrp="1"/>
          </p:cNvSpPr>
          <p:nvPr>
            <p:ph type="body" idx="3"/>
          </p:nvPr>
        </p:nvSpPr>
        <p:spPr>
          <a:xfrm>
            <a:off x="8786720" y="1173829"/>
            <a:ext cx="2217738" cy="463186"/>
          </a:xfrm>
          <a:prstGeom prst="rect">
            <a:avLst/>
          </a:prstGeom>
          <a:noFill/>
          <a:ln>
            <a:noFill/>
          </a:ln>
        </p:spPr>
        <p:txBody>
          <a:bodyPr spcFirstLastPara="1" wrap="square" lIns="0" tIns="0" rIns="0" bIns="0" anchor="t" anchorCtr="0">
            <a:normAutofit fontScale="85000" lnSpcReduction="20000"/>
          </a:bodyPr>
          <a:lstStyle/>
          <a:p>
            <a:pPr marL="0" lvl="0" indent="0" algn="l" rtl="0">
              <a:spcBef>
                <a:spcPts val="0"/>
              </a:spcBef>
              <a:spcAft>
                <a:spcPts val="0"/>
              </a:spcAft>
              <a:buNone/>
            </a:pPr>
            <a:r>
              <a:rPr lang="ru-RU" sz="1600">
                <a:solidFill>
                  <a:srgbClr val="0F2C68"/>
                </a:solidFill>
              </a:rPr>
              <a:t>13 December 2025</a:t>
            </a:r>
            <a:endParaRPr sz="1600">
              <a:solidFill>
                <a:srgbClr val="0F2C68"/>
              </a:solidFill>
            </a:endParaRPr>
          </a:p>
          <a:p>
            <a:pPr marL="0" lvl="0" indent="0" algn="l" rtl="0">
              <a:spcBef>
                <a:spcPts val="0"/>
              </a:spcBef>
              <a:spcAft>
                <a:spcPts val="0"/>
              </a:spcAft>
              <a:buNone/>
            </a:pPr>
            <a:endParaRPr sz="1600">
              <a:solidFill>
                <a:srgbClr val="0F2C68"/>
              </a:solidFill>
            </a:endParaRPr>
          </a:p>
          <a:p>
            <a:pPr marL="0" marR="0" lvl="0" indent="0" algn="l" rtl="0">
              <a:lnSpc>
                <a:spcPct val="100000"/>
              </a:lnSpc>
              <a:spcBef>
                <a:spcPts val="0"/>
              </a:spcBef>
              <a:spcAft>
                <a:spcPts val="0"/>
              </a:spcAft>
              <a:buClr>
                <a:srgbClr val="0E2D69"/>
              </a:buClr>
              <a:buSzPct val="100000"/>
              <a:buFont typeface="Arial"/>
              <a:buNone/>
            </a:pPr>
            <a:endParaRPr/>
          </a:p>
        </p:txBody>
      </p:sp>
      <p:sp>
        <p:nvSpPr>
          <p:cNvPr id="184" name="Google Shape;184;p14"/>
          <p:cNvSpPr txBox="1">
            <a:spLocks noGrp="1"/>
          </p:cNvSpPr>
          <p:nvPr>
            <p:ph type="body" idx="4"/>
          </p:nvPr>
        </p:nvSpPr>
        <p:spPr>
          <a:xfrm>
            <a:off x="1027967" y="4824914"/>
            <a:ext cx="7625267" cy="652860"/>
          </a:xfrm>
          <a:prstGeom prst="rect">
            <a:avLst/>
          </a:prstGeom>
          <a:noFill/>
          <a:ln>
            <a:noFill/>
          </a:ln>
        </p:spPr>
        <p:txBody>
          <a:bodyPr spcFirstLastPara="1" wrap="square" lIns="0" tIns="0" rIns="0" bIns="0" anchor="t" anchorCtr="0">
            <a:normAutofit lnSpcReduction="20000"/>
          </a:bodyPr>
          <a:lstStyle/>
          <a:p>
            <a:pPr marL="0" marR="0" lvl="0" indent="0" algn="l" rtl="0">
              <a:lnSpc>
                <a:spcPct val="100000"/>
              </a:lnSpc>
              <a:spcBef>
                <a:spcPts val="0"/>
              </a:spcBef>
              <a:spcAft>
                <a:spcPts val="0"/>
              </a:spcAft>
              <a:buClr>
                <a:srgbClr val="0E2D69"/>
              </a:buClr>
              <a:buSzPts val="1600"/>
              <a:buFont typeface="Arial"/>
              <a:buNone/>
            </a:pPr>
            <a:r>
              <a:rPr lang="ru-RU"/>
              <a:t>by Sovetkina Ludmila</a:t>
            </a:r>
            <a:endParaRPr/>
          </a:p>
          <a:p>
            <a:pPr marL="0" marR="0" lvl="0" indent="0" algn="l" rtl="0">
              <a:lnSpc>
                <a:spcPct val="100000"/>
              </a:lnSpc>
              <a:spcBef>
                <a:spcPts val="0"/>
              </a:spcBef>
              <a:spcAft>
                <a:spcPts val="0"/>
              </a:spcAft>
              <a:buClr>
                <a:srgbClr val="0E2D69"/>
              </a:buClr>
              <a:buSzPts val="1600"/>
              <a:buFont typeface="Arial"/>
              <a:buNone/>
            </a:pPr>
            <a:endParaRPr/>
          </a:p>
          <a:p>
            <a:pPr marL="0" marR="0" lvl="0" indent="0" algn="l" rtl="0">
              <a:lnSpc>
                <a:spcPct val="100000"/>
              </a:lnSpc>
              <a:spcBef>
                <a:spcPts val="0"/>
              </a:spcBef>
              <a:spcAft>
                <a:spcPts val="0"/>
              </a:spcAft>
              <a:buClr>
                <a:srgbClr val="0E2D69"/>
              </a:buClr>
              <a:buSzPts val="1600"/>
              <a:buFont typeface="Arial"/>
              <a:buNone/>
            </a:pPr>
            <a:r>
              <a:rPr lang="ru-RU"/>
              <a:t>Challenge: </a:t>
            </a:r>
            <a:r>
              <a:rPr lang="ru-RU" u="sng">
                <a:solidFill>
                  <a:schemeClr val="hlink"/>
                </a:solidFill>
                <a:hlinkClick r:id="rId3"/>
              </a:rPr>
              <a:t>https://www.kaggle.com/datasets/zoya77/aging-risk-assessment-dataset</a:t>
            </a:r>
            <a:r>
              <a:rPr lang="ru-RU"/>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5"/>
          <p:cNvSpPr txBox="1">
            <a:spLocks noGrp="1"/>
          </p:cNvSpPr>
          <p:nvPr>
            <p:ph type="title"/>
          </p:nvPr>
        </p:nvSpPr>
        <p:spPr>
          <a:xfrm>
            <a:off x="1470673" y="1410365"/>
            <a:ext cx="5245500" cy="7770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2400"/>
              <a:buFont typeface="Arial"/>
              <a:buNone/>
            </a:pPr>
            <a:r>
              <a:rPr lang="ru-RU" sz="2900" b="1"/>
              <a:t>Research objective</a:t>
            </a:r>
            <a:endParaRPr sz="2900" b="1"/>
          </a:p>
        </p:txBody>
      </p:sp>
      <p:sp>
        <p:nvSpPr>
          <p:cNvPr id="190" name="Google Shape;190;p15"/>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191" name="Google Shape;191;p15"/>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192" name="Google Shape;192;p15"/>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sp>
        <p:nvSpPr>
          <p:cNvPr id="193" name="Google Shape;193;p15"/>
          <p:cNvSpPr txBox="1">
            <a:spLocks noGrp="1"/>
          </p:cNvSpPr>
          <p:nvPr>
            <p:ph type="body" idx="1"/>
          </p:nvPr>
        </p:nvSpPr>
        <p:spPr>
          <a:xfrm>
            <a:off x="585903" y="2003651"/>
            <a:ext cx="11055300" cy="3769200"/>
          </a:xfrm>
          <a:prstGeom prst="rect">
            <a:avLst/>
          </a:prstGeom>
        </p:spPr>
        <p:txBody>
          <a:bodyPr spcFirstLastPara="1" wrap="square" lIns="0" tIns="0" rIns="0" bIns="45700" anchor="t" anchorCtr="0">
            <a:noAutofit/>
          </a:bodyPr>
          <a:lstStyle/>
          <a:p>
            <a:pPr marL="0" lvl="0" indent="0" algn="l" rtl="0">
              <a:spcBef>
                <a:spcPts val="1000"/>
              </a:spcBef>
              <a:spcAft>
                <a:spcPts val="0"/>
              </a:spcAft>
              <a:buNone/>
            </a:pPr>
            <a:r>
              <a:rPr lang="ru-RU" sz="2500">
                <a:solidFill>
                  <a:srgbClr val="000000"/>
                </a:solidFill>
              </a:rPr>
              <a:t>The goal of the study is to analyse the </a:t>
            </a:r>
            <a:r>
              <a:rPr lang="ru-RU" sz="2500" b="1">
                <a:solidFill>
                  <a:srgbClr val="000000"/>
                </a:solidFill>
              </a:rPr>
              <a:t>most probable causes </a:t>
            </a:r>
            <a:r>
              <a:rPr lang="ru-RU" sz="2500">
                <a:solidFill>
                  <a:srgbClr val="000000"/>
                </a:solidFill>
              </a:rPr>
              <a:t>and </a:t>
            </a:r>
            <a:r>
              <a:rPr lang="ru-RU" sz="2500" b="1">
                <a:solidFill>
                  <a:srgbClr val="000000"/>
                </a:solidFill>
              </a:rPr>
              <a:t>metrics </a:t>
            </a:r>
            <a:r>
              <a:rPr lang="ru-RU" sz="2500">
                <a:solidFill>
                  <a:srgbClr val="000000"/>
                </a:solidFill>
              </a:rPr>
              <a:t>of </a:t>
            </a:r>
            <a:r>
              <a:rPr lang="ru-RU" sz="2500" b="1">
                <a:solidFill>
                  <a:srgbClr val="000000"/>
                </a:solidFill>
              </a:rPr>
              <a:t>aging outcomes</a:t>
            </a:r>
            <a:r>
              <a:rPr lang="ru-RU" sz="2500">
                <a:solidFill>
                  <a:srgbClr val="000000"/>
                </a:solidFill>
              </a:rPr>
              <a:t>. Additionally we have provided a classification model for reliable prediction of outcomes. In this study we are going to:</a:t>
            </a:r>
            <a:endParaRPr sz="2500">
              <a:solidFill>
                <a:srgbClr val="000000"/>
              </a:solidFill>
            </a:endParaRPr>
          </a:p>
          <a:p>
            <a:pPr marL="457200" lvl="0" indent="-387350" algn="l" rtl="0">
              <a:spcBef>
                <a:spcPts val="1000"/>
              </a:spcBef>
              <a:spcAft>
                <a:spcPts val="0"/>
              </a:spcAft>
              <a:buClr>
                <a:srgbClr val="000000"/>
              </a:buClr>
              <a:buSzPts val="2500"/>
              <a:buChar char="-"/>
            </a:pPr>
            <a:r>
              <a:rPr lang="ru-RU" sz="2500">
                <a:solidFill>
                  <a:srgbClr val="000000"/>
                </a:solidFill>
              </a:rPr>
              <a:t>analyze </a:t>
            </a:r>
            <a:r>
              <a:rPr lang="ru-RU" sz="2500" b="1">
                <a:solidFill>
                  <a:srgbClr val="000000"/>
                </a:solidFill>
              </a:rPr>
              <a:t>most reliable metrics</a:t>
            </a:r>
            <a:r>
              <a:rPr lang="ru-RU" sz="2500">
                <a:solidFill>
                  <a:srgbClr val="000000"/>
                </a:solidFill>
              </a:rPr>
              <a:t> to predict undesirable outcome of aging;</a:t>
            </a:r>
            <a:endParaRPr sz="2500">
              <a:solidFill>
                <a:srgbClr val="000000"/>
              </a:solidFill>
            </a:endParaRPr>
          </a:p>
          <a:p>
            <a:pPr marL="457200" lvl="0" indent="-387350" algn="l" rtl="0">
              <a:spcBef>
                <a:spcPts val="0"/>
              </a:spcBef>
              <a:spcAft>
                <a:spcPts val="0"/>
              </a:spcAft>
              <a:buClr>
                <a:srgbClr val="000000"/>
              </a:buClr>
              <a:buSzPts val="2500"/>
              <a:buChar char="-"/>
            </a:pPr>
            <a:r>
              <a:rPr lang="ru-RU" sz="2500">
                <a:solidFill>
                  <a:srgbClr val="000000"/>
                </a:solidFill>
              </a:rPr>
              <a:t>analyse </a:t>
            </a:r>
            <a:r>
              <a:rPr lang="ru-RU" sz="2500" b="1">
                <a:solidFill>
                  <a:srgbClr val="000000"/>
                </a:solidFill>
              </a:rPr>
              <a:t>most definite causes </a:t>
            </a:r>
            <a:r>
              <a:rPr lang="ru-RU" sz="2500">
                <a:solidFill>
                  <a:srgbClr val="000000"/>
                </a:solidFill>
              </a:rPr>
              <a:t>of undesirable outcomes of aging;</a:t>
            </a:r>
            <a:endParaRPr sz="2500">
              <a:solidFill>
                <a:srgbClr val="000000"/>
              </a:solidFill>
            </a:endParaRPr>
          </a:p>
          <a:p>
            <a:pPr marL="457200" lvl="0" indent="-387350" algn="l" rtl="0">
              <a:spcBef>
                <a:spcPts val="0"/>
              </a:spcBef>
              <a:spcAft>
                <a:spcPts val="0"/>
              </a:spcAft>
              <a:buClr>
                <a:srgbClr val="000000"/>
              </a:buClr>
              <a:buSzPts val="2500"/>
              <a:buChar char="-"/>
            </a:pPr>
            <a:r>
              <a:rPr lang="ru-RU" sz="2500">
                <a:solidFill>
                  <a:srgbClr val="000000"/>
                </a:solidFill>
              </a:rPr>
              <a:t>make a </a:t>
            </a:r>
            <a:r>
              <a:rPr lang="ru-RU" sz="2500" b="1">
                <a:solidFill>
                  <a:srgbClr val="000000"/>
                </a:solidFill>
              </a:rPr>
              <a:t>classification model </a:t>
            </a:r>
            <a:r>
              <a:rPr lang="ru-RU" sz="2500">
                <a:solidFill>
                  <a:srgbClr val="000000"/>
                </a:solidFill>
              </a:rPr>
              <a:t>to predict undesirable outcomes.</a:t>
            </a:r>
            <a:endParaRPr sz="25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6"/>
          <p:cNvSpPr txBox="1">
            <a:spLocks noGrp="1"/>
          </p:cNvSpPr>
          <p:nvPr>
            <p:ph type="title"/>
          </p:nvPr>
        </p:nvSpPr>
        <p:spPr>
          <a:xfrm>
            <a:off x="1397398" y="1263815"/>
            <a:ext cx="5245500" cy="7770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2400"/>
              <a:buFont typeface="Arial"/>
              <a:buNone/>
            </a:pPr>
            <a:r>
              <a:rPr lang="ru-RU" sz="2900" b="1"/>
              <a:t>About the dataset</a:t>
            </a:r>
            <a:endParaRPr sz="2900" b="1"/>
          </a:p>
        </p:txBody>
      </p:sp>
      <p:sp>
        <p:nvSpPr>
          <p:cNvPr id="199" name="Google Shape;199;p16"/>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200" name="Google Shape;200;p16"/>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201" name="Google Shape;201;p16"/>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pic>
        <p:nvPicPr>
          <p:cNvPr id="202" name="Google Shape;202;p16"/>
          <p:cNvPicPr preferRelativeResize="0"/>
          <p:nvPr/>
        </p:nvPicPr>
        <p:blipFill>
          <a:blip r:embed="rId3">
            <a:alphaModFix/>
          </a:blip>
          <a:stretch>
            <a:fillRect/>
          </a:stretch>
        </p:blipFill>
        <p:spPr>
          <a:xfrm>
            <a:off x="445600" y="1854604"/>
            <a:ext cx="5083574" cy="4557921"/>
          </a:xfrm>
          <a:prstGeom prst="rect">
            <a:avLst/>
          </a:prstGeom>
          <a:noFill/>
          <a:ln>
            <a:noFill/>
          </a:ln>
        </p:spPr>
      </p:pic>
      <p:sp>
        <p:nvSpPr>
          <p:cNvPr id="203" name="Google Shape;203;p16"/>
          <p:cNvSpPr txBox="1">
            <a:spLocks noGrp="1"/>
          </p:cNvSpPr>
          <p:nvPr>
            <p:ph type="body" idx="1"/>
          </p:nvPr>
        </p:nvSpPr>
        <p:spPr>
          <a:xfrm>
            <a:off x="5235975" y="1614800"/>
            <a:ext cx="6492600" cy="4659000"/>
          </a:xfrm>
          <a:prstGeom prst="rect">
            <a:avLst/>
          </a:prstGeom>
        </p:spPr>
        <p:txBody>
          <a:bodyPr spcFirstLastPara="1" wrap="square" lIns="0" tIns="0" rIns="0" bIns="45700" anchor="ctr" anchorCtr="0">
            <a:noAutofit/>
          </a:bodyPr>
          <a:lstStyle/>
          <a:p>
            <a:pPr marL="0" lvl="0" indent="0" algn="r" rtl="0">
              <a:spcBef>
                <a:spcPts val="1000"/>
              </a:spcBef>
              <a:spcAft>
                <a:spcPts val="0"/>
              </a:spcAft>
              <a:buNone/>
            </a:pPr>
            <a:r>
              <a:rPr lang="ru-RU" sz="2000" i="1">
                <a:solidFill>
                  <a:schemeClr val="dk1"/>
                </a:solidFill>
              </a:rPr>
              <a:t>This dataset contains 3456 records and is intended for machine learning tasks, particularly classification and regression. It includes synthetic data on aging prediction, where the outcome variable is derived from several features related to an individual's health and lifestyle. The dataset aims to assist in understanding aging patterns and predicting the likelihood of an individual falling into one of the three aging categories: Healthy, At-risk, or Frail. It provides valuable insights into age-related health outcomes based on demographic and lifestyle factors</a:t>
            </a:r>
            <a:endParaRPr sz="2000" i="1">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7"/>
          <p:cNvSpPr txBox="1">
            <a:spLocks noGrp="1"/>
          </p:cNvSpPr>
          <p:nvPr>
            <p:ph type="body" idx="3"/>
          </p:nvPr>
        </p:nvSpPr>
        <p:spPr>
          <a:xfrm>
            <a:off x="1143689" y="540904"/>
            <a:ext cx="1901825" cy="415925"/>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209" name="Google Shape;209;p17"/>
          <p:cNvSpPr txBox="1">
            <a:spLocks noGrp="1"/>
          </p:cNvSpPr>
          <p:nvPr>
            <p:ph type="body" idx="4"/>
          </p:nvPr>
        </p:nvSpPr>
        <p:spPr>
          <a:xfrm>
            <a:off x="3459163" y="548720"/>
            <a:ext cx="2070100" cy="408109"/>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210" name="Google Shape;210;p17"/>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pic>
        <p:nvPicPr>
          <p:cNvPr id="211" name="Google Shape;211;p17"/>
          <p:cNvPicPr preferRelativeResize="0"/>
          <p:nvPr/>
        </p:nvPicPr>
        <p:blipFill>
          <a:blip r:embed="rId3">
            <a:alphaModFix/>
          </a:blip>
          <a:stretch>
            <a:fillRect/>
          </a:stretch>
        </p:blipFill>
        <p:spPr>
          <a:xfrm>
            <a:off x="188575" y="1084601"/>
            <a:ext cx="6599787" cy="5572800"/>
          </a:xfrm>
          <a:prstGeom prst="rect">
            <a:avLst/>
          </a:prstGeom>
          <a:noFill/>
          <a:ln>
            <a:noFill/>
          </a:ln>
        </p:spPr>
      </p:pic>
      <p:sp>
        <p:nvSpPr>
          <p:cNvPr id="212" name="Google Shape;212;p17"/>
          <p:cNvSpPr txBox="1">
            <a:spLocks noGrp="1"/>
          </p:cNvSpPr>
          <p:nvPr>
            <p:ph type="body" idx="1"/>
          </p:nvPr>
        </p:nvSpPr>
        <p:spPr>
          <a:xfrm>
            <a:off x="7005100" y="1614800"/>
            <a:ext cx="4723500" cy="4659000"/>
          </a:xfrm>
          <a:prstGeom prst="rect">
            <a:avLst/>
          </a:prstGeom>
        </p:spPr>
        <p:txBody>
          <a:bodyPr spcFirstLastPara="1" wrap="square" lIns="0" tIns="0" rIns="0" bIns="45700" anchor="ctr" anchorCtr="0">
            <a:noAutofit/>
          </a:bodyPr>
          <a:lstStyle/>
          <a:p>
            <a:pPr marL="0" lvl="0" indent="0" algn="r" rtl="0">
              <a:spcBef>
                <a:spcPts val="1000"/>
              </a:spcBef>
              <a:spcAft>
                <a:spcPts val="0"/>
              </a:spcAft>
              <a:buNone/>
            </a:pPr>
            <a:r>
              <a:rPr lang="ru-RU" sz="2000" i="1">
                <a:solidFill>
                  <a:schemeClr val="dk1"/>
                </a:solidFill>
              </a:rPr>
              <a:t>Overall the dataset contained 5 numerical, 8 ordinal, and 2 nominal variables with target being an ordinal variable which allows us to explore methods of strict classification and ordinal regressions. We can apply for example Random Forest methods or choice regressions. Because of absence of linear relationships between numeric variables ordinal linear methods would not be considered </a:t>
            </a:r>
            <a:endParaRPr sz="2000" i="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8"/>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218" name="Google Shape;218;p18"/>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219" name="Google Shape;219;p18"/>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sp>
        <p:nvSpPr>
          <p:cNvPr id="220" name="Google Shape;220;p18"/>
          <p:cNvSpPr txBox="1">
            <a:spLocks noGrp="1"/>
          </p:cNvSpPr>
          <p:nvPr>
            <p:ph type="body" idx="1"/>
          </p:nvPr>
        </p:nvSpPr>
        <p:spPr>
          <a:xfrm>
            <a:off x="7005100" y="1614800"/>
            <a:ext cx="4723500" cy="4659000"/>
          </a:xfrm>
          <a:prstGeom prst="rect">
            <a:avLst/>
          </a:prstGeom>
        </p:spPr>
        <p:txBody>
          <a:bodyPr spcFirstLastPara="1" wrap="square" lIns="0" tIns="0" rIns="0" bIns="45700" anchor="ctr" anchorCtr="0">
            <a:noAutofit/>
          </a:bodyPr>
          <a:lstStyle/>
          <a:p>
            <a:pPr marL="0" lvl="0" indent="0" algn="r" rtl="0">
              <a:spcBef>
                <a:spcPts val="1000"/>
              </a:spcBef>
              <a:spcAft>
                <a:spcPts val="0"/>
              </a:spcAft>
              <a:buNone/>
            </a:pPr>
            <a:r>
              <a:rPr lang="ru-RU" sz="2000" i="1">
                <a:solidFill>
                  <a:schemeClr val="dk1"/>
                </a:solidFill>
              </a:rPr>
              <a:t>The dataset mainly consists of categorical and nominal variables. Additional inspection has showed that dataset is not intendent much for ecomoterics or tasks outside prediction. Most of numeric data is </a:t>
            </a:r>
            <a:r>
              <a:rPr lang="ru-RU" sz="2000" i="1" u="sng">
                <a:solidFill>
                  <a:schemeClr val="dk1"/>
                </a:solidFill>
              </a:rPr>
              <a:t>not normally </a:t>
            </a:r>
            <a:r>
              <a:rPr lang="ru-RU" sz="2000" i="1">
                <a:solidFill>
                  <a:schemeClr val="dk1"/>
                </a:solidFill>
              </a:rPr>
              <a:t>distributed which inflicts certain limitations on interpretations. One exception is BMI. </a:t>
            </a:r>
            <a:endParaRPr sz="2000" i="1">
              <a:solidFill>
                <a:schemeClr val="dk1"/>
              </a:solidFill>
            </a:endParaRPr>
          </a:p>
        </p:txBody>
      </p:sp>
      <p:pic>
        <p:nvPicPr>
          <p:cNvPr id="221" name="Google Shape;221;p18"/>
          <p:cNvPicPr preferRelativeResize="0"/>
          <p:nvPr/>
        </p:nvPicPr>
        <p:blipFill>
          <a:blip r:embed="rId3">
            <a:alphaModFix/>
          </a:blip>
          <a:stretch>
            <a:fillRect/>
          </a:stretch>
        </p:blipFill>
        <p:spPr>
          <a:xfrm>
            <a:off x="715250" y="1072929"/>
            <a:ext cx="5380743" cy="55964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9"/>
          <p:cNvSpPr txBox="1">
            <a:spLocks noGrp="1"/>
          </p:cNvSpPr>
          <p:nvPr>
            <p:ph type="title"/>
          </p:nvPr>
        </p:nvSpPr>
        <p:spPr>
          <a:xfrm>
            <a:off x="390775" y="1270002"/>
            <a:ext cx="6325500" cy="9174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2400"/>
              <a:buFont typeface="Arial"/>
              <a:buNone/>
            </a:pPr>
            <a:r>
              <a:rPr lang="ru-RU" sz="2900" b="1"/>
              <a:t>Predictive modeling </a:t>
            </a:r>
            <a:endParaRPr sz="2900" b="1"/>
          </a:p>
        </p:txBody>
      </p:sp>
      <p:sp>
        <p:nvSpPr>
          <p:cNvPr id="227" name="Google Shape;227;p19"/>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228" name="Google Shape;228;p19"/>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229" name="Google Shape;229;p19"/>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sp>
        <p:nvSpPr>
          <p:cNvPr id="230" name="Google Shape;230;p19"/>
          <p:cNvSpPr txBox="1">
            <a:spLocks noGrp="1"/>
          </p:cNvSpPr>
          <p:nvPr>
            <p:ph type="body" idx="1"/>
          </p:nvPr>
        </p:nvSpPr>
        <p:spPr>
          <a:xfrm>
            <a:off x="585900" y="2003650"/>
            <a:ext cx="11055300" cy="4410600"/>
          </a:xfrm>
          <a:prstGeom prst="rect">
            <a:avLst/>
          </a:prstGeom>
        </p:spPr>
        <p:txBody>
          <a:bodyPr spcFirstLastPara="1" wrap="square" lIns="0" tIns="0" rIns="0" bIns="45700" anchor="t" anchorCtr="0">
            <a:noAutofit/>
          </a:bodyPr>
          <a:lstStyle/>
          <a:p>
            <a:pPr marL="0" lvl="0" indent="0" algn="l" rtl="0">
              <a:spcBef>
                <a:spcPts val="1000"/>
              </a:spcBef>
              <a:spcAft>
                <a:spcPts val="0"/>
              </a:spcAft>
              <a:buNone/>
            </a:pPr>
            <a:r>
              <a:rPr lang="ru-RU" sz="2500">
                <a:solidFill>
                  <a:srgbClr val="000000"/>
                </a:solidFill>
              </a:rPr>
              <a:t>In order to examine additional relationships we directly used </a:t>
            </a:r>
            <a:r>
              <a:rPr lang="ru-RU" sz="2500" b="1">
                <a:solidFill>
                  <a:srgbClr val="000000"/>
                </a:solidFill>
              </a:rPr>
              <a:t>catboosting models</a:t>
            </a:r>
            <a:r>
              <a:rPr lang="ru-RU" sz="2500">
                <a:solidFill>
                  <a:srgbClr val="000000"/>
                </a:solidFill>
              </a:rPr>
              <a:t> to examine variable importance in predicting the target. That gave us both measure of </a:t>
            </a:r>
            <a:r>
              <a:rPr lang="ru-RU" sz="2500" b="1">
                <a:solidFill>
                  <a:srgbClr val="000000"/>
                </a:solidFill>
              </a:rPr>
              <a:t>importance </a:t>
            </a:r>
            <a:r>
              <a:rPr lang="ru-RU" sz="2500">
                <a:solidFill>
                  <a:srgbClr val="000000"/>
                </a:solidFill>
              </a:rPr>
              <a:t>and </a:t>
            </a:r>
            <a:r>
              <a:rPr lang="ru-RU" sz="2500" b="1">
                <a:solidFill>
                  <a:srgbClr val="000000"/>
                </a:solidFill>
              </a:rPr>
              <a:t>prediction model</a:t>
            </a:r>
            <a:r>
              <a:rPr lang="ru-RU" sz="2500">
                <a:solidFill>
                  <a:srgbClr val="000000"/>
                </a:solidFill>
              </a:rPr>
              <a:t>. The catboost is used here because of its </a:t>
            </a:r>
            <a:r>
              <a:rPr lang="ru-RU" sz="2500" b="1">
                <a:solidFill>
                  <a:srgbClr val="000000"/>
                </a:solidFill>
              </a:rPr>
              <a:t>fluid categorical</a:t>
            </a:r>
            <a:r>
              <a:rPr lang="ru-RU" sz="2500">
                <a:solidFill>
                  <a:srgbClr val="000000"/>
                </a:solidFill>
              </a:rPr>
              <a:t> columns handling and </a:t>
            </a:r>
            <a:r>
              <a:rPr lang="ru-RU" sz="2500" b="1">
                <a:solidFill>
                  <a:srgbClr val="000000"/>
                </a:solidFill>
              </a:rPr>
              <a:t>ani-overfit measures </a:t>
            </a:r>
            <a:r>
              <a:rPr lang="ru-RU" sz="2500">
                <a:solidFill>
                  <a:srgbClr val="000000"/>
                </a:solidFill>
              </a:rPr>
              <a:t>built in. </a:t>
            </a:r>
            <a:endParaRPr sz="2500">
              <a:solidFill>
                <a:srgbClr val="000000"/>
              </a:solidFill>
            </a:endParaRPr>
          </a:p>
          <a:p>
            <a:pPr marL="0" lvl="0" indent="0" algn="l" rtl="0">
              <a:spcBef>
                <a:spcPts val="1000"/>
              </a:spcBef>
              <a:spcAft>
                <a:spcPts val="0"/>
              </a:spcAft>
              <a:buNone/>
            </a:pPr>
            <a:r>
              <a:rPr lang="ru-RU" sz="2500">
                <a:solidFill>
                  <a:srgbClr val="000000"/>
                </a:solidFill>
              </a:rPr>
              <a:t>Compared to other approaches it is produces much less overfiting like </a:t>
            </a:r>
            <a:r>
              <a:rPr lang="ru-RU" sz="2500" b="1">
                <a:solidFill>
                  <a:srgbClr val="000000"/>
                </a:solidFill>
              </a:rPr>
              <a:t>RandomForests</a:t>
            </a:r>
            <a:r>
              <a:rPr lang="ru-RU" sz="2500">
                <a:solidFill>
                  <a:srgbClr val="000000"/>
                </a:solidFill>
              </a:rPr>
              <a:t>, or </a:t>
            </a:r>
            <a:r>
              <a:rPr lang="ru-RU" sz="2500" b="1">
                <a:solidFill>
                  <a:srgbClr val="000000"/>
                </a:solidFill>
              </a:rPr>
              <a:t>XGBoosting </a:t>
            </a:r>
            <a:r>
              <a:rPr lang="ru-RU" sz="2500">
                <a:solidFill>
                  <a:srgbClr val="000000"/>
                </a:solidFill>
              </a:rPr>
              <a:t>or </a:t>
            </a:r>
            <a:r>
              <a:rPr lang="ru-RU" sz="2500" b="1">
                <a:solidFill>
                  <a:srgbClr val="000000"/>
                </a:solidFill>
              </a:rPr>
              <a:t>AdaBoosting</a:t>
            </a:r>
            <a:r>
              <a:rPr lang="ru-RU" sz="2500">
                <a:solidFill>
                  <a:srgbClr val="000000"/>
                </a:solidFill>
              </a:rPr>
              <a:t>. Unlike </a:t>
            </a:r>
            <a:r>
              <a:rPr lang="ru-RU" sz="2500" b="1">
                <a:solidFill>
                  <a:srgbClr val="000000"/>
                </a:solidFill>
              </a:rPr>
              <a:t>XGBoosting </a:t>
            </a:r>
            <a:r>
              <a:rPr lang="ru-RU" sz="2500">
                <a:solidFill>
                  <a:srgbClr val="000000"/>
                </a:solidFill>
              </a:rPr>
              <a:t> the performance won’t be affected as much by dataset size. To ensure best fit, first we completed grid searching</a:t>
            </a:r>
            <a:endParaRPr sz="25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0"/>
          <p:cNvSpPr txBox="1">
            <a:spLocks noGrp="1"/>
          </p:cNvSpPr>
          <p:nvPr>
            <p:ph type="title"/>
          </p:nvPr>
        </p:nvSpPr>
        <p:spPr>
          <a:xfrm>
            <a:off x="390775" y="1270002"/>
            <a:ext cx="6325500" cy="9174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2400"/>
              <a:buFont typeface="Arial"/>
              <a:buNone/>
            </a:pPr>
            <a:r>
              <a:rPr lang="ru-RU" sz="2900" b="1"/>
              <a:t>Grid searching results </a:t>
            </a:r>
            <a:endParaRPr sz="2900" b="1"/>
          </a:p>
        </p:txBody>
      </p:sp>
      <p:sp>
        <p:nvSpPr>
          <p:cNvPr id="236" name="Google Shape;236;p20"/>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237" name="Google Shape;237;p20"/>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238" name="Google Shape;238;p20"/>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sp>
        <p:nvSpPr>
          <p:cNvPr id="239" name="Google Shape;239;p20"/>
          <p:cNvSpPr txBox="1">
            <a:spLocks noGrp="1"/>
          </p:cNvSpPr>
          <p:nvPr>
            <p:ph type="body" idx="1"/>
          </p:nvPr>
        </p:nvSpPr>
        <p:spPr>
          <a:xfrm>
            <a:off x="585900" y="1856775"/>
            <a:ext cx="4851900" cy="4359000"/>
          </a:xfrm>
          <a:prstGeom prst="rect">
            <a:avLst/>
          </a:prstGeom>
        </p:spPr>
        <p:txBody>
          <a:bodyPr spcFirstLastPara="1" wrap="square" lIns="0" tIns="0" rIns="0" bIns="45700" anchor="t" anchorCtr="0">
            <a:noAutofit/>
          </a:bodyPr>
          <a:lstStyle/>
          <a:p>
            <a:pPr marL="0" lvl="0" indent="0" algn="l" rtl="0">
              <a:spcBef>
                <a:spcPts val="1000"/>
              </a:spcBef>
              <a:spcAft>
                <a:spcPts val="0"/>
              </a:spcAft>
              <a:buNone/>
            </a:pPr>
            <a:r>
              <a:rPr lang="ru-RU" sz="2500">
                <a:solidFill>
                  <a:srgbClr val="000000"/>
                </a:solidFill>
              </a:rPr>
              <a:t>The most appropriate metric in for grid searching usually </a:t>
            </a:r>
            <a:r>
              <a:rPr lang="ru-RU" sz="2500" b="1">
                <a:solidFill>
                  <a:srgbClr val="000000"/>
                </a:solidFill>
              </a:rPr>
              <a:t>AUC</a:t>
            </a:r>
            <a:r>
              <a:rPr lang="ru-RU" sz="2500">
                <a:solidFill>
                  <a:srgbClr val="000000"/>
                </a:solidFill>
              </a:rPr>
              <a:t>. This metric is very reliable when assessing multiclass like this one. </a:t>
            </a:r>
            <a:endParaRPr sz="2500">
              <a:solidFill>
                <a:srgbClr val="000000"/>
              </a:solidFill>
            </a:endParaRPr>
          </a:p>
          <a:p>
            <a:pPr marL="0" lvl="0" indent="0" algn="l" rtl="0">
              <a:spcBef>
                <a:spcPts val="1000"/>
              </a:spcBef>
              <a:spcAft>
                <a:spcPts val="0"/>
              </a:spcAft>
              <a:buNone/>
            </a:pPr>
            <a:r>
              <a:rPr lang="ru-RU" sz="2500">
                <a:solidFill>
                  <a:srgbClr val="000000"/>
                </a:solidFill>
              </a:rPr>
              <a:t>The best group of parameters is:</a:t>
            </a:r>
            <a:endParaRPr sz="2500">
              <a:solidFill>
                <a:srgbClr val="000000"/>
              </a:solidFill>
            </a:endParaRPr>
          </a:p>
          <a:p>
            <a:pPr marL="0" lvl="0" indent="0" algn="l" rtl="0">
              <a:spcBef>
                <a:spcPts val="1000"/>
              </a:spcBef>
              <a:spcAft>
                <a:spcPts val="0"/>
              </a:spcAft>
              <a:buNone/>
            </a:pPr>
            <a:r>
              <a:rPr lang="ru-RU" sz="2500" b="1">
                <a:solidFill>
                  <a:srgbClr val="000000"/>
                </a:solidFill>
              </a:rPr>
              <a:t>{'depth': 5, </a:t>
            </a:r>
            <a:endParaRPr sz="2500" b="1">
              <a:solidFill>
                <a:srgbClr val="000000"/>
              </a:solidFill>
            </a:endParaRPr>
          </a:p>
          <a:p>
            <a:pPr marL="0" lvl="0" indent="0" algn="l" rtl="0">
              <a:spcBef>
                <a:spcPts val="1000"/>
              </a:spcBef>
              <a:spcAft>
                <a:spcPts val="0"/>
              </a:spcAft>
              <a:buNone/>
            </a:pPr>
            <a:r>
              <a:rPr lang="ru-RU" sz="2500" b="1">
                <a:solidFill>
                  <a:srgbClr val="000000"/>
                </a:solidFill>
              </a:rPr>
              <a:t>'learning_rate': 0.1, </a:t>
            </a:r>
            <a:endParaRPr sz="2500" b="1">
              <a:solidFill>
                <a:srgbClr val="000000"/>
              </a:solidFill>
            </a:endParaRPr>
          </a:p>
          <a:p>
            <a:pPr marL="0" lvl="0" indent="0" algn="l" rtl="0">
              <a:spcBef>
                <a:spcPts val="1000"/>
              </a:spcBef>
              <a:spcAft>
                <a:spcPts val="0"/>
              </a:spcAft>
              <a:buNone/>
            </a:pPr>
            <a:r>
              <a:rPr lang="ru-RU" sz="2500" b="1">
                <a:solidFill>
                  <a:srgbClr val="000000"/>
                </a:solidFill>
              </a:rPr>
              <a:t>'l2_leaf_reg': 1}</a:t>
            </a:r>
            <a:endParaRPr sz="2500" b="1">
              <a:solidFill>
                <a:srgbClr val="000000"/>
              </a:solidFill>
            </a:endParaRPr>
          </a:p>
        </p:txBody>
      </p:sp>
      <p:pic>
        <p:nvPicPr>
          <p:cNvPr id="240" name="Google Shape;240;p20"/>
          <p:cNvPicPr preferRelativeResize="0"/>
          <p:nvPr/>
        </p:nvPicPr>
        <p:blipFill>
          <a:blip r:embed="rId3">
            <a:alphaModFix/>
          </a:blip>
          <a:stretch>
            <a:fillRect/>
          </a:stretch>
        </p:blipFill>
        <p:spPr>
          <a:xfrm>
            <a:off x="5578150" y="2086602"/>
            <a:ext cx="6449399" cy="368820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1"/>
          <p:cNvSpPr txBox="1">
            <a:spLocks noGrp="1"/>
          </p:cNvSpPr>
          <p:nvPr>
            <p:ph type="title"/>
          </p:nvPr>
        </p:nvSpPr>
        <p:spPr>
          <a:xfrm>
            <a:off x="390775" y="1270002"/>
            <a:ext cx="6325500" cy="9174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2400"/>
              <a:buFont typeface="Arial"/>
              <a:buNone/>
            </a:pPr>
            <a:r>
              <a:rPr lang="ru-RU" sz="2900" b="1"/>
              <a:t>Prediction model design </a:t>
            </a:r>
            <a:endParaRPr sz="2900" b="1"/>
          </a:p>
        </p:txBody>
      </p:sp>
      <p:sp>
        <p:nvSpPr>
          <p:cNvPr id="246" name="Google Shape;246;p21"/>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247" name="Google Shape;247;p21"/>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248" name="Google Shape;248;p21"/>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sp>
        <p:nvSpPr>
          <p:cNvPr id="249" name="Google Shape;249;p21"/>
          <p:cNvSpPr txBox="1">
            <a:spLocks noGrp="1"/>
          </p:cNvSpPr>
          <p:nvPr>
            <p:ph type="body" idx="1"/>
          </p:nvPr>
        </p:nvSpPr>
        <p:spPr>
          <a:xfrm>
            <a:off x="585900" y="1856775"/>
            <a:ext cx="4851900" cy="4359000"/>
          </a:xfrm>
          <a:prstGeom prst="rect">
            <a:avLst/>
          </a:prstGeom>
        </p:spPr>
        <p:txBody>
          <a:bodyPr spcFirstLastPara="1" wrap="square" lIns="0" tIns="0" rIns="0" bIns="45700" anchor="t" anchorCtr="0">
            <a:noAutofit/>
          </a:bodyPr>
          <a:lstStyle/>
          <a:p>
            <a:pPr marL="0" lvl="0" indent="0" algn="l" rtl="0">
              <a:spcBef>
                <a:spcPts val="1000"/>
              </a:spcBef>
              <a:spcAft>
                <a:spcPts val="0"/>
              </a:spcAft>
              <a:buNone/>
            </a:pPr>
            <a:r>
              <a:rPr lang="ru-RU" sz="2100">
                <a:solidFill>
                  <a:srgbClr val="000000"/>
                </a:solidFill>
              </a:rPr>
              <a:t>Based on grid search results we trained best model with </a:t>
            </a:r>
            <a:r>
              <a:rPr lang="ru-RU" sz="2100" b="1">
                <a:solidFill>
                  <a:srgbClr val="000000"/>
                </a:solidFill>
              </a:rPr>
              <a:t>F1</a:t>
            </a:r>
            <a:r>
              <a:rPr lang="ru-RU" sz="2100">
                <a:solidFill>
                  <a:srgbClr val="000000"/>
                </a:solidFill>
              </a:rPr>
              <a:t> evaluation metric to ensure absence of </a:t>
            </a:r>
            <a:r>
              <a:rPr lang="ru-RU" sz="2100" b="1">
                <a:solidFill>
                  <a:srgbClr val="000000"/>
                </a:solidFill>
              </a:rPr>
              <a:t>false positives</a:t>
            </a:r>
            <a:r>
              <a:rPr lang="ru-RU" sz="2100">
                <a:solidFill>
                  <a:srgbClr val="000000"/>
                </a:solidFill>
              </a:rPr>
              <a:t> (better safe than sorry).</a:t>
            </a:r>
            <a:endParaRPr sz="2100">
              <a:solidFill>
                <a:srgbClr val="000000"/>
              </a:solidFill>
            </a:endParaRPr>
          </a:p>
          <a:p>
            <a:pPr marL="0" lvl="0" indent="0" algn="l" rtl="0">
              <a:spcBef>
                <a:spcPts val="1000"/>
              </a:spcBef>
              <a:spcAft>
                <a:spcPts val="0"/>
              </a:spcAft>
              <a:buNone/>
            </a:pPr>
            <a:r>
              <a:rPr lang="ru-RU" sz="2100">
                <a:solidFill>
                  <a:srgbClr val="000000"/>
                </a:solidFill>
              </a:rPr>
              <a:t>Evidentiality in all trials we ended up with what seems </a:t>
            </a:r>
            <a:r>
              <a:rPr lang="ru-RU" sz="2100" b="1">
                <a:solidFill>
                  <a:srgbClr val="000000"/>
                </a:solidFill>
              </a:rPr>
              <a:t>overfitting models</a:t>
            </a:r>
            <a:r>
              <a:rPr lang="ru-RU" sz="2100">
                <a:solidFill>
                  <a:srgbClr val="000000"/>
                </a:solidFill>
              </a:rPr>
              <a:t>. Unfortunately, there’s no room to add artificial variance to combat overfitting. Certainly this is a problem with dataset. Most likely it was </a:t>
            </a:r>
            <a:r>
              <a:rPr lang="ru-RU" sz="2100" b="1">
                <a:solidFill>
                  <a:srgbClr val="000000"/>
                </a:solidFill>
              </a:rPr>
              <a:t>downsampled </a:t>
            </a:r>
            <a:r>
              <a:rPr lang="ru-RU" sz="2100">
                <a:solidFill>
                  <a:srgbClr val="000000"/>
                </a:solidFill>
              </a:rPr>
              <a:t>for better classification tasks which </a:t>
            </a:r>
            <a:r>
              <a:rPr lang="ru-RU" sz="2100" b="1">
                <a:solidFill>
                  <a:srgbClr val="000000"/>
                </a:solidFill>
              </a:rPr>
              <a:t>damaged data’s </a:t>
            </a:r>
            <a:r>
              <a:rPr lang="ru-RU" sz="2100">
                <a:solidFill>
                  <a:srgbClr val="000000"/>
                </a:solidFill>
              </a:rPr>
              <a:t>explanatory value</a:t>
            </a:r>
            <a:endParaRPr sz="2100">
              <a:solidFill>
                <a:srgbClr val="000000"/>
              </a:solidFill>
            </a:endParaRPr>
          </a:p>
        </p:txBody>
      </p:sp>
      <p:pic>
        <p:nvPicPr>
          <p:cNvPr id="250" name="Google Shape;250;p21"/>
          <p:cNvPicPr preferRelativeResize="0"/>
          <p:nvPr/>
        </p:nvPicPr>
        <p:blipFill>
          <a:blip r:embed="rId3">
            <a:alphaModFix/>
          </a:blip>
          <a:stretch>
            <a:fillRect/>
          </a:stretch>
        </p:blipFill>
        <p:spPr>
          <a:xfrm>
            <a:off x="5590200" y="2049507"/>
            <a:ext cx="6325501" cy="465609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2"/>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256" name="Google Shape;256;p22"/>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257" name="Google Shape;257;p22"/>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pic>
        <p:nvPicPr>
          <p:cNvPr id="258" name="Google Shape;258;p22"/>
          <p:cNvPicPr preferRelativeResize="0"/>
          <p:nvPr/>
        </p:nvPicPr>
        <p:blipFill rotWithShape="1">
          <a:blip r:embed="rId3">
            <a:alphaModFix/>
          </a:blip>
          <a:srcRect r="1341"/>
          <a:stretch/>
        </p:blipFill>
        <p:spPr>
          <a:xfrm>
            <a:off x="304800" y="1048400"/>
            <a:ext cx="9509575" cy="5558826"/>
          </a:xfrm>
          <a:prstGeom prst="rect">
            <a:avLst/>
          </a:prstGeom>
          <a:noFill/>
          <a:ln>
            <a:noFill/>
          </a:ln>
        </p:spPr>
      </p:pic>
      <p:sp>
        <p:nvSpPr>
          <p:cNvPr id="259" name="Google Shape;259;p22"/>
          <p:cNvSpPr txBox="1">
            <a:spLocks noGrp="1"/>
          </p:cNvSpPr>
          <p:nvPr>
            <p:ph type="body" idx="1"/>
          </p:nvPr>
        </p:nvSpPr>
        <p:spPr>
          <a:xfrm>
            <a:off x="7113600" y="1755325"/>
            <a:ext cx="4603200" cy="4659000"/>
          </a:xfrm>
          <a:prstGeom prst="rect">
            <a:avLst/>
          </a:prstGeom>
        </p:spPr>
        <p:txBody>
          <a:bodyPr spcFirstLastPara="1" wrap="square" lIns="0" tIns="0" rIns="0" bIns="45700" anchor="ctr" anchorCtr="0">
            <a:noAutofit/>
          </a:bodyPr>
          <a:lstStyle/>
          <a:p>
            <a:pPr marL="0" lvl="0" indent="0" algn="r" rtl="0">
              <a:spcBef>
                <a:spcPts val="1000"/>
              </a:spcBef>
              <a:spcAft>
                <a:spcPts val="0"/>
              </a:spcAft>
              <a:buNone/>
            </a:pPr>
            <a:r>
              <a:rPr lang="ru-RU" sz="2000" i="1">
                <a:solidFill>
                  <a:schemeClr val="dk1"/>
                </a:solidFill>
              </a:rPr>
              <a:t>Fortunately best fit usually explains all the variance. In case of CatBoost we have gotten feature importance for each predictor. Based on these features we can now analyse </a:t>
            </a:r>
            <a:r>
              <a:rPr lang="ru-RU" sz="2000" b="1" i="1">
                <a:solidFill>
                  <a:schemeClr val="dk1"/>
                </a:solidFill>
              </a:rPr>
              <a:t>importance </a:t>
            </a:r>
            <a:r>
              <a:rPr lang="ru-RU" sz="2000" i="1">
                <a:solidFill>
                  <a:schemeClr val="dk1"/>
                </a:solidFill>
              </a:rPr>
              <a:t>of variables as </a:t>
            </a:r>
            <a:r>
              <a:rPr lang="ru-RU" sz="2000" b="1" i="1">
                <a:solidFill>
                  <a:schemeClr val="dk1"/>
                </a:solidFill>
              </a:rPr>
              <a:t>metrics </a:t>
            </a:r>
            <a:r>
              <a:rPr lang="ru-RU" sz="2000" i="1">
                <a:solidFill>
                  <a:schemeClr val="dk1"/>
                </a:solidFill>
              </a:rPr>
              <a:t>or </a:t>
            </a:r>
            <a:r>
              <a:rPr lang="ru-RU" sz="2000" b="1" i="1">
                <a:solidFill>
                  <a:schemeClr val="dk1"/>
                </a:solidFill>
              </a:rPr>
              <a:t>causes </a:t>
            </a:r>
            <a:r>
              <a:rPr lang="ru-RU" sz="2000" i="1">
                <a:solidFill>
                  <a:schemeClr val="dk1"/>
                </a:solidFill>
              </a:rPr>
              <a:t>of aging outcomes</a:t>
            </a:r>
            <a:endParaRPr sz="2000" i="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3"/>
          <p:cNvSpPr txBox="1">
            <a:spLocks noGrp="1"/>
          </p:cNvSpPr>
          <p:nvPr>
            <p:ph type="title"/>
          </p:nvPr>
        </p:nvSpPr>
        <p:spPr>
          <a:xfrm>
            <a:off x="390775" y="1270000"/>
            <a:ext cx="7602900" cy="9174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2400"/>
              <a:buFont typeface="Arial"/>
              <a:buNone/>
            </a:pPr>
            <a:r>
              <a:rPr lang="ru-RU" sz="2900" b="1"/>
              <a:t>Memory score: the most reliable metric</a:t>
            </a:r>
            <a:endParaRPr sz="2900" b="1"/>
          </a:p>
        </p:txBody>
      </p:sp>
      <p:sp>
        <p:nvSpPr>
          <p:cNvPr id="265" name="Google Shape;265;p23"/>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266" name="Google Shape;266;p23"/>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267" name="Google Shape;267;p23"/>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sp>
        <p:nvSpPr>
          <p:cNvPr id="268" name="Google Shape;268;p23"/>
          <p:cNvSpPr txBox="1">
            <a:spLocks noGrp="1"/>
          </p:cNvSpPr>
          <p:nvPr>
            <p:ph type="body" idx="1"/>
          </p:nvPr>
        </p:nvSpPr>
        <p:spPr>
          <a:xfrm>
            <a:off x="7692350" y="2037625"/>
            <a:ext cx="3899700" cy="2073600"/>
          </a:xfrm>
          <a:prstGeom prst="rect">
            <a:avLst/>
          </a:prstGeom>
        </p:spPr>
        <p:txBody>
          <a:bodyPr spcFirstLastPara="1" wrap="square" lIns="0" tIns="0" rIns="0" bIns="45700" anchor="t" anchorCtr="0">
            <a:noAutofit/>
          </a:bodyPr>
          <a:lstStyle/>
          <a:p>
            <a:pPr marL="0" lvl="0" indent="0" algn="l" rtl="0">
              <a:spcBef>
                <a:spcPts val="1000"/>
              </a:spcBef>
              <a:spcAft>
                <a:spcPts val="0"/>
              </a:spcAft>
              <a:buNone/>
            </a:pPr>
            <a:r>
              <a:rPr lang="ru-RU" sz="2100">
                <a:solidFill>
                  <a:srgbClr val="000000"/>
                </a:solidFill>
              </a:rPr>
              <a:t>In order to examine differences between groups we opted to </a:t>
            </a:r>
            <a:r>
              <a:rPr lang="ru-RU" sz="2100" b="1">
                <a:solidFill>
                  <a:srgbClr val="000000"/>
                </a:solidFill>
              </a:rPr>
              <a:t>ANOVA. </a:t>
            </a:r>
            <a:r>
              <a:rPr lang="ru-RU" sz="2100">
                <a:solidFill>
                  <a:srgbClr val="000000"/>
                </a:solidFill>
              </a:rPr>
              <a:t>As this test is parametric and MS is almost normally distributed</a:t>
            </a:r>
            <a:endParaRPr sz="2100">
              <a:solidFill>
                <a:srgbClr val="000000"/>
              </a:solidFill>
            </a:endParaRPr>
          </a:p>
        </p:txBody>
      </p:sp>
      <p:pic>
        <p:nvPicPr>
          <p:cNvPr id="269" name="Google Shape;269;p23"/>
          <p:cNvPicPr preferRelativeResize="0"/>
          <p:nvPr/>
        </p:nvPicPr>
        <p:blipFill>
          <a:blip r:embed="rId3">
            <a:alphaModFix/>
          </a:blip>
          <a:stretch>
            <a:fillRect/>
          </a:stretch>
        </p:blipFill>
        <p:spPr>
          <a:xfrm>
            <a:off x="7584575" y="4219925"/>
            <a:ext cx="4273600" cy="2122550"/>
          </a:xfrm>
          <a:prstGeom prst="rect">
            <a:avLst/>
          </a:prstGeom>
          <a:noFill/>
          <a:ln>
            <a:noFill/>
          </a:ln>
        </p:spPr>
      </p:pic>
      <p:pic>
        <p:nvPicPr>
          <p:cNvPr id="270" name="Google Shape;270;p23"/>
          <p:cNvPicPr preferRelativeResize="0"/>
          <p:nvPr/>
        </p:nvPicPr>
        <p:blipFill>
          <a:blip r:embed="rId4">
            <a:alphaModFix/>
          </a:blip>
          <a:stretch>
            <a:fillRect/>
          </a:stretch>
        </p:blipFill>
        <p:spPr>
          <a:xfrm>
            <a:off x="293550" y="2477000"/>
            <a:ext cx="7025026" cy="272046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4"/>
          <p:cNvSpPr txBox="1">
            <a:spLocks noGrp="1"/>
          </p:cNvSpPr>
          <p:nvPr>
            <p:ph type="title"/>
          </p:nvPr>
        </p:nvSpPr>
        <p:spPr>
          <a:xfrm>
            <a:off x="5838825" y="1045077"/>
            <a:ext cx="6057900" cy="11250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2400"/>
              <a:buFont typeface="Arial"/>
              <a:buNone/>
            </a:pPr>
            <a:r>
              <a:rPr lang="ru-RU" sz="2500" b="1"/>
              <a:t>Memory score: not much of a “healthy”</a:t>
            </a:r>
            <a:endParaRPr sz="2500" b="1"/>
          </a:p>
        </p:txBody>
      </p:sp>
      <p:sp>
        <p:nvSpPr>
          <p:cNvPr id="276" name="Google Shape;276;p24"/>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277" name="Google Shape;277;p24"/>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278" name="Google Shape;278;p24"/>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pic>
        <p:nvPicPr>
          <p:cNvPr id="279" name="Google Shape;279;p24"/>
          <p:cNvPicPr preferRelativeResize="0"/>
          <p:nvPr/>
        </p:nvPicPr>
        <p:blipFill>
          <a:blip r:embed="rId3">
            <a:alphaModFix/>
          </a:blip>
          <a:stretch>
            <a:fillRect/>
          </a:stretch>
        </p:blipFill>
        <p:spPr>
          <a:xfrm>
            <a:off x="635125" y="978300"/>
            <a:ext cx="4608251" cy="1820775"/>
          </a:xfrm>
          <a:prstGeom prst="rect">
            <a:avLst/>
          </a:prstGeom>
          <a:noFill/>
          <a:ln>
            <a:noFill/>
          </a:ln>
        </p:spPr>
      </p:pic>
      <p:pic>
        <p:nvPicPr>
          <p:cNvPr id="280" name="Google Shape;280;p24"/>
          <p:cNvPicPr preferRelativeResize="0"/>
          <p:nvPr/>
        </p:nvPicPr>
        <p:blipFill>
          <a:blip r:embed="rId4">
            <a:alphaModFix/>
          </a:blip>
          <a:stretch>
            <a:fillRect/>
          </a:stretch>
        </p:blipFill>
        <p:spPr>
          <a:xfrm>
            <a:off x="396763" y="2820638"/>
            <a:ext cx="4846624" cy="1947346"/>
          </a:xfrm>
          <a:prstGeom prst="rect">
            <a:avLst/>
          </a:prstGeom>
          <a:noFill/>
          <a:ln>
            <a:noFill/>
          </a:ln>
        </p:spPr>
      </p:pic>
      <p:pic>
        <p:nvPicPr>
          <p:cNvPr id="281" name="Google Shape;281;p24"/>
          <p:cNvPicPr preferRelativeResize="0"/>
          <p:nvPr/>
        </p:nvPicPr>
        <p:blipFill>
          <a:blip r:embed="rId5">
            <a:alphaModFix/>
          </a:blip>
          <a:stretch>
            <a:fillRect/>
          </a:stretch>
        </p:blipFill>
        <p:spPr>
          <a:xfrm>
            <a:off x="396778" y="4767981"/>
            <a:ext cx="4846600" cy="1885047"/>
          </a:xfrm>
          <a:prstGeom prst="rect">
            <a:avLst/>
          </a:prstGeom>
          <a:noFill/>
          <a:ln>
            <a:noFill/>
          </a:ln>
        </p:spPr>
      </p:pic>
      <p:sp>
        <p:nvSpPr>
          <p:cNvPr id="282" name="Google Shape;282;p24"/>
          <p:cNvSpPr txBox="1">
            <a:spLocks noGrp="1"/>
          </p:cNvSpPr>
          <p:nvPr>
            <p:ph type="body" idx="1"/>
          </p:nvPr>
        </p:nvSpPr>
        <p:spPr>
          <a:xfrm>
            <a:off x="5838825" y="1536000"/>
            <a:ext cx="5748000" cy="1884900"/>
          </a:xfrm>
          <a:prstGeom prst="rect">
            <a:avLst/>
          </a:prstGeom>
        </p:spPr>
        <p:txBody>
          <a:bodyPr spcFirstLastPara="1" wrap="square" lIns="0" tIns="0" rIns="0" bIns="45700" anchor="t" anchorCtr="0">
            <a:noAutofit/>
          </a:bodyPr>
          <a:lstStyle/>
          <a:p>
            <a:pPr marL="0" lvl="0" indent="0" algn="l" rtl="0">
              <a:spcBef>
                <a:spcPts val="1000"/>
              </a:spcBef>
              <a:spcAft>
                <a:spcPts val="0"/>
              </a:spcAft>
              <a:buNone/>
            </a:pPr>
            <a:r>
              <a:rPr lang="ru-RU" sz="1700">
                <a:solidFill>
                  <a:srgbClr val="000000"/>
                </a:solidFill>
              </a:rPr>
              <a:t>Let’s examine distributions of ‘</a:t>
            </a:r>
            <a:r>
              <a:rPr lang="ru-RU" sz="1700" b="1">
                <a:solidFill>
                  <a:srgbClr val="000000"/>
                </a:solidFill>
              </a:rPr>
              <a:t>Healthy</a:t>
            </a:r>
            <a:r>
              <a:rPr lang="ru-RU" sz="1700">
                <a:solidFill>
                  <a:srgbClr val="000000"/>
                </a:solidFill>
              </a:rPr>
              <a:t>’, ‘</a:t>
            </a:r>
            <a:r>
              <a:rPr lang="ru-RU" sz="1700" b="1">
                <a:solidFill>
                  <a:srgbClr val="000000"/>
                </a:solidFill>
              </a:rPr>
              <a:t>At-Rist</a:t>
            </a:r>
            <a:r>
              <a:rPr lang="ru-RU" sz="1700">
                <a:solidFill>
                  <a:srgbClr val="000000"/>
                </a:solidFill>
              </a:rPr>
              <a:t>’, ‘</a:t>
            </a:r>
            <a:r>
              <a:rPr lang="ru-RU" sz="1700" b="1">
                <a:solidFill>
                  <a:srgbClr val="000000"/>
                </a:solidFill>
              </a:rPr>
              <a:t>Frail</a:t>
            </a:r>
            <a:r>
              <a:rPr lang="ru-RU" sz="1700">
                <a:solidFill>
                  <a:srgbClr val="000000"/>
                </a:solidFill>
              </a:rPr>
              <a:t>’. As we can see there’s a severity in distributions. Especially in ‘</a:t>
            </a:r>
            <a:r>
              <a:rPr lang="ru-RU" sz="1700" b="1">
                <a:solidFill>
                  <a:srgbClr val="000000"/>
                </a:solidFill>
              </a:rPr>
              <a:t>Healthy</a:t>
            </a:r>
            <a:r>
              <a:rPr lang="ru-RU" sz="1700">
                <a:solidFill>
                  <a:srgbClr val="000000"/>
                </a:solidFill>
              </a:rPr>
              <a:t>’ group. However we continued with ANOVA because there’s other evidence of high differences in MS for groups. Also we assumed that was ‘</a:t>
            </a:r>
            <a:r>
              <a:rPr lang="ru-RU" sz="1700" b="1">
                <a:solidFill>
                  <a:srgbClr val="000000"/>
                </a:solidFill>
              </a:rPr>
              <a:t>Healthy</a:t>
            </a:r>
            <a:r>
              <a:rPr lang="ru-RU" sz="1700">
                <a:solidFill>
                  <a:srgbClr val="000000"/>
                </a:solidFill>
              </a:rPr>
              <a:t>’ downsampled with regards to its distribution and its normality</a:t>
            </a:r>
            <a:endParaRPr sz="1700">
              <a:solidFill>
                <a:srgbClr val="000000"/>
              </a:solidFill>
            </a:endParaRPr>
          </a:p>
        </p:txBody>
      </p:sp>
      <p:pic>
        <p:nvPicPr>
          <p:cNvPr id="283" name="Google Shape;283;p24"/>
          <p:cNvPicPr preferRelativeResize="0"/>
          <p:nvPr/>
        </p:nvPicPr>
        <p:blipFill>
          <a:blip r:embed="rId6">
            <a:alphaModFix/>
          </a:blip>
          <a:stretch>
            <a:fillRect/>
          </a:stretch>
        </p:blipFill>
        <p:spPr>
          <a:xfrm>
            <a:off x="5769600" y="3243075"/>
            <a:ext cx="5886450" cy="3409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5"/>
          <p:cNvSpPr txBox="1">
            <a:spLocks noGrp="1"/>
          </p:cNvSpPr>
          <p:nvPr>
            <p:ph type="title"/>
          </p:nvPr>
        </p:nvSpPr>
        <p:spPr>
          <a:xfrm>
            <a:off x="390775" y="1270000"/>
            <a:ext cx="7602900" cy="9174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2400"/>
              <a:buFont typeface="Arial"/>
              <a:buNone/>
            </a:pPr>
            <a:r>
              <a:rPr lang="ru-RU" sz="2900" b="1"/>
              <a:t>Memory score: differences in distributions</a:t>
            </a:r>
            <a:endParaRPr sz="2900" b="1"/>
          </a:p>
        </p:txBody>
      </p:sp>
      <p:sp>
        <p:nvSpPr>
          <p:cNvPr id="289" name="Google Shape;289;p25"/>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290" name="Google Shape;290;p25"/>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291" name="Google Shape;291;p25"/>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pic>
        <p:nvPicPr>
          <p:cNvPr id="292" name="Google Shape;292;p25"/>
          <p:cNvPicPr preferRelativeResize="0"/>
          <p:nvPr/>
        </p:nvPicPr>
        <p:blipFill>
          <a:blip r:embed="rId3">
            <a:alphaModFix/>
          </a:blip>
          <a:stretch>
            <a:fillRect/>
          </a:stretch>
        </p:blipFill>
        <p:spPr>
          <a:xfrm>
            <a:off x="184650" y="1784425"/>
            <a:ext cx="8341026" cy="4838825"/>
          </a:xfrm>
          <a:prstGeom prst="rect">
            <a:avLst/>
          </a:prstGeom>
          <a:noFill/>
          <a:ln>
            <a:noFill/>
          </a:ln>
        </p:spPr>
      </p:pic>
      <p:pic>
        <p:nvPicPr>
          <p:cNvPr id="293" name="Google Shape;293;p25"/>
          <p:cNvPicPr preferRelativeResize="0"/>
          <p:nvPr/>
        </p:nvPicPr>
        <p:blipFill>
          <a:blip r:embed="rId4">
            <a:alphaModFix/>
          </a:blip>
          <a:stretch>
            <a:fillRect/>
          </a:stretch>
        </p:blipFill>
        <p:spPr>
          <a:xfrm>
            <a:off x="8463975" y="1449400"/>
            <a:ext cx="3104825" cy="2533375"/>
          </a:xfrm>
          <a:prstGeom prst="rect">
            <a:avLst/>
          </a:prstGeom>
          <a:noFill/>
          <a:ln>
            <a:noFill/>
          </a:ln>
        </p:spPr>
      </p:pic>
      <p:pic>
        <p:nvPicPr>
          <p:cNvPr id="294" name="Google Shape;294;p25"/>
          <p:cNvPicPr preferRelativeResize="0"/>
          <p:nvPr/>
        </p:nvPicPr>
        <p:blipFill>
          <a:blip r:embed="rId5">
            <a:alphaModFix/>
          </a:blip>
          <a:stretch>
            <a:fillRect/>
          </a:stretch>
        </p:blipFill>
        <p:spPr>
          <a:xfrm>
            <a:off x="8463976" y="4053275"/>
            <a:ext cx="3231769" cy="2499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6"/>
          <p:cNvSpPr txBox="1">
            <a:spLocks noGrp="1"/>
          </p:cNvSpPr>
          <p:nvPr>
            <p:ph type="title"/>
          </p:nvPr>
        </p:nvSpPr>
        <p:spPr>
          <a:xfrm>
            <a:off x="390775" y="1270002"/>
            <a:ext cx="6325500" cy="9174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2400"/>
              <a:buFont typeface="Arial"/>
              <a:buNone/>
            </a:pPr>
            <a:r>
              <a:rPr lang="ru-RU" sz="2900" b="1"/>
              <a:t>Sources of risk: education in years</a:t>
            </a:r>
            <a:endParaRPr sz="2900" b="1"/>
          </a:p>
        </p:txBody>
      </p:sp>
      <p:sp>
        <p:nvSpPr>
          <p:cNvPr id="300" name="Google Shape;300;p26"/>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301" name="Google Shape;301;p26"/>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302" name="Google Shape;302;p26"/>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sp>
        <p:nvSpPr>
          <p:cNvPr id="303" name="Google Shape;303;p26"/>
          <p:cNvSpPr txBox="1">
            <a:spLocks noGrp="1"/>
          </p:cNvSpPr>
          <p:nvPr>
            <p:ph type="body" idx="1"/>
          </p:nvPr>
        </p:nvSpPr>
        <p:spPr>
          <a:xfrm>
            <a:off x="585900" y="1856775"/>
            <a:ext cx="4851900" cy="4359000"/>
          </a:xfrm>
          <a:prstGeom prst="rect">
            <a:avLst/>
          </a:prstGeom>
        </p:spPr>
        <p:txBody>
          <a:bodyPr spcFirstLastPara="1" wrap="square" lIns="0" tIns="0" rIns="0" bIns="45700" anchor="t" anchorCtr="0">
            <a:noAutofit/>
          </a:bodyPr>
          <a:lstStyle/>
          <a:p>
            <a:pPr marL="0" lvl="0" indent="0" algn="l" rtl="0">
              <a:spcBef>
                <a:spcPts val="1000"/>
              </a:spcBef>
              <a:spcAft>
                <a:spcPts val="0"/>
              </a:spcAft>
              <a:buNone/>
            </a:pPr>
            <a:r>
              <a:rPr lang="ru-RU" sz="2500">
                <a:solidFill>
                  <a:srgbClr val="000000"/>
                </a:solidFill>
              </a:rPr>
              <a:t>Parametric test Kruskal-Wallis:</a:t>
            </a:r>
            <a:endParaRPr sz="2500">
              <a:solidFill>
                <a:srgbClr val="000000"/>
              </a:solidFill>
            </a:endParaRPr>
          </a:p>
          <a:p>
            <a:pPr marL="0" lvl="0" indent="0" algn="l" rtl="0">
              <a:spcBef>
                <a:spcPts val="1000"/>
              </a:spcBef>
              <a:spcAft>
                <a:spcPts val="0"/>
              </a:spcAft>
              <a:buNone/>
            </a:pPr>
            <a:endParaRPr sz="2500">
              <a:solidFill>
                <a:srgbClr val="000000"/>
              </a:solidFill>
            </a:endParaRPr>
          </a:p>
        </p:txBody>
      </p:sp>
      <p:pic>
        <p:nvPicPr>
          <p:cNvPr id="304" name="Google Shape;304;p26"/>
          <p:cNvPicPr preferRelativeResize="0"/>
          <p:nvPr/>
        </p:nvPicPr>
        <p:blipFill>
          <a:blip r:embed="rId3">
            <a:alphaModFix/>
          </a:blip>
          <a:stretch>
            <a:fillRect/>
          </a:stretch>
        </p:blipFill>
        <p:spPr>
          <a:xfrm>
            <a:off x="619153" y="2314400"/>
            <a:ext cx="3214975" cy="2002000"/>
          </a:xfrm>
          <a:prstGeom prst="rect">
            <a:avLst/>
          </a:prstGeom>
          <a:noFill/>
          <a:ln>
            <a:noFill/>
          </a:ln>
        </p:spPr>
      </p:pic>
      <p:pic>
        <p:nvPicPr>
          <p:cNvPr id="305" name="Google Shape;305;p26"/>
          <p:cNvPicPr preferRelativeResize="0"/>
          <p:nvPr/>
        </p:nvPicPr>
        <p:blipFill>
          <a:blip r:embed="rId4">
            <a:alphaModFix/>
          </a:blip>
          <a:stretch>
            <a:fillRect/>
          </a:stretch>
        </p:blipFill>
        <p:spPr>
          <a:xfrm>
            <a:off x="619150" y="4316400"/>
            <a:ext cx="3400222" cy="2002000"/>
          </a:xfrm>
          <a:prstGeom prst="rect">
            <a:avLst/>
          </a:prstGeom>
          <a:noFill/>
          <a:ln>
            <a:noFill/>
          </a:ln>
        </p:spPr>
      </p:pic>
      <p:pic>
        <p:nvPicPr>
          <p:cNvPr id="306" name="Google Shape;306;p26"/>
          <p:cNvPicPr preferRelativeResize="0"/>
          <p:nvPr/>
        </p:nvPicPr>
        <p:blipFill>
          <a:blip r:embed="rId5">
            <a:alphaModFix/>
          </a:blip>
          <a:stretch>
            <a:fillRect/>
          </a:stretch>
        </p:blipFill>
        <p:spPr>
          <a:xfrm>
            <a:off x="4926325" y="2187076"/>
            <a:ext cx="7025388" cy="4028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7"/>
          <p:cNvSpPr txBox="1">
            <a:spLocks noGrp="1"/>
          </p:cNvSpPr>
          <p:nvPr>
            <p:ph type="title"/>
          </p:nvPr>
        </p:nvSpPr>
        <p:spPr>
          <a:xfrm>
            <a:off x="390775" y="1270000"/>
            <a:ext cx="9315000" cy="9174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2400"/>
              <a:buFont typeface="Arial"/>
              <a:buNone/>
            </a:pPr>
            <a:r>
              <a:rPr lang="ru-RU" sz="2900" b="1"/>
              <a:t>Sources of risk: number of chronic conditions</a:t>
            </a:r>
            <a:endParaRPr sz="2900" b="1"/>
          </a:p>
        </p:txBody>
      </p:sp>
      <p:sp>
        <p:nvSpPr>
          <p:cNvPr id="312" name="Google Shape;312;p27"/>
          <p:cNvSpPr txBox="1">
            <a:spLocks noGrp="1"/>
          </p:cNvSpPr>
          <p:nvPr>
            <p:ph type="body" idx="3"/>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313" name="Google Shape;313;p27"/>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314" name="Google Shape;314;p27"/>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sp>
        <p:nvSpPr>
          <p:cNvPr id="315" name="Google Shape;315;p27"/>
          <p:cNvSpPr txBox="1">
            <a:spLocks noGrp="1"/>
          </p:cNvSpPr>
          <p:nvPr>
            <p:ph type="body" idx="1"/>
          </p:nvPr>
        </p:nvSpPr>
        <p:spPr>
          <a:xfrm>
            <a:off x="585900" y="1856775"/>
            <a:ext cx="4851900" cy="4359000"/>
          </a:xfrm>
          <a:prstGeom prst="rect">
            <a:avLst/>
          </a:prstGeom>
        </p:spPr>
        <p:txBody>
          <a:bodyPr spcFirstLastPara="1" wrap="square" lIns="0" tIns="0" rIns="0" bIns="45700" anchor="t" anchorCtr="0">
            <a:noAutofit/>
          </a:bodyPr>
          <a:lstStyle/>
          <a:p>
            <a:pPr marL="0" lvl="0" indent="0" algn="l" rtl="0">
              <a:spcBef>
                <a:spcPts val="1000"/>
              </a:spcBef>
              <a:spcAft>
                <a:spcPts val="0"/>
              </a:spcAft>
              <a:buNone/>
            </a:pPr>
            <a:r>
              <a:rPr lang="ru-RU" sz="2500">
                <a:solidFill>
                  <a:srgbClr val="000000"/>
                </a:solidFill>
              </a:rPr>
              <a:t>Parametric test Kruskal-Wallis:</a:t>
            </a:r>
            <a:endParaRPr sz="2500">
              <a:solidFill>
                <a:srgbClr val="000000"/>
              </a:solidFill>
            </a:endParaRPr>
          </a:p>
          <a:p>
            <a:pPr marL="0" lvl="0" indent="0" algn="l" rtl="0">
              <a:spcBef>
                <a:spcPts val="1000"/>
              </a:spcBef>
              <a:spcAft>
                <a:spcPts val="0"/>
              </a:spcAft>
              <a:buNone/>
            </a:pPr>
            <a:endParaRPr sz="2500">
              <a:solidFill>
                <a:srgbClr val="000000"/>
              </a:solidFill>
            </a:endParaRPr>
          </a:p>
        </p:txBody>
      </p:sp>
      <p:pic>
        <p:nvPicPr>
          <p:cNvPr id="316" name="Google Shape;316;p27"/>
          <p:cNvPicPr preferRelativeResize="0"/>
          <p:nvPr/>
        </p:nvPicPr>
        <p:blipFill>
          <a:blip r:embed="rId3">
            <a:alphaModFix/>
          </a:blip>
          <a:stretch>
            <a:fillRect/>
          </a:stretch>
        </p:blipFill>
        <p:spPr>
          <a:xfrm>
            <a:off x="4858975" y="2187400"/>
            <a:ext cx="7168576" cy="4162200"/>
          </a:xfrm>
          <a:prstGeom prst="rect">
            <a:avLst/>
          </a:prstGeom>
          <a:noFill/>
          <a:ln>
            <a:noFill/>
          </a:ln>
        </p:spPr>
      </p:pic>
      <p:pic>
        <p:nvPicPr>
          <p:cNvPr id="317" name="Google Shape;317;p27"/>
          <p:cNvPicPr preferRelativeResize="0"/>
          <p:nvPr/>
        </p:nvPicPr>
        <p:blipFill>
          <a:blip r:embed="rId4">
            <a:alphaModFix/>
          </a:blip>
          <a:stretch>
            <a:fillRect/>
          </a:stretch>
        </p:blipFill>
        <p:spPr>
          <a:xfrm>
            <a:off x="696925" y="2366752"/>
            <a:ext cx="3013213" cy="1805712"/>
          </a:xfrm>
          <a:prstGeom prst="rect">
            <a:avLst/>
          </a:prstGeom>
          <a:noFill/>
          <a:ln>
            <a:noFill/>
          </a:ln>
        </p:spPr>
      </p:pic>
      <p:pic>
        <p:nvPicPr>
          <p:cNvPr id="318" name="Google Shape;318;p27"/>
          <p:cNvPicPr preferRelativeResize="0"/>
          <p:nvPr/>
        </p:nvPicPr>
        <p:blipFill>
          <a:blip r:embed="rId5">
            <a:alphaModFix/>
          </a:blip>
          <a:stretch>
            <a:fillRect/>
          </a:stretch>
        </p:blipFill>
        <p:spPr>
          <a:xfrm>
            <a:off x="585902" y="4172477"/>
            <a:ext cx="3533441" cy="2043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8"/>
          <p:cNvSpPr txBox="1">
            <a:spLocks noGrp="1"/>
          </p:cNvSpPr>
          <p:nvPr>
            <p:ph type="title"/>
          </p:nvPr>
        </p:nvSpPr>
        <p:spPr>
          <a:xfrm>
            <a:off x="585898" y="1447790"/>
            <a:ext cx="5245500" cy="7770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ru-RU"/>
              <a:t>Limitations</a:t>
            </a:r>
            <a:endParaRPr/>
          </a:p>
        </p:txBody>
      </p:sp>
      <p:sp>
        <p:nvSpPr>
          <p:cNvPr id="325" name="Google Shape;325;p28"/>
          <p:cNvSpPr txBox="1">
            <a:spLocks noGrp="1"/>
          </p:cNvSpPr>
          <p:nvPr>
            <p:ph type="body" idx="1"/>
          </p:nvPr>
        </p:nvSpPr>
        <p:spPr>
          <a:xfrm>
            <a:off x="585900" y="2062450"/>
            <a:ext cx="10549500" cy="4211400"/>
          </a:xfrm>
          <a:prstGeom prst="rect">
            <a:avLst/>
          </a:prstGeom>
        </p:spPr>
        <p:txBody>
          <a:bodyPr spcFirstLastPara="1" wrap="square" lIns="0" tIns="0" rIns="0" bIns="45700" anchor="t" anchorCtr="0">
            <a:normAutofit/>
          </a:bodyPr>
          <a:lstStyle/>
          <a:p>
            <a:pPr marL="0" lvl="0" indent="0" algn="l" rtl="0">
              <a:spcBef>
                <a:spcPts val="1000"/>
              </a:spcBef>
              <a:spcAft>
                <a:spcPts val="0"/>
              </a:spcAft>
              <a:buNone/>
            </a:pPr>
            <a:endParaRPr dirty="0"/>
          </a:p>
          <a:p>
            <a:pPr marL="457200" lvl="0" indent="-317500" algn="l" rtl="0">
              <a:spcBef>
                <a:spcPts val="1000"/>
              </a:spcBef>
              <a:spcAft>
                <a:spcPts val="0"/>
              </a:spcAft>
              <a:buSzPts val="1400"/>
              <a:buChar char="●"/>
            </a:pPr>
            <a:r>
              <a:rPr lang="ru-RU" sz="1400" dirty="0" err="1"/>
              <a:t>Undersampling</a:t>
            </a:r>
            <a:r>
              <a:rPr lang="ru-RU" sz="1400" dirty="0"/>
              <a:t> </a:t>
            </a:r>
            <a:r>
              <a:rPr lang="ru-RU" sz="1400" dirty="0" err="1"/>
              <a:t>the</a:t>
            </a:r>
            <a:r>
              <a:rPr lang="ru-RU" sz="1400" dirty="0"/>
              <a:t> </a:t>
            </a:r>
            <a:r>
              <a:rPr lang="ru-RU" sz="1400" dirty="0" err="1"/>
              <a:t>Healthy</a:t>
            </a:r>
            <a:r>
              <a:rPr lang="ru-RU" sz="1400" dirty="0"/>
              <a:t> </a:t>
            </a:r>
            <a:r>
              <a:rPr lang="ru-RU" sz="1400" dirty="0" err="1"/>
              <a:t>class</a:t>
            </a:r>
            <a:r>
              <a:rPr lang="ru-RU" sz="1400" dirty="0"/>
              <a:t>: </a:t>
            </a:r>
            <a:r>
              <a:rPr lang="ru-RU" sz="1400" dirty="0" err="1"/>
              <a:t>Artificially</a:t>
            </a:r>
            <a:r>
              <a:rPr lang="ru-RU" sz="1400" dirty="0"/>
              <a:t> </a:t>
            </a:r>
            <a:r>
              <a:rPr lang="ru-RU" sz="1400" dirty="0" err="1"/>
              <a:t>pruning</a:t>
            </a:r>
            <a:r>
              <a:rPr lang="ru-RU" sz="1400" dirty="0"/>
              <a:t> </a:t>
            </a:r>
            <a:r>
              <a:rPr lang="ru-RU" sz="1400" dirty="0" err="1"/>
              <a:t>the</a:t>
            </a:r>
            <a:r>
              <a:rPr lang="ru-RU" sz="1400" dirty="0"/>
              <a:t> </a:t>
            </a:r>
            <a:r>
              <a:rPr lang="ru-RU" sz="1400" dirty="0" err="1"/>
              <a:t>records</a:t>
            </a:r>
            <a:r>
              <a:rPr lang="ru-RU" sz="1400" dirty="0"/>
              <a:t> </a:t>
            </a:r>
            <a:r>
              <a:rPr lang="ru-RU" sz="1400" dirty="0" err="1"/>
              <a:t>compressed</a:t>
            </a:r>
            <a:r>
              <a:rPr lang="ru-RU" sz="1400" dirty="0"/>
              <a:t> </a:t>
            </a:r>
            <a:r>
              <a:rPr lang="ru-RU" sz="1400" dirty="0" err="1"/>
              <a:t>the</a:t>
            </a:r>
            <a:r>
              <a:rPr lang="ru-RU" sz="1400" dirty="0"/>
              <a:t> </a:t>
            </a:r>
            <a:r>
              <a:rPr lang="ru-RU" sz="1400" dirty="0" err="1"/>
              <a:t>distributions</a:t>
            </a:r>
            <a:r>
              <a:rPr lang="ru-RU" sz="1400" dirty="0"/>
              <a:t> (</a:t>
            </a:r>
            <a:r>
              <a:rPr lang="ru-RU" sz="1400" dirty="0" err="1"/>
              <a:t>short</a:t>
            </a:r>
            <a:r>
              <a:rPr lang="ru-RU" sz="1400" dirty="0"/>
              <a:t> </a:t>
            </a:r>
            <a:r>
              <a:rPr lang="ru-RU" sz="1400" dirty="0" err="1"/>
              <a:t>boxes</a:t>
            </a:r>
            <a:r>
              <a:rPr lang="ru-RU" sz="1400" dirty="0"/>
              <a:t>, </a:t>
            </a:r>
            <a:r>
              <a:rPr lang="ru-RU" sz="1400" dirty="0" err="1"/>
              <a:t>waves</a:t>
            </a:r>
            <a:r>
              <a:rPr lang="ru-RU" sz="1400" dirty="0"/>
              <a:t> </a:t>
            </a:r>
            <a:r>
              <a:rPr lang="ru-RU" sz="1400" dirty="0" err="1"/>
              <a:t>in</a:t>
            </a:r>
            <a:r>
              <a:rPr lang="ru-RU" sz="1400" dirty="0"/>
              <a:t> </a:t>
            </a:r>
            <a:r>
              <a:rPr lang="ru-RU" sz="1400" dirty="0" err="1"/>
              <a:t>memory</a:t>
            </a:r>
            <a:r>
              <a:rPr lang="ru-RU" sz="1400" dirty="0"/>
              <a:t> </a:t>
            </a:r>
            <a:r>
              <a:rPr lang="ru-RU" sz="1400" dirty="0" err="1"/>
              <a:t>score</a:t>
            </a:r>
            <a:r>
              <a:rPr lang="ru-RU" sz="1400" dirty="0"/>
              <a:t>), </a:t>
            </a:r>
            <a:r>
              <a:rPr lang="ru-RU" sz="1400" dirty="0" err="1"/>
              <a:t>causing</a:t>
            </a:r>
            <a:r>
              <a:rPr lang="ru-RU" sz="1400" dirty="0"/>
              <a:t> </a:t>
            </a:r>
            <a:r>
              <a:rPr lang="ru-RU" sz="1400" dirty="0" err="1"/>
              <a:t>bias</a:t>
            </a:r>
            <a:r>
              <a:rPr lang="ru-RU" sz="1400" dirty="0"/>
              <a:t> </a:t>
            </a:r>
            <a:r>
              <a:rPr lang="ru-RU" sz="1400" dirty="0" err="1"/>
              <a:t>in</a:t>
            </a:r>
            <a:r>
              <a:rPr lang="ru-RU" sz="1400" dirty="0"/>
              <a:t> ANOVA</a:t>
            </a:r>
          </a:p>
          <a:p>
            <a:pPr marL="457200" lvl="0" indent="-317500" algn="l" rtl="0">
              <a:spcBef>
                <a:spcPts val="1000"/>
              </a:spcBef>
              <a:spcAft>
                <a:spcPts val="0"/>
              </a:spcAft>
              <a:buSzPts val="1400"/>
              <a:buChar char="●"/>
            </a:pPr>
            <a:r>
              <a:rPr lang="en-US" sz="1400" dirty="0"/>
              <a:t>Model overfitting: </a:t>
            </a:r>
            <a:r>
              <a:rPr lang="en-US" sz="1400" dirty="0" err="1"/>
              <a:t>CatBoost</a:t>
            </a:r>
            <a:r>
              <a:rPr lang="en-US" sz="1400" dirty="0"/>
              <a:t> explains almost all the variance in the training data, but does not transfer well without data augmentation</a:t>
            </a:r>
            <a:endParaRPr sz="1700" dirty="0"/>
          </a:p>
          <a:p>
            <a:pPr marL="0" lvl="0" indent="0" algn="l" rtl="0">
              <a:spcBef>
                <a:spcPts val="1000"/>
              </a:spcBef>
              <a:spcAft>
                <a:spcPts val="0"/>
              </a:spcAft>
              <a:buNone/>
            </a:pPr>
            <a:endParaRPr lang="ru-RU" sz="1700" dirty="0"/>
          </a:p>
          <a:p>
            <a:pPr marL="0" lvl="0" indent="0" algn="l" rtl="0">
              <a:spcBef>
                <a:spcPts val="1000"/>
              </a:spcBef>
              <a:spcAft>
                <a:spcPts val="0"/>
              </a:spcAft>
              <a:buNone/>
            </a:pPr>
            <a:r>
              <a:rPr lang="ru-RU" sz="1700" dirty="0"/>
              <a:t>What </a:t>
            </a:r>
            <a:r>
              <a:rPr lang="ru-RU" sz="1700" dirty="0" err="1"/>
              <a:t>to</a:t>
            </a:r>
            <a:r>
              <a:rPr lang="ru-RU" sz="1700" dirty="0"/>
              <a:t> </a:t>
            </a:r>
            <a:r>
              <a:rPr lang="ru-RU" sz="1700" dirty="0" err="1"/>
              <a:t>do</a:t>
            </a:r>
            <a:r>
              <a:rPr lang="ru-RU" sz="1700" dirty="0"/>
              <a:t> </a:t>
            </a:r>
            <a:r>
              <a:rPr lang="ru-RU" sz="1700" dirty="0" err="1"/>
              <a:t>in</a:t>
            </a:r>
            <a:r>
              <a:rPr lang="ru-RU" sz="1700" dirty="0"/>
              <a:t> </a:t>
            </a:r>
            <a:r>
              <a:rPr lang="ru-RU" sz="1700" dirty="0" err="1"/>
              <a:t>the</a:t>
            </a:r>
            <a:r>
              <a:rPr lang="ru-RU" sz="1700" dirty="0"/>
              <a:t> </a:t>
            </a:r>
            <a:r>
              <a:rPr lang="ru-RU" sz="1700" dirty="0" err="1"/>
              <a:t>future</a:t>
            </a:r>
            <a:r>
              <a:rPr lang="ru-RU" sz="1700" dirty="0"/>
              <a:t>?</a:t>
            </a:r>
            <a:endParaRPr sz="1700" dirty="0"/>
          </a:p>
          <a:p>
            <a:pPr marL="0" lvl="0" indent="0" algn="l" rtl="0">
              <a:spcBef>
                <a:spcPts val="1000"/>
              </a:spcBef>
              <a:spcAft>
                <a:spcPts val="0"/>
              </a:spcAft>
              <a:buNone/>
            </a:pPr>
            <a:r>
              <a:rPr lang="ru-RU" dirty="0"/>
              <a:t>Anti-</a:t>
            </a:r>
            <a:r>
              <a:rPr lang="ru-RU" dirty="0" err="1"/>
              <a:t>overfitting</a:t>
            </a:r>
            <a:r>
              <a:rPr lang="ru-RU" dirty="0"/>
              <a:t>: K-</a:t>
            </a:r>
            <a:r>
              <a:rPr lang="ru-RU" dirty="0" err="1"/>
              <a:t>fold</a:t>
            </a:r>
            <a:r>
              <a:rPr lang="ru-RU" dirty="0"/>
              <a:t> CV, </a:t>
            </a:r>
            <a:r>
              <a:rPr lang="ru-RU" dirty="0" err="1"/>
              <a:t>early</a:t>
            </a:r>
            <a:r>
              <a:rPr lang="ru-RU" dirty="0"/>
              <a:t> </a:t>
            </a:r>
            <a:r>
              <a:rPr lang="ru-RU" dirty="0" err="1"/>
              <a:t>stopping</a:t>
            </a:r>
            <a:r>
              <a:rPr lang="ru-RU" dirty="0"/>
              <a:t> </a:t>
            </a:r>
            <a:r>
              <a:rPr lang="ru-RU" dirty="0" err="1"/>
              <a:t>in</a:t>
            </a:r>
            <a:r>
              <a:rPr lang="ru-RU" dirty="0"/>
              <a:t> </a:t>
            </a:r>
            <a:r>
              <a:rPr lang="ru-RU" dirty="0" err="1"/>
              <a:t>CatBoost</a:t>
            </a:r>
            <a:r>
              <a:rPr lang="ru-RU" dirty="0"/>
              <a:t>, </a:t>
            </a:r>
            <a:r>
              <a:rPr lang="ru-RU" dirty="0" err="1"/>
              <a:t>dropout</a:t>
            </a:r>
            <a:r>
              <a:rPr lang="ru-RU" dirty="0"/>
              <a:t>; </a:t>
            </a:r>
            <a:r>
              <a:rPr lang="ru-RU" dirty="0" err="1"/>
              <a:t>Add</a:t>
            </a:r>
            <a:r>
              <a:rPr lang="ru-RU" dirty="0"/>
              <a:t> </a:t>
            </a:r>
            <a:r>
              <a:rPr lang="ru-RU" dirty="0" err="1"/>
              <a:t>real</a:t>
            </a:r>
            <a:r>
              <a:rPr lang="ru-RU" dirty="0"/>
              <a:t> </a:t>
            </a:r>
            <a:r>
              <a:rPr lang="ru-RU" dirty="0" err="1"/>
              <a:t>data</a:t>
            </a:r>
            <a:r>
              <a:rPr lang="ru-RU" dirty="0"/>
              <a:t> (NHANES).</a:t>
            </a:r>
            <a:endParaRPr dirty="0"/>
          </a:p>
          <a:p>
            <a:pPr marL="0" lvl="0" indent="0" algn="l" rtl="0">
              <a:spcBef>
                <a:spcPts val="1000"/>
              </a:spcBef>
              <a:spcAft>
                <a:spcPts val="0"/>
              </a:spcAft>
              <a:buNone/>
            </a:pPr>
            <a:r>
              <a:rPr lang="ru-RU" dirty="0" err="1"/>
              <a:t>Validation</a:t>
            </a:r>
            <a:r>
              <a:rPr lang="ru-RU" dirty="0"/>
              <a:t>: </a:t>
            </a:r>
            <a:r>
              <a:rPr lang="ru-RU" dirty="0" err="1"/>
              <a:t>External</a:t>
            </a:r>
            <a:r>
              <a:rPr lang="ru-RU" dirty="0"/>
              <a:t> </a:t>
            </a:r>
            <a:r>
              <a:rPr lang="ru-RU" dirty="0" err="1"/>
              <a:t>test</a:t>
            </a:r>
            <a:r>
              <a:rPr lang="ru-RU" dirty="0"/>
              <a:t> </a:t>
            </a:r>
            <a:r>
              <a:rPr lang="ru-RU" dirty="0" err="1"/>
              <a:t>set</a:t>
            </a:r>
            <a:r>
              <a:rPr lang="ru-RU" dirty="0"/>
              <a:t> </a:t>
            </a:r>
            <a:r>
              <a:rPr lang="ru-RU" dirty="0" err="1"/>
              <a:t>from</a:t>
            </a:r>
            <a:r>
              <a:rPr lang="ru-RU" dirty="0"/>
              <a:t> </a:t>
            </a:r>
            <a:r>
              <a:rPr lang="ru-RU" dirty="0" err="1"/>
              <a:t>real</a:t>
            </a:r>
            <a:r>
              <a:rPr lang="ru-RU" dirty="0"/>
              <a:t> </a:t>
            </a:r>
            <a:r>
              <a:rPr lang="ru-RU" dirty="0" err="1"/>
              <a:t>sources</a:t>
            </a:r>
            <a:r>
              <a:rPr lang="ru-RU" dirty="0"/>
              <a:t>; SHAP </a:t>
            </a:r>
            <a:r>
              <a:rPr lang="ru-RU" dirty="0" err="1"/>
              <a:t>for</a:t>
            </a:r>
            <a:r>
              <a:rPr lang="ru-RU" dirty="0"/>
              <a:t> </a:t>
            </a:r>
            <a:r>
              <a:rPr lang="ru-RU" dirty="0" err="1"/>
              <a:t>causal</a:t>
            </a:r>
            <a:r>
              <a:rPr lang="ru-RU" dirty="0"/>
              <a:t> </a:t>
            </a:r>
            <a:r>
              <a:rPr lang="ru-RU" dirty="0" err="1"/>
              <a:t>insights</a:t>
            </a:r>
            <a:r>
              <a:rPr lang="ru-RU" dirty="0"/>
              <a:t>.</a:t>
            </a:r>
            <a:endParaRPr dirty="0"/>
          </a:p>
        </p:txBody>
      </p:sp>
      <p:sp>
        <p:nvSpPr>
          <p:cNvPr id="326" name="Google Shape;326;p28"/>
          <p:cNvSpPr txBox="1">
            <a:spLocks noGrp="1"/>
          </p:cNvSpPr>
          <p:nvPr>
            <p:ph type="body" idx="5"/>
          </p:nvPr>
        </p:nvSpPr>
        <p:spPr>
          <a:xfrm>
            <a:off x="6259892" y="548720"/>
            <a:ext cx="2070000" cy="408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ru-RU"/>
              <a:t>13 December 2025</a:t>
            </a:r>
            <a:endParaRPr/>
          </a:p>
        </p:txBody>
      </p:sp>
      <p:sp>
        <p:nvSpPr>
          <p:cNvPr id="327" name="Google Shape;327;p28"/>
          <p:cNvSpPr txBox="1">
            <a:spLocks noGrp="1"/>
          </p:cNvSpPr>
          <p:nvPr>
            <p:ph type="body" idx="3"/>
          </p:nvPr>
        </p:nvSpPr>
        <p:spPr>
          <a:xfrm>
            <a:off x="1169364" y="544829"/>
            <a:ext cx="1901700" cy="41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0"/>
              </a:spcBef>
              <a:spcAft>
                <a:spcPts val="0"/>
              </a:spcAft>
              <a:buNone/>
            </a:pPr>
            <a:endParaRPr sz="1100">
              <a:solidFill>
                <a:srgbClr val="0F2C68"/>
              </a:solidFill>
            </a:endParaRPr>
          </a:p>
          <a:p>
            <a:pPr marL="0" lvl="0" indent="0" algn="l" rtl="0">
              <a:spcBef>
                <a:spcPts val="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328" name="Google Shape;328;p28"/>
          <p:cNvSpPr txBox="1"/>
          <p:nvPr/>
        </p:nvSpPr>
        <p:spPr>
          <a:xfrm>
            <a:off x="3287737" y="573775"/>
            <a:ext cx="2286900" cy="35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100">
                <a:solidFill>
                  <a:srgbClr val="0E2D69"/>
                </a:solidFill>
              </a:rPr>
              <a:t>Data analysis and mining</a:t>
            </a:r>
            <a:endParaRPr sz="1100">
              <a:solidFill>
                <a:srgbClr val="0E2D6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29"/>
          <p:cNvSpPr txBox="1">
            <a:spLocks noGrp="1"/>
          </p:cNvSpPr>
          <p:nvPr>
            <p:ph type="body" idx="1"/>
          </p:nvPr>
        </p:nvSpPr>
        <p:spPr>
          <a:xfrm>
            <a:off x="585787" y="1447065"/>
            <a:ext cx="11058065" cy="30777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E2D69"/>
              </a:buClr>
              <a:buSzPts val="1600"/>
              <a:buNone/>
            </a:pPr>
            <a:r>
              <a:rPr lang="ru-RU" sz="2400"/>
              <a:t>Conclusion                                                           </a:t>
            </a:r>
            <a:endParaRPr sz="2400"/>
          </a:p>
        </p:txBody>
      </p:sp>
      <p:sp>
        <p:nvSpPr>
          <p:cNvPr id="334" name="Google Shape;334;p29"/>
          <p:cNvSpPr txBox="1">
            <a:spLocks noGrp="1"/>
          </p:cNvSpPr>
          <p:nvPr>
            <p:ph type="body" idx="2"/>
          </p:nvPr>
        </p:nvSpPr>
        <p:spPr>
          <a:xfrm>
            <a:off x="1143689" y="540904"/>
            <a:ext cx="1901700" cy="415800"/>
          </a:xfrm>
          <a:prstGeom prst="rect">
            <a:avLst/>
          </a:prstGeom>
          <a:noFill/>
          <a:ln>
            <a:noFill/>
          </a:ln>
        </p:spPr>
        <p:txBody>
          <a:bodyPr spcFirstLastPara="1" wrap="square" lIns="0" tIns="0" rIns="0" bIns="0" anchor="t" anchorCtr="0">
            <a:noAutofit/>
          </a:bodyPr>
          <a:lstStyle/>
          <a:p>
            <a:pPr marL="0" lvl="0" indent="0" algn="l" rtl="0">
              <a:spcBef>
                <a:spcPts val="600"/>
              </a:spcBef>
              <a:spcAft>
                <a:spcPts val="0"/>
              </a:spcAft>
              <a:buNone/>
            </a:pPr>
            <a:r>
              <a:rPr lang="ru-RU" sz="1100">
                <a:solidFill>
                  <a:srgbClr val="0F2C68"/>
                </a:solidFill>
              </a:rPr>
              <a:t>National Research University Higher School of Economics</a:t>
            </a:r>
            <a:endParaRPr sz="1100">
              <a:solidFill>
                <a:srgbClr val="0F2C68"/>
              </a:solidFill>
            </a:endParaRPr>
          </a:p>
          <a:p>
            <a:pPr marL="0" lvl="0" indent="0" algn="l" rtl="0">
              <a:spcBef>
                <a:spcPts val="600"/>
              </a:spcBef>
              <a:spcAft>
                <a:spcPts val="0"/>
              </a:spcAft>
              <a:buNone/>
            </a:pPr>
            <a:endParaRPr sz="1100">
              <a:solidFill>
                <a:srgbClr val="0F2C68"/>
              </a:solidFill>
            </a:endParaRPr>
          </a:p>
          <a:p>
            <a:pPr marL="0" lvl="0" indent="0" algn="l" rtl="0">
              <a:spcBef>
                <a:spcPts val="600"/>
              </a:spcBef>
              <a:spcAft>
                <a:spcPts val="0"/>
              </a:spcAft>
              <a:buClr>
                <a:schemeClr val="dk1"/>
              </a:buClr>
              <a:buSzPts val="1600"/>
              <a:buFont typeface="Arial"/>
              <a:buNone/>
            </a:pPr>
            <a:endParaRPr sz="1100">
              <a:solidFill>
                <a:srgbClr val="000000"/>
              </a:solidFill>
            </a:endParaRPr>
          </a:p>
          <a:p>
            <a:pPr marL="0" marR="0" lvl="0" indent="0" algn="l" rtl="0">
              <a:lnSpc>
                <a:spcPct val="100000"/>
              </a:lnSpc>
              <a:spcBef>
                <a:spcPts val="0"/>
              </a:spcBef>
              <a:spcAft>
                <a:spcPts val="0"/>
              </a:spcAft>
              <a:buClr>
                <a:schemeClr val="dk1"/>
              </a:buClr>
              <a:buSzPts val="1000"/>
              <a:buFont typeface="Arial"/>
              <a:buNone/>
            </a:pPr>
            <a:endParaRPr sz="700"/>
          </a:p>
        </p:txBody>
      </p:sp>
      <p:sp>
        <p:nvSpPr>
          <p:cNvPr id="335" name="Google Shape;335;p29"/>
          <p:cNvSpPr txBox="1">
            <a:spLocks noGrp="1"/>
          </p:cNvSpPr>
          <p:nvPr>
            <p:ph type="body" idx="4"/>
          </p:nvPr>
        </p:nvSpPr>
        <p:spPr>
          <a:xfrm>
            <a:off x="3459163" y="548720"/>
            <a:ext cx="2070000" cy="40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E2D69"/>
              </a:buClr>
              <a:buSzPts val="1200"/>
              <a:buFont typeface="Arial"/>
              <a:buNone/>
            </a:pPr>
            <a:r>
              <a:rPr lang="ru-RU" sz="1100"/>
              <a:t>Data analysis and mining</a:t>
            </a:r>
            <a:endParaRPr sz="1100"/>
          </a:p>
          <a:p>
            <a:pPr marL="0" lvl="0" indent="0" algn="l" rtl="0">
              <a:spcBef>
                <a:spcPts val="0"/>
              </a:spcBef>
              <a:spcAft>
                <a:spcPts val="0"/>
              </a:spcAft>
              <a:buClr>
                <a:srgbClr val="0E2D69"/>
              </a:buClr>
              <a:buSzPts val="1200"/>
              <a:buFont typeface="Arial"/>
              <a:buNone/>
            </a:pPr>
            <a:endParaRPr sz="1100"/>
          </a:p>
          <a:p>
            <a:pPr marL="0" lvl="0" indent="0" algn="l" rtl="0">
              <a:lnSpc>
                <a:spcPct val="100000"/>
              </a:lnSpc>
              <a:spcBef>
                <a:spcPts val="0"/>
              </a:spcBef>
              <a:spcAft>
                <a:spcPts val="0"/>
              </a:spcAft>
              <a:buClr>
                <a:srgbClr val="0E2D69"/>
              </a:buClr>
              <a:buSzPts val="1000"/>
              <a:buNone/>
            </a:pPr>
            <a:endParaRPr sz="1100"/>
          </a:p>
        </p:txBody>
      </p:sp>
      <p:sp>
        <p:nvSpPr>
          <p:cNvPr id="336" name="Google Shape;336;p29"/>
          <p:cNvSpPr txBox="1">
            <a:spLocks noGrp="1"/>
          </p:cNvSpPr>
          <p:nvPr>
            <p:ph type="body" idx="4"/>
          </p:nvPr>
        </p:nvSpPr>
        <p:spPr>
          <a:xfrm>
            <a:off x="6174850" y="612901"/>
            <a:ext cx="2217600" cy="367500"/>
          </a:xfrm>
          <a:prstGeom prst="rect">
            <a:avLst/>
          </a:prstGeom>
          <a:noFill/>
          <a:ln>
            <a:noFill/>
          </a:ln>
        </p:spPr>
        <p:txBody>
          <a:bodyPr spcFirstLastPara="1" wrap="square" lIns="0" tIns="0" rIns="0" bIns="0" anchor="t" anchorCtr="0">
            <a:normAutofit/>
          </a:bodyPr>
          <a:lstStyle/>
          <a:p>
            <a:pPr marL="0" lvl="0" indent="0" algn="l" rtl="0">
              <a:lnSpc>
                <a:spcPct val="70000"/>
              </a:lnSpc>
              <a:spcBef>
                <a:spcPts val="0"/>
              </a:spcBef>
              <a:spcAft>
                <a:spcPts val="0"/>
              </a:spcAft>
              <a:buSzPts val="935"/>
              <a:buNone/>
            </a:pPr>
            <a:r>
              <a:rPr lang="ru-RU" sz="1160">
                <a:solidFill>
                  <a:srgbClr val="0F2C68"/>
                </a:solidFill>
              </a:rPr>
              <a:t>13 December 2025</a:t>
            </a:r>
            <a:endParaRPr sz="1160">
              <a:solidFill>
                <a:srgbClr val="0F2C68"/>
              </a:solidFill>
            </a:endParaRPr>
          </a:p>
          <a:p>
            <a:pPr marL="0" lvl="0" indent="0" algn="l" rtl="0">
              <a:lnSpc>
                <a:spcPct val="70000"/>
              </a:lnSpc>
              <a:spcBef>
                <a:spcPts val="0"/>
              </a:spcBef>
              <a:spcAft>
                <a:spcPts val="0"/>
              </a:spcAft>
              <a:buSzPts val="935"/>
              <a:buNone/>
            </a:pPr>
            <a:endParaRPr sz="1160">
              <a:solidFill>
                <a:srgbClr val="0F2C68"/>
              </a:solidFill>
            </a:endParaRPr>
          </a:p>
          <a:p>
            <a:pPr marL="0" marR="0" lvl="0" indent="0" algn="l" rtl="0">
              <a:lnSpc>
                <a:spcPct val="70000"/>
              </a:lnSpc>
              <a:spcBef>
                <a:spcPts val="0"/>
              </a:spcBef>
              <a:spcAft>
                <a:spcPts val="0"/>
              </a:spcAft>
              <a:buClr>
                <a:srgbClr val="0E2D69"/>
              </a:buClr>
              <a:buSzPts val="1020"/>
              <a:buFont typeface="Arial"/>
              <a:buNone/>
            </a:pPr>
            <a:endParaRPr sz="650"/>
          </a:p>
        </p:txBody>
      </p:sp>
      <p:sp>
        <p:nvSpPr>
          <p:cNvPr id="337" name="Google Shape;337;p29"/>
          <p:cNvSpPr txBox="1">
            <a:spLocks noGrp="1"/>
          </p:cNvSpPr>
          <p:nvPr>
            <p:ph type="body" idx="1"/>
          </p:nvPr>
        </p:nvSpPr>
        <p:spPr>
          <a:xfrm>
            <a:off x="585775" y="2006225"/>
            <a:ext cx="10976700" cy="4267500"/>
          </a:xfrm>
          <a:prstGeom prst="rect">
            <a:avLst/>
          </a:prstGeom>
        </p:spPr>
        <p:txBody>
          <a:bodyPr spcFirstLastPara="1" wrap="square" lIns="0" tIns="0" rIns="0" bIns="0" anchor="t" anchorCtr="0">
            <a:noAutofit/>
          </a:bodyPr>
          <a:lstStyle/>
          <a:p>
            <a:pPr marL="0" lvl="0" indent="0" algn="l" rtl="0">
              <a:spcBef>
                <a:spcPts val="1000"/>
              </a:spcBef>
              <a:spcAft>
                <a:spcPts val="0"/>
              </a:spcAft>
              <a:buNone/>
            </a:pPr>
            <a:r>
              <a:rPr lang="ru-RU" sz="2000" b="1">
                <a:solidFill>
                  <a:srgbClr val="000000"/>
                </a:solidFill>
              </a:rPr>
              <a:t>CatBoostClassifier </a:t>
            </a:r>
            <a:r>
              <a:rPr lang="ru-RU" sz="2000">
                <a:solidFill>
                  <a:srgbClr val="000000"/>
                </a:solidFill>
              </a:rPr>
              <a:t>identified </a:t>
            </a:r>
            <a:r>
              <a:rPr lang="ru-RU" sz="2000" b="1">
                <a:solidFill>
                  <a:srgbClr val="000000"/>
                </a:solidFill>
              </a:rPr>
              <a:t>memory_score</a:t>
            </a:r>
            <a:r>
              <a:rPr lang="ru-RU" sz="2000">
                <a:solidFill>
                  <a:srgbClr val="000000"/>
                </a:solidFill>
              </a:rPr>
              <a:t>, </a:t>
            </a:r>
            <a:r>
              <a:rPr lang="ru-RU" sz="2000" b="1">
                <a:solidFill>
                  <a:srgbClr val="000000"/>
                </a:solidFill>
              </a:rPr>
              <a:t>education_years</a:t>
            </a:r>
            <a:r>
              <a:rPr lang="ru-RU" sz="2000">
                <a:solidFill>
                  <a:srgbClr val="000000"/>
                </a:solidFill>
              </a:rPr>
              <a:t>, </a:t>
            </a:r>
            <a:r>
              <a:rPr lang="ru-RU" sz="2000" b="1">
                <a:solidFill>
                  <a:srgbClr val="000000"/>
                </a:solidFill>
              </a:rPr>
              <a:t>chronic_conditions</a:t>
            </a:r>
            <a:r>
              <a:rPr lang="ru-RU" sz="2000">
                <a:solidFill>
                  <a:srgbClr val="000000"/>
                </a:solidFill>
              </a:rPr>
              <a:t>, and </a:t>
            </a:r>
            <a:r>
              <a:rPr lang="ru-RU" sz="2000" b="1">
                <a:solidFill>
                  <a:srgbClr val="000000"/>
                </a:solidFill>
              </a:rPr>
              <a:t>physical_activity </a:t>
            </a:r>
            <a:r>
              <a:rPr lang="ru-RU" sz="2000">
                <a:solidFill>
                  <a:srgbClr val="000000"/>
                </a:solidFill>
              </a:rPr>
              <a:t>as the most important predictive factors for aging outcomes, while gender and </a:t>
            </a:r>
            <a:r>
              <a:rPr lang="ru-RU" sz="2000" b="1">
                <a:solidFill>
                  <a:srgbClr val="000000"/>
                </a:solidFill>
              </a:rPr>
              <a:t>income_level </a:t>
            </a:r>
            <a:r>
              <a:rPr lang="ru-RU" sz="2000">
                <a:solidFill>
                  <a:srgbClr val="000000"/>
                </a:solidFill>
              </a:rPr>
              <a:t>were among the least important. It is important to note a significant caveat: the analysis revealed a likely serious undersampling of data from the </a:t>
            </a:r>
            <a:r>
              <a:rPr lang="ru-RU" sz="2000" b="1">
                <a:solidFill>
                  <a:srgbClr val="000000"/>
                </a:solidFill>
              </a:rPr>
              <a:t>Healthy  group</a:t>
            </a:r>
            <a:r>
              <a:rPr lang="ru-RU" sz="2000">
                <a:solidFill>
                  <a:srgbClr val="000000"/>
                </a:solidFill>
              </a:rPr>
              <a:t>, which has resulted in a damaged distribution for the key memory_score variable. This data loss introduces potential bias into the model and suggests that ANOVA results for the Healthy group should be interpreted with caution.</a:t>
            </a:r>
            <a:endParaRPr sz="2000">
              <a:solidFill>
                <a:srgbClr val="000000"/>
              </a:solidFill>
            </a:endParaRPr>
          </a:p>
          <a:p>
            <a:pPr marL="0" lvl="0" indent="0" algn="l" rtl="0">
              <a:spcBef>
                <a:spcPts val="1000"/>
              </a:spcBef>
              <a:spcAft>
                <a:spcPts val="0"/>
              </a:spcAft>
              <a:buNone/>
            </a:pPr>
            <a:r>
              <a:rPr lang="ru-RU" sz="2000">
                <a:solidFill>
                  <a:srgbClr val="000000"/>
                </a:solidFill>
              </a:rPr>
              <a:t>Despite this limitation, the statistical comparisons revealed strong, graded relationships between aging outcomes and the key factors. Analysis of variance showed that memory_scor significantly declined across groups, with the Healthy group performing best, followed by the At-risk and then Frail groups, with all pairwise differences being statistically significant. Similarly, a clear downward trend in education_years was observed from the Healthy to the Frail group. Conversely, the number of chronic_conditions showed a significant upward trend, with the Frail group reporting the highest burden.</a:t>
            </a:r>
            <a:endParaRPr sz="2000">
              <a:solidFill>
                <a:srgbClr val="000000"/>
              </a:solidFill>
            </a:endParaRPr>
          </a:p>
          <a:p>
            <a:pPr marL="0" lvl="0" indent="0" algn="l" rtl="0">
              <a:spcBef>
                <a:spcPts val="1000"/>
              </a:spcBef>
              <a:spcAft>
                <a:spcPts val="0"/>
              </a:spcAft>
              <a:buNone/>
            </a:pPr>
            <a:endParaRPr sz="20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1209</Words>
  <Application>Microsoft Office PowerPoint</Application>
  <PresentationFormat>Широкоэкранный</PresentationFormat>
  <Paragraphs>110</Paragraphs>
  <Slides>17</Slides>
  <Notes>17</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17</vt:i4>
      </vt:variant>
    </vt:vector>
  </HeadingPairs>
  <TitlesOfParts>
    <vt:vector size="20" baseType="lpstr">
      <vt:lpstr>Arial</vt:lpstr>
      <vt:lpstr>Calibri</vt:lpstr>
      <vt:lpstr>Office Theme</vt:lpstr>
      <vt:lpstr>Safe aging challenge. Predicting healthy longevity from lifestyle and health data</vt:lpstr>
      <vt:lpstr>Research objective</vt:lpstr>
      <vt:lpstr>About the dataset</vt:lpstr>
      <vt:lpstr>Презентация PowerPoint</vt:lpstr>
      <vt:lpstr>Презентация PowerPoint</vt:lpstr>
      <vt:lpstr>Predictive modeling </vt:lpstr>
      <vt:lpstr>Grid searching results </vt:lpstr>
      <vt:lpstr>Prediction model design </vt:lpstr>
      <vt:lpstr>Презентация PowerPoint</vt:lpstr>
      <vt:lpstr>Memory score: the most reliable metric</vt:lpstr>
      <vt:lpstr>Memory score: not much of a “healthy”</vt:lpstr>
      <vt:lpstr>Memory score: differences in distributions</vt:lpstr>
      <vt:lpstr>Sources of risk: education in years</vt:lpstr>
      <vt:lpstr>Sources of risk: number of chronic conditions</vt:lpstr>
      <vt:lpstr>Limitations</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Ludmila</cp:lastModifiedBy>
  <cp:revision>1</cp:revision>
  <dcterms:modified xsi:type="dcterms:W3CDTF">2025-12-13T12:22:53Z</dcterms:modified>
</cp:coreProperties>
</file>